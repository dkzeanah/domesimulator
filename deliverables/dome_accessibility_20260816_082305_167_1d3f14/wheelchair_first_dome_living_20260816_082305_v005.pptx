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887445b6d04ba0" /><Relationship Type="http://schemas.openxmlformats.org/officeDocument/2006/relationships/extended-properties" Target="/docProps/app.xml" Id="Rc5934ca4db8047ec" /><Relationship Type="http://schemas.openxmlformats.org/officeDocument/2006/relationships/officeDocument" Target="/ppt/presentation.xml" Id="R55fd7002986a4338" /></Relationships>
</file>

<file path=ppt/presentation.xml><?xml version="1.0" encoding="utf-8"?>
<p:presentation xmlns:p="http://schemas.openxmlformats.org/presentationml/2006/main">
  <p:sldMasterIdLst>
    <p:sldMasterId xmlns:r="http://schemas.openxmlformats.org/officeDocument/2006/relationships" id="2147483648" r:id="Rd0065b60a8d94c15"/>
  </p:sldMasterIdLst>
  <p:notesMasterIdLst>
    <p:notesMasterId xmlns:r="http://schemas.openxmlformats.org/officeDocument/2006/relationships" r:id="R345ff3b3d1f44d55"/>
  </p:notesMasterIdLst>
  <p:sldIdLst>
    <p:sldId xmlns:r="http://schemas.openxmlformats.org/officeDocument/2006/relationships" id="256" r:id="R5cc2ff13dc84440e"/>
    <p:sldId xmlns:r="http://schemas.openxmlformats.org/officeDocument/2006/relationships" id="257" r:id="Radf82ba6d895488d"/>
    <p:sldId xmlns:r="http://schemas.openxmlformats.org/officeDocument/2006/relationships" id="258" r:id="R96d63ba1aacb4e86"/>
    <p:sldId xmlns:r="http://schemas.openxmlformats.org/officeDocument/2006/relationships" id="259" r:id="R842523da128043b8"/>
    <p:sldId xmlns:r="http://schemas.openxmlformats.org/officeDocument/2006/relationships" id="260" r:id="Rfc5f20d2b0f94af6"/>
    <p:sldId xmlns:r="http://schemas.openxmlformats.org/officeDocument/2006/relationships" id="261" r:id="R8038ca1d2ade4e76"/>
    <p:sldId xmlns:r="http://schemas.openxmlformats.org/officeDocument/2006/relationships" id="262" r:id="R9f16ca00094949a3"/>
    <p:sldId xmlns:r="http://schemas.openxmlformats.org/officeDocument/2006/relationships" id="263" r:id="R5337a73d8b5243e8"/>
    <p:sldId xmlns:r="http://schemas.openxmlformats.org/officeDocument/2006/relationships" id="264" r:id="R748bb703e53a42a1"/>
    <p:sldId xmlns:r="http://schemas.openxmlformats.org/officeDocument/2006/relationships" id="265" r:id="R8459653830dc49bd"/>
    <p:sldId xmlns:r="http://schemas.openxmlformats.org/officeDocument/2006/relationships" id="266" r:id="Rad14d3ae81ab4039"/>
    <p:sldId xmlns:r="http://schemas.openxmlformats.org/officeDocument/2006/relationships" id="267" r:id="R7bd4eabd7a0843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6d8afd13d2437c" /><Relationship Type="http://schemas.openxmlformats.org/officeDocument/2006/relationships/slideMaster" Target="/ppt/slideMasters/slideMaster1.xml" Id="Rd0065b60a8d94c15" /><Relationship Type="http://schemas.openxmlformats.org/officeDocument/2006/relationships/notesMaster" Target="/ppt/notesMasters/notesMaster1.xml" Id="R345ff3b3d1f44d55" /><Relationship Type="http://schemas.openxmlformats.org/officeDocument/2006/relationships/presProps" Target="/ppt/presProps.xml" Id="R827163fa70b94489" /><Relationship Type="http://schemas.openxmlformats.org/officeDocument/2006/relationships/tableStyles" Target="/ppt/tableStyles.xml" Id="R9bfed6f6c561404d" /><Relationship Type="http://schemas.openxmlformats.org/officeDocument/2006/relationships/slide" Target="/ppt/slides/slide1.xml" Id="R5cc2ff13dc84440e" /><Relationship Type="http://schemas.openxmlformats.org/officeDocument/2006/relationships/slide" Target="/ppt/slides/slide2.xml" Id="Radf82ba6d895488d" /><Relationship Type="http://schemas.openxmlformats.org/officeDocument/2006/relationships/slide" Target="/ppt/slides/slide3.xml" Id="R96d63ba1aacb4e86" /><Relationship Type="http://schemas.openxmlformats.org/officeDocument/2006/relationships/slide" Target="/ppt/slides/slide4.xml" Id="R842523da128043b8" /><Relationship Type="http://schemas.openxmlformats.org/officeDocument/2006/relationships/slide" Target="/ppt/slides/slide5.xml" Id="Rfc5f20d2b0f94af6" /><Relationship Type="http://schemas.openxmlformats.org/officeDocument/2006/relationships/slide" Target="/ppt/slides/slide6.xml" Id="R8038ca1d2ade4e76" /><Relationship Type="http://schemas.openxmlformats.org/officeDocument/2006/relationships/slide" Target="/ppt/slides/slide7.xml" Id="R9f16ca00094949a3" /><Relationship Type="http://schemas.openxmlformats.org/officeDocument/2006/relationships/slide" Target="/ppt/slides/slide8.xml" Id="R5337a73d8b5243e8" /><Relationship Type="http://schemas.openxmlformats.org/officeDocument/2006/relationships/slide" Target="/ppt/slides/slide9.xml" Id="R748bb703e53a42a1" /><Relationship Type="http://schemas.openxmlformats.org/officeDocument/2006/relationships/slide" Target="/ppt/slides/slide10.xml" Id="R8459653830dc49bd" /><Relationship Type="http://schemas.openxmlformats.org/officeDocument/2006/relationships/slide" Target="/ppt/slides/slide11.xml" Id="Rad14d3ae81ab4039" /><Relationship Type="http://schemas.openxmlformats.org/officeDocument/2006/relationships/slide" Target="/ppt/slides/slide12.xml" Id="R7bd4eabd7a0843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b7bfcbbe0240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9721061e9d465d" /><Relationship Type="http://schemas.openxmlformats.org/officeDocument/2006/relationships/notesMaster" Target="/ppt/notesMasters/notesMaster1.xml" Id="R9fbc059c2c314c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900a19abf84474" /><Relationship Type="http://schemas.openxmlformats.org/officeDocument/2006/relationships/notesMaster" Target="/ppt/notesMasters/notesMaster1.xml" Id="R0f07451b9d404f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47aec81aaa42d2" /><Relationship Type="http://schemas.openxmlformats.org/officeDocument/2006/relationships/notesMaster" Target="/ppt/notesMasters/notesMaster1.xml" Id="R8a20e105eec844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925d1755374d79" /><Relationship Type="http://schemas.openxmlformats.org/officeDocument/2006/relationships/notesMaster" Target="/ppt/notesMasters/notesMaster1.xml" Id="R5a8eb8ff8c3942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c289e9ebff4d15" /><Relationship Type="http://schemas.openxmlformats.org/officeDocument/2006/relationships/notesMaster" Target="/ppt/notesMasters/notesMaster1.xml" Id="Rf2d33506e1dc41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96420a600e402e" /><Relationship Type="http://schemas.openxmlformats.org/officeDocument/2006/relationships/notesMaster" Target="/ppt/notesMasters/notesMaster1.xml" Id="R9f8ac245ec6f43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55ccca63ff44f2" /><Relationship Type="http://schemas.openxmlformats.org/officeDocument/2006/relationships/notesMaster" Target="/ppt/notesMasters/notesMaster1.xml" Id="R744c685f7c5f47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b7c24d34bd4f8f" /><Relationship Type="http://schemas.openxmlformats.org/officeDocument/2006/relationships/notesMaster" Target="/ppt/notesMasters/notesMaster1.xml" Id="R25d3ffe8931647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92a05ab0c847cf" /><Relationship Type="http://schemas.openxmlformats.org/officeDocument/2006/relationships/notesMaster" Target="/ppt/notesMasters/notesMaster1.xml" Id="Rdd0db22a62bc4c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73363035f4859" /><Relationship Type="http://schemas.openxmlformats.org/officeDocument/2006/relationships/notesMaster" Target="/ppt/notesMasters/notesMaster1.xml" Id="R812ad6b7162341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fbba3204614e69" /><Relationship Type="http://schemas.openxmlformats.org/officeDocument/2006/relationships/notesMaster" Target="/ppt/notesMasters/notesMaster1.xml" Id="Ra622bb85798f4a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92b341ee5546db" /><Relationship Type="http://schemas.openxmlformats.org/officeDocument/2006/relationships/notesMaster" Target="/ppt/notesMasters/notesMaster1.xml" Id="R00f7eec42b1e4e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strongest accessible home is not a conventional plan with a ramp added later. It begins with the person, the chair, and the path. A single-level dome can make that path the center of the architecture—if every threshold, turn, and reach is designed honestly.</a:t>
            </a:r>
          </a:p>
          <a:p xmlns:a="http://schemas.openxmlformats.org/drawingml/2006/main">
            <a:r>
              <a:t/>
            </a:r>
          </a:p>
          <a:p xmlns:a="http://schemas.openxmlformats.org/drawingml/2006/main">
            <a:r>
              <a:t>[Sources]</a:t>
            </a:r>
          </a:p>
          <a:p xmlns:a="http://schemas.openxmlformats.org/drawingml/2006/main">
            <a:r>
              <a:t>- Visual: original AI-generated image created for this deck with OpenAI ImageGen; prompt retained in the presentation metadata and companion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Independence is usually lost in small moments: one step at the entrance, one tight turn at the bedroom, one threshold at the shower. Put daily life on one continuous floor and those moments stop demanding help. The accessible route becomes simply the route.</a:t>
            </a:r>
          </a:p>
          <a:p xmlns:a="http://schemas.openxmlformats.org/drawingml/2006/main">
            <a:r>
              <a:t/>
            </a:r>
          </a:p>
          <a:p xmlns:a="http://schemas.openxmlformats.org/drawingml/2006/main">
            <a:r>
              <a:t>[Sources]</a:t>
            </a:r>
          </a:p>
          <a:p xmlns:a="http://schemas.openxmlformats.org/drawingml/2006/main">
            <a:r>
              <a:t>- National Institute on Aging, “Aging in Place: Growing Older at Home”: https://www.nia.nih.gov/health/aging-place-growing-older-home</a:t>
            </a:r>
          </a:p>
          <a:p xmlns:a="http://schemas.openxmlformats.org/drawingml/2006/main">
            <a:r>
              <a:t>- Visual: original AI-generated image created for this deck with OpenAI ImageGen.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good accessible floor plan is a movement map. Enter without a level change. Turn without reversing through a narrow hall. Reach the kitchen, bedroom, and bathroom on short, obvious routes. The dome earns its value when its central volume is reserved for that movement.</a:t>
            </a:r>
          </a:p>
          <a:p xmlns:a="http://schemas.openxmlformats.org/drawingml/2006/main">
            <a:r>
              <a:t/>
            </a:r>
          </a:p>
          <a:p xmlns:a="http://schemas.openxmlformats.org/drawingml/2006/main">
            <a:r>
              <a:t>[Sources]</a:t>
            </a:r>
          </a:p>
          <a:p xmlns:a="http://schemas.openxmlformats.org/drawingml/2006/main">
            <a:r>
              <a:t>- ADA 2010 Standards, Sections 304–305, used here as best-practice dimensional references: https://www.ada.gov/law-and-regs/design-standards/2010-stds/</a:t>
            </a:r>
          </a:p>
          <a:p xmlns:a="http://schemas.openxmlformats.org/drawingml/2006/main">
            <a:r>
              <a:t>- Visual: original AI-generated image created for this deck with OpenAI ImageGen; conceptual, not a construction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Accessibility is cumulative. A threshold, a tight turn, a long reach, and a crowded transfer zone may each seem minor. Repeated across a day, they drain time, strength, and privacy. The plan should remove those taxes before the first wall is built.</a:t>
            </a:r>
          </a:p>
          <a:p xmlns:a="http://schemas.openxmlformats.org/drawingml/2006/main">
            <a:r>
              <a:t/>
            </a:r>
          </a:p>
          <a:p xmlns:a="http://schemas.openxmlformats.org/drawingml/2006/main">
            <a:r>
              <a:t>[Sources]</a:t>
            </a:r>
          </a:p>
          <a:p xmlns:a="http://schemas.openxmlformats.org/drawingml/2006/main">
            <a:r>
              <a:t>- No external factual claim on this slide. Visuals are original AI-generated assets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dome’s structural shell can free the interior from the bearing walls that often chop a plan into corridors. But the curved exterior does not excuse curved circulation. Put the turning zone in the center, service functions at the edge, and connect rooms with short, level, straight routes.</a:t>
            </a:r>
          </a:p>
          <a:p xmlns:a="http://schemas.openxmlformats.org/drawingml/2006/main">
            <a:r>
              <a:t/>
            </a:r>
          </a:p>
          <a:p xmlns:a="http://schemas.openxmlformats.org/drawingml/2006/main">
            <a:r>
              <a:t>[Sources]</a:t>
            </a:r>
          </a:p>
          <a:p xmlns:a="http://schemas.openxmlformats.org/drawingml/2006/main">
            <a:r>
              <a:t>- ADA 2010 Standards, Advisory 405.7, cautions that tight curvilinear ramps can create compound cross slopes: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entrance should pass four tests: a flush threshold, enough clear opening, enough landing space to operate the door, and the gentlest practical approach. The 32-inch number is a useful design benchmark, but the principle matters more: the front door must work independently.</a:t>
            </a:r>
          </a:p>
          <a:p xmlns:a="http://schemas.openxmlformats.org/drawingml/2006/main">
            <a:r>
              <a:t/>
            </a:r>
          </a:p>
          <a:p xmlns:a="http://schemas.openxmlformats.org/drawingml/2006/main">
            <a:r>
              <a:t>[Sources]</a:t>
            </a:r>
          </a:p>
          <a:p xmlns:a="http://schemas.openxmlformats.org/drawingml/2006/main">
            <a:r>
              <a:t>- ADA 2010 Standards, Sections 404.2.3 and 405: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kitchen is where accessible design becomes quality of life. Knee clearance, reachable storage, side-opening appliances, and room to turn keep a wheelchair user participating instead of watching. The dome’s open center can give the kitchen generous circulation without isolating it.</a:t>
            </a:r>
          </a:p>
          <a:p xmlns:a="http://schemas.openxmlformats.org/drawingml/2006/main">
            <a:r>
              <a:t/>
            </a:r>
          </a:p>
          <a:p xmlns:a="http://schemas.openxmlformats.org/drawingml/2006/main">
            <a:r>
              <a:t>[Sources]</a:t>
            </a:r>
          </a:p>
          <a:p xmlns:a="http://schemas.openxmlformats.org/drawingml/2006/main">
            <a:r>
              <a:t>- ADA 2010 Standards, Sections 305–306, used as best-practice clear floor, knee, and toe clearance references: https://www.ada.gov/law-and-regs/design-standards/2010-stds/</a:t>
            </a:r>
          </a:p>
          <a:p xmlns:a="http://schemas.openxmlformats.org/drawingml/2006/main">
            <a:r>
              <a:t>- Visual: original AI-generated image created for this deck with OpenAI ImageGen; features are illustrative and require project-specific verification.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Bathroom space protects more than safety; it protects privacy. A wide sliding opening, a zero-threshold shower, a reachable seat and controls, and clear transfer zones let more routines remain independent. Straight reinforced service walls solve the practical mounting problem inside a curved shell.</a:t>
            </a:r>
          </a:p>
          <a:p xmlns:a="http://schemas.openxmlformats.org/drawingml/2006/main">
            <a:r>
              <a:t/>
            </a:r>
          </a:p>
          <a:p xmlns:a="http://schemas.openxmlformats.org/drawingml/2006/main">
            <a:r>
              <a:t>[Sources]</a:t>
            </a:r>
          </a:p>
          <a:p xmlns:a="http://schemas.openxmlformats.org/drawingml/2006/main">
            <a:r>
              <a:t>- ADA 2010 Standards, Sections 603–610, used as best-practice bathroom fixture and transfer references: https://www.ada.gov/law-and-regs/design-standards/2010-stds/</a:t>
            </a:r>
          </a:p>
          <a:p xmlns:a="http://schemas.openxmlformats.org/drawingml/2006/main">
            <a:r>
              <a:t>- Visual: original AI-generated image created for this deck with OpenAI ImageGen; conceptual, not a code-compliance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Three numbers catch many plan failures early: sixty inches for a circular turning space, thirty-two inches of clear doorway opening, and no steeper than one in twelve where a ramp is required. In a private home, treat them as disciplined starting benchmarks and verify every project locally.</a:t>
            </a:r>
          </a:p>
          <a:p xmlns:a="http://schemas.openxmlformats.org/drawingml/2006/main">
            <a:r>
              <a:t/>
            </a:r>
          </a:p>
          <a:p xmlns:a="http://schemas.openxmlformats.org/drawingml/2006/main">
            <a:r>
              <a:t>[Sources]</a:t>
            </a:r>
          </a:p>
          <a:p xmlns:a="http://schemas.openxmlformats.org/drawingml/2006/main">
            <a:r>
              <a:t>- ADA 2010 Standards, Sections 304.3.1, 404.2.3, and 405.2: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Accessible circulation is not a niche feature. Falls are the leading cause of injury for older adults, and more than fourteen million older Americans report falling each year. A level, legible, uncluttered home cannot prevent every fall, but it can remove avoidable environmental demands and support aging in place.</a:t>
            </a:r>
          </a:p>
          <a:p xmlns:a="http://schemas.openxmlformats.org/drawingml/2006/main">
            <a:r>
              <a:t/>
            </a:r>
          </a:p>
          <a:p xmlns:a="http://schemas.openxmlformats.org/drawingml/2006/main">
            <a:r>
              <a:t>[Sources]</a:t>
            </a:r>
          </a:p>
          <a:p xmlns:a="http://schemas.openxmlformats.org/drawingml/2006/main">
            <a:r>
              <a:t>- CDC, Older Adult Falls Data: https://www.cdc.gov/falls/data-research/index.html</a:t>
            </a:r>
          </a:p>
          <a:p xmlns:a="http://schemas.openxmlformats.org/drawingml/2006/main">
            <a:r>
              <a:t>- National Institute on Aging, “Aging in Place: Growing Older at Home”: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comparison is not dome versus every conventional house. A well-designed rectangular house can be excellent. The argument is about design priorities: typical retrofits inherit barriers, while a purpose-built dome can reserve its central volume for movement from the beginning.</a:t>
            </a:r>
          </a:p>
          <a:p xmlns:a="http://schemas.openxmlformats.org/drawingml/2006/main">
            <a:r>
              <a:t/>
            </a:r>
          </a:p>
          <a:p xmlns:a="http://schemas.openxmlformats.org/drawingml/2006/main">
            <a:r>
              <a:t>[Sources]</a:t>
            </a:r>
          </a:p>
          <a:p xmlns:a="http://schemas.openxmlformats.org/drawingml/2006/main">
            <a:r>
              <a:t>- This slide is a qualitative design comparison, not a universal claim about all conventional or dome homes.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 is not a shortcut around good accessibility practice. It is a promising shell for doing that practice well. Start with a real person’s movement map, protect the central turning space, put essential rooms on one floor, and verify every detail with the user and qualified local professionals.</a:t>
            </a:r>
          </a:p>
          <a:p xmlns:a="http://schemas.openxmlformats.org/drawingml/2006/main">
            <a:r>
              <a:t/>
            </a:r>
          </a:p>
          <a:p xmlns:a="http://schemas.openxmlformats.org/drawingml/2006/main">
            <a:r>
              <a:t>[Sources]</a:t>
            </a:r>
          </a:p>
          <a:p xmlns:a="http://schemas.openxmlformats.org/drawingml/2006/main">
            <a:r>
              <a:t>- ADA 2010 Standards are referenced as design benchmarks; applicability to private residential construction varies by project and jurisdiction: https://www.ada.gov/law-and-regs/design-standards/2010-stds/</a:t>
            </a:r>
          </a:p>
          <a:p xmlns:a="http://schemas.openxmlformats.org/drawingml/2006/main">
            <a:r>
              <a:t>- National Institute on Aging, aging-in-place guidance: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f8da8463e745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8ed568bd274e87" /><Relationship Type="http://schemas.openxmlformats.org/officeDocument/2006/relationships/slideLayout" Target="/ppt/slideLayouts/slideLayout1.xml" Id="R69eb636154b341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eb636154b341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e7549582554ecf" /><Relationship Type="http://schemas.openxmlformats.org/officeDocument/2006/relationships/image" Target="/ppt/media/image.png" Id="R1717f7de319444ca" /><Relationship Type="http://schemas.openxmlformats.org/officeDocument/2006/relationships/notesSlide" Target="/ppt/notesSlides/notesSlide1.xml" Id="R9c54fb50674a48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a8f4657ef941f3" /><Relationship Type="http://schemas.openxmlformats.org/officeDocument/2006/relationships/image" Target="/ppt/media/image2.png" Id="R608b6f19cb9d4b79" /><Relationship Type="http://schemas.openxmlformats.org/officeDocument/2006/relationships/notesSlide" Target="/ppt/notesSlides/notesSlide2.xml" Id="R44f5fa284ee845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4bcf86ee744f90" /><Relationship Type="http://schemas.openxmlformats.org/officeDocument/2006/relationships/image" Target="/ppt/media/image3.png" Id="R8bc2542e70f14224" /><Relationship Type="http://schemas.openxmlformats.org/officeDocument/2006/relationships/notesSlide" Target="/ppt/notesSlides/notesSlide3.xml" Id="R8d9a9d718f6d4f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fc75907be049b6" /><Relationship Type="http://schemas.openxmlformats.org/officeDocument/2006/relationships/notesSlide" Target="/ppt/notesSlides/notesSlide4.xml" Id="Rba9a3dd08fae48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99e0f1fa814098" /><Relationship Type="http://schemas.openxmlformats.org/officeDocument/2006/relationships/notesSlide" Target="/ppt/notesSlides/notesSlide5.xml" Id="Rbdabe4b9ae1e43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4ca89846ea4bb3" /><Relationship Type="http://schemas.openxmlformats.org/officeDocument/2006/relationships/notesSlide" Target="/ppt/notesSlides/notesSlide6.xml" Id="R2e5102c80bf24e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604be6a09848ec" /><Relationship Type="http://schemas.openxmlformats.org/officeDocument/2006/relationships/image" Target="/ppt/media/image4.png" Id="R4109b77990584980" /><Relationship Type="http://schemas.openxmlformats.org/officeDocument/2006/relationships/notesSlide" Target="/ppt/notesSlides/notesSlide7.xml" Id="Rfc781aaf8f3a49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90fcdf3eea4595" /><Relationship Type="http://schemas.openxmlformats.org/officeDocument/2006/relationships/image" Target="/ppt/media/image5.png" Id="Rb8102f266a0b455f" /><Relationship Type="http://schemas.openxmlformats.org/officeDocument/2006/relationships/notesSlide" Target="/ppt/notesSlides/notesSlide8.xml" Id="R04e928f86c1f40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b6586e40d34e7a" /><Relationship Type="http://schemas.openxmlformats.org/officeDocument/2006/relationships/notesSlide" Target="/ppt/notesSlides/notesSlide9.xml" Id="Rea061e8c92b04c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670ba13e8d4a0b" /><Relationship Type="http://schemas.openxmlformats.org/officeDocument/2006/relationships/notesSlide" Target="/ppt/notesSlides/notesSlide10.xml" Id="R37bce07f640748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f66b61d0ab4705" /><Relationship Type="http://schemas.openxmlformats.org/officeDocument/2006/relationships/notesSlide" Target="/ppt/notesSlides/notesSlide11.xml" Id="R3b04dbf0a36840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03f829946e4b2d" /><Relationship Type="http://schemas.openxmlformats.org/officeDocument/2006/relationships/notesSlide" Target="/ppt/notesSlides/notesSlide12.xml" Id="R33d023e4a0084b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63F1BF-7465-46FD-B983-D9EAE679D967}"/>
              </a:ext>
            </a:extLst>
          </p:cNvPr>
          <p:cNvSpPr>
            <a:spLocks xmlns:a="http://schemas.openxmlformats.org/drawingml/2006/main" noGrp="1"/>
          </p:cNvSpPr>
          <p:nvPr/>
        </p:nvSpPr>
        <p:spPr>
          <a:xfrm xmlns:a="http://schemas.openxmlformats.org/drawingml/2006/main">
            <a:off x="400050" y="3429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EFC2B445-26F1-462D-B741-59168B6FF0A3}"/>
              </a:ext>
            </a:extLst>
          </p:cNvPr>
          <p:cNvSpPr>
            <a:spLocks xmlns:a="http://schemas.openxmlformats.org/drawingml/2006/main" noGrp="1"/>
          </p:cNvSpPr>
          <p:nvPr/>
        </p:nvSpPr>
        <p:spPr>
          <a:xfrm xmlns:a="http://schemas.openxmlformats.org/drawingml/2006/main">
            <a:off x="400050" y="1123950"/>
            <a:ext cx="5181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A home that</a:t>
            </a:r>
          </a:p>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moves with you</a:t>
            </a:r>
          </a:p>
        </p:txBody>
      </p:sp>
      <p:sp>
        <p:nvSpPr>
          <p:cNvPr id="3" name="">
            <a:extLst xmlns:a="http://schemas.openxmlformats.org/drawingml/2006/main">
              <a:ext uri="{FF2B5EF4-FFF2-40B4-BE49-F238E27FC236}">
                <a16:creationId xmlns:a16="http://schemas.microsoft.com/office/drawing/2014/main" id="{CBA2CFA8-0A5B-4F85-9266-852118AFCFB6}"/>
              </a:ext>
            </a:extLst>
          </p:cNvPr>
          <p:cNvSpPr>
            <a:spLocks xmlns:a="http://schemas.openxmlformats.org/drawingml/2006/main" noGrp="1"/>
          </p:cNvSpPr>
          <p:nvPr/>
        </p:nvSpPr>
        <p:spPr>
          <a:xfrm xmlns:a="http://schemas.openxmlformats.org/drawingml/2006/main">
            <a:off x="400050" y="329565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Why a purpose-built, single-level dome can turn accessibility from an add-on into the organizing idea.</a:t>
            </a:r>
          </a:p>
        </p:txBody>
      </p:sp>
      <p:sp>
        <p:nvSpPr>
          <p:cNvPr id="4" name="">
            <a:extLst xmlns:a="http://schemas.openxmlformats.org/drawingml/2006/main">
              <a:ext uri="{FF2B5EF4-FFF2-40B4-BE49-F238E27FC236}">
                <a16:creationId xmlns:a16="http://schemas.microsoft.com/office/drawing/2014/main" id="{EB47507E-8355-4CC6-8FF1-E5DE80A87AB9}"/>
              </a:ext>
            </a:extLst>
          </p:cNvPr>
          <p:cNvSpPr>
            <a:spLocks xmlns:a="http://schemas.openxmlformats.org/drawingml/2006/main" noGrp="1"/>
          </p:cNvSpPr>
          <p:nvPr/>
        </p:nvSpPr>
        <p:spPr>
          <a:xfrm xmlns:a="http://schemas.openxmlformats.org/drawingml/2006/main">
            <a:off x="400050" y="4953000"/>
            <a:ext cx="142875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0C5CE5-2366-4D04-933A-EA856CC803A3}"/>
              </a:ext>
            </a:extLst>
          </p:cNvPr>
          <p:cNvSpPr>
            <a:spLocks xmlns:a="http://schemas.openxmlformats.org/drawingml/2006/main" noGrp="1"/>
          </p:cNvSpPr>
          <p:nvPr/>
        </p:nvSpPr>
        <p:spPr>
          <a:xfrm xmlns:a="http://schemas.openxmlformats.org/drawingml/2006/main">
            <a:off x="400050" y="52197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For wheelchair users, older adults, and anyone whose movement changes over time</a:t>
            </a:r>
          </a:p>
        </p:txBody>
      </p:sp>
      <p:sp>
        <p:nvSpPr>
          <p:cNvPr id="6" name="">
            <a:extLst xmlns:a="http://schemas.openxmlformats.org/drawingml/2006/main">
              <a:ext uri="{FF2B5EF4-FFF2-40B4-BE49-F238E27FC236}">
                <a16:creationId xmlns:a16="http://schemas.microsoft.com/office/drawing/2014/main" id="{7823D05E-C455-4343-9D0E-8E1DDADB1D72}"/>
              </a:ext>
            </a:extLst>
          </p:cNvPr>
          <p:cNvSpPr>
            <a:spLocks xmlns:a="http://schemas.openxmlformats.org/drawingml/2006/main" noGrp="1"/>
          </p:cNvSpPr>
          <p:nvPr/>
        </p:nvSpPr>
        <p:spPr>
          <a:xfrm xmlns:a="http://schemas.openxmlformats.org/drawingml/2006/main">
            <a:off x="5953125" y="304800"/>
            <a:ext cx="5934075" cy="5791200"/>
          </a:xfrm>
          <a:prstGeom xmlns:a="http://schemas.openxmlformats.org/drawingml/2006/main" prst="roundRect">
            <a:avLst>
              <a:gd name="adj" fmla="val 1316"/>
            </a:avLst>
          </a:prstGeom>
          <a:solidFill xmlns:a="http://schemas.openxmlformats.org/drawingml/2006/main">
            <a:srgbClr val="D0ED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17f7de319444ca"/>
          <a:srcRect xmlns:a="http://schemas.openxmlformats.org/drawingml/2006/main" l="15816" t="0" r="15816" b="0"/>
          <a:stretch xmlns:a="http://schemas.openxmlformats.org/drawingml/2006/main">
            <a:fillRect l="0" t="0" r="0" b="0"/>
          </a:stretch>
        </p:blipFill>
        <p:spPr>
          <a:xfrm xmlns:a="http://schemas.openxmlformats.org/drawingml/2006/main">
            <a:off x="6048375" y="400050"/>
            <a:ext cx="5743575" cy="5600700"/>
          </a:xfrm>
          <a:prstGeom xmlns:a="http://schemas.openxmlformats.org/drawingml/2006/main" prst="roundRect">
            <a:avLst>
              <a:gd name="adj" fmla="val 2381"/>
            </a:avLst>
          </a:prstGeom>
        </p:spPr>
      </p:pic>
      <p:sp>
        <p:nvSpPr>
          <p:cNvPr id="8" name="">
            <a:extLst xmlns:a="http://schemas.openxmlformats.org/drawingml/2006/main">
              <a:ext uri="{FF2B5EF4-FFF2-40B4-BE49-F238E27FC236}">
                <a16:creationId xmlns:a16="http://schemas.microsoft.com/office/drawing/2014/main" id="{F3B45F9D-F8EF-4A0A-8709-9FD6A1D2CF74}"/>
              </a:ext>
            </a:extLst>
          </p:cNvPr>
          <p:cNvSpPr>
            <a:spLocks xmlns:a="http://schemas.openxmlformats.org/drawingml/2006/main" noGrp="1"/>
          </p:cNvSpPr>
          <p:nvPr/>
        </p:nvSpPr>
        <p:spPr>
          <a:xfrm xmlns:a="http://schemas.openxmlformats.org/drawingml/2006/main">
            <a:off x="400050" y="63627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470"/>
                </a:solidFill>
                <a:latin typeface="Arial"/>
                <a:ea typeface="Arial"/>
                <a:cs typeface="Arial"/>
              </a:defRPr>
            </a:pPr>
            <a:r>
              <a:rPr sz="975" b="0">
                <a:solidFill>
                  <a:srgbClr val="5B6470"/>
                </a:solidFill>
                <a:latin typeface="Arial"/>
                <a:ea typeface="Arial"/>
                <a:cs typeface="Arial"/>
              </a:rPr>
              <a:t>ACCESSIBLE HOUSING CONCEPT • 2026</a:t>
            </a:r>
          </a:p>
        </p:txBody>
      </p:sp>
    </p:spTree>
    <p:extLst>
      <p:ext uri="{BB962C8B-B14F-4D97-AF65-F5344CB8AC3E}">
        <p14:creationId xmlns:p14="http://schemas.microsoft.com/office/powerpoint/2010/main" val="1223366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2B97ED1-A3B4-480F-9CAA-32F7A748F418}"/>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4ABCE4AC-F907-4C71-9A21-D115F4A79FCA}"/>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3" name="top-rule-2">
            <a:extLst xmlns:a="http://schemas.openxmlformats.org/drawingml/2006/main">
              <a:ext uri="{FF2B5EF4-FFF2-40B4-BE49-F238E27FC236}">
                <a16:creationId xmlns:a16="http://schemas.microsoft.com/office/drawing/2014/main" id="{3D267037-C57F-4F49-9A36-EB915E89EF4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CE1CC4-5A7C-4658-A62E-C19B243CA32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08b6f19cb9d4b79"/>
          <a:srcRect xmlns:a="http://schemas.openxmlformats.org/drawingml/2006/main" l="0" t="4214" r="0" b="4214"/>
          <a:stretch xmlns:a="http://schemas.openxmlformats.org/drawingml/2006/main">
            <a:fillRect l="0" t="0" r="0" b="0"/>
          </a:stretch>
        </p:blipFill>
        <p:spPr>
          <a:xfrm xmlns:a="http://schemas.openxmlformats.org/drawingml/2006/main">
            <a:off x="400050" y="1819275"/>
            <a:ext cx="6724650" cy="4105275"/>
          </a:xfrm>
          <a:prstGeom xmlns:a="http://schemas.openxmlformats.org/drawingml/2006/main" prst="roundRect">
            <a:avLst>
              <a:gd name="adj" fmla="val 3248"/>
            </a:avLst>
          </a:prstGeom>
        </p:spPr>
      </p:pic>
      <p:sp>
        <p:nvSpPr>
          <p:cNvPr id="6" name="">
            <a:extLst xmlns:a="http://schemas.openxmlformats.org/drawingml/2006/main">
              <a:ext uri="{FF2B5EF4-FFF2-40B4-BE49-F238E27FC236}">
                <a16:creationId xmlns:a16="http://schemas.microsoft.com/office/drawing/2014/main" id="{C6E9C72D-F19A-4FBD-A0EF-B88530933389}"/>
              </a:ext>
            </a:extLst>
          </p:cNvPr>
          <p:cNvSpPr>
            <a:spLocks xmlns:a="http://schemas.openxmlformats.org/drawingml/2006/main" noGrp="1"/>
          </p:cNvSpPr>
          <p:nvPr/>
        </p:nvSpPr>
        <p:spPr>
          <a:xfrm xmlns:a="http://schemas.openxmlformats.org/drawingml/2006/main">
            <a:off x="7620000"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daily win</a:t>
            </a:r>
          </a:p>
        </p:txBody>
      </p:sp>
      <p:sp>
        <p:nvSpPr>
          <p:cNvPr id="7" name="">
            <a:extLst xmlns:a="http://schemas.openxmlformats.org/drawingml/2006/main">
              <a:ext uri="{FF2B5EF4-FFF2-40B4-BE49-F238E27FC236}">
                <a16:creationId xmlns:a16="http://schemas.microsoft.com/office/drawing/2014/main" id="{A7CB6F3D-20C5-4F93-804C-1C67A62ACA3B}"/>
              </a:ext>
            </a:extLst>
          </p:cNvPr>
          <p:cNvSpPr>
            <a:spLocks xmlns:a="http://schemas.openxmlformats.org/drawingml/2006/main" noGrp="1"/>
          </p:cNvSpPr>
          <p:nvPr/>
        </p:nvSpPr>
        <p:spPr>
          <a:xfrm xmlns:a="http://schemas.openxmlformats.org/drawingml/2006/main">
            <a:off x="7620000" y="2533650"/>
            <a:ext cx="3924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stairs or lift dependency. </a:t>
            </a:r>
            <a:r>
              <a:rPr sz="1875">
                <a:solidFill>
                  <a:srgbClr val="0A0A0A"/>
                </a:solidFill>
                <a:latin typeface="Arial"/>
                <a:ea typeface="Arial"/>
                <a:cs typeface="Arial"/>
              </a:rPr>
              <a:t>The primary life of the house happens on one continuous floor.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corridor maze. </a:t>
            </a:r>
            <a:r>
              <a:rPr sz="1875">
                <a:solidFill>
                  <a:srgbClr val="0A0A0A"/>
                </a:solidFill>
                <a:latin typeface="Arial"/>
                <a:ea typeface="Arial"/>
                <a:cs typeface="Arial"/>
              </a:rPr>
              <a:t>Rooms open from a legible central space instead of a chain of tight turns.</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special route. </a:t>
            </a:r>
            <a:r>
              <a:rPr sz="1875">
                <a:solidFill>
                  <a:srgbClr val="0A0A0A"/>
                </a:solidFill>
                <a:latin typeface="Arial"/>
                <a:ea typeface="Arial"/>
                <a:cs typeface="Arial"/>
              </a:rPr>
              <a:t>The accessible path is the same welcoming path everyone uses.</a:t>
            </a:r>
          </a:p>
        </p:txBody>
      </p:sp>
      <p:sp>
        <p:nvSpPr>
          <p:cNvPr id="8" name="">
            <a:extLst xmlns:a="http://schemas.openxmlformats.org/drawingml/2006/main">
              <a:ext uri="{FF2B5EF4-FFF2-40B4-BE49-F238E27FC236}">
                <a16:creationId xmlns:a16="http://schemas.microsoft.com/office/drawing/2014/main" id="{6A949C76-AF6A-44EF-ADD0-EAF20752869C}"/>
              </a:ext>
            </a:extLst>
          </p:cNvPr>
          <p:cNvSpPr>
            <a:spLocks xmlns:a="http://schemas.openxmlformats.org/drawingml/2006/main" noGrp="1"/>
          </p:cNvSpPr>
          <p:nvPr/>
        </p:nvSpPr>
        <p:spPr>
          <a:xfrm xmlns:a="http://schemas.openxmlformats.org/drawingml/2006/main">
            <a:off x="7620000" y="54673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7A7A"/>
                </a:solidFill>
                <a:latin typeface="Arial"/>
                <a:ea typeface="Arial"/>
                <a:cs typeface="Arial"/>
              </a:defRPr>
            </a:pPr>
            <a:r>
              <a:rPr sz="1650" b="1">
                <a:solidFill>
                  <a:srgbClr val="1F7A7A"/>
                </a:solidFill>
                <a:latin typeface="Arial"/>
                <a:ea typeface="Arial"/>
                <a:cs typeface="Arial"/>
              </a:rPr>
              <a:t>Accessibility becomes invisible—in the best possible way.</a:t>
            </a:r>
          </a:p>
        </p:txBody>
      </p:sp>
      <p:sp>
        <p:nvSpPr>
          <p:cNvPr id="9" name="">
            <a:extLst xmlns:a="http://schemas.openxmlformats.org/drawingml/2006/main">
              <a:ext uri="{FF2B5EF4-FFF2-40B4-BE49-F238E27FC236}">
                <a16:creationId xmlns:a16="http://schemas.microsoft.com/office/drawing/2014/main" id="{F4DEF4C8-685C-4F00-AEBB-82F22C168182}"/>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7170012-FE97-4CEE-B7CA-8644D9B97FDC}"/>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11" name="repainted-top-rule-2">
            <a:extLst xmlns:a="http://schemas.openxmlformats.org/drawingml/2006/main">
              <a:ext uri="{FF2B5EF4-FFF2-40B4-BE49-F238E27FC236}">
                <a16:creationId xmlns:a16="http://schemas.microsoft.com/office/drawing/2014/main" id="{895EF9FF-D1FB-455F-AD28-4D66B48AF8C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7A3304F-9A35-465D-B8C0-1EC78C321D6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4830608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A85E6B3-3EEE-46FF-A996-A5D3570527E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1B44B541-51E7-4A34-B3EA-678B161CA31E}"/>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3" name="top-rule-3">
            <a:extLst xmlns:a="http://schemas.openxmlformats.org/drawingml/2006/main">
              <a:ext uri="{FF2B5EF4-FFF2-40B4-BE49-F238E27FC236}">
                <a16:creationId xmlns:a16="http://schemas.microsoft.com/office/drawing/2014/main" id="{D623CB38-81B8-4D86-8774-5AE1D88AACF9}"/>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12B9DE-E9E3-4A7A-997D-11F97E77E085}"/>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0CE8915-B422-4C0C-91E7-7AB5FA41E70F}"/>
              </a:ext>
            </a:extLst>
          </p:cNvPr>
          <p:cNvSpPr>
            <a:spLocks xmlns:a="http://schemas.openxmlformats.org/drawingml/2006/main" noGrp="1"/>
          </p:cNvSpPr>
          <p:nvPr/>
        </p:nvSpPr>
        <p:spPr>
          <a:xfrm xmlns:a="http://schemas.openxmlformats.org/drawingml/2006/main">
            <a:off x="400050" y="18478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dome works best when the open center becomes a mobility commons—not leftover space.</a:t>
            </a:r>
          </a:p>
        </p:txBody>
      </p:sp>
      <p:sp>
        <p:nvSpPr>
          <p:cNvPr id="6" name="">
            <a:extLst xmlns:a="http://schemas.openxmlformats.org/drawingml/2006/main">
              <a:ext uri="{FF2B5EF4-FFF2-40B4-BE49-F238E27FC236}">
                <a16:creationId xmlns:a16="http://schemas.microsoft.com/office/drawing/2014/main" id="{9C0DF4F5-7848-4B13-B171-79FE1BDF5136}"/>
              </a:ext>
            </a:extLst>
          </p:cNvPr>
          <p:cNvSpPr>
            <a:spLocks xmlns:a="http://schemas.openxmlformats.org/drawingml/2006/main" noGrp="1"/>
          </p:cNvSpPr>
          <p:nvPr/>
        </p:nvSpPr>
        <p:spPr>
          <a:xfrm xmlns:a="http://schemas.openxmlformats.org/drawingml/2006/main">
            <a:off x="400050" y="3067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CA8DBDC-DB8A-4805-9736-BC46B056586C}"/>
              </a:ext>
            </a:extLst>
          </p:cNvPr>
          <p:cNvSpPr>
            <a:spLocks xmlns:a="http://schemas.openxmlformats.org/drawingml/2006/main" noGrp="1"/>
          </p:cNvSpPr>
          <p:nvPr/>
        </p:nvSpPr>
        <p:spPr>
          <a:xfrm xmlns:a="http://schemas.openxmlformats.org/drawingml/2006/main">
            <a:off x="1066800" y="3067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ENTER</a:t>
            </a:r>
          </a:p>
        </p:txBody>
      </p:sp>
      <p:sp>
        <p:nvSpPr>
          <p:cNvPr id="8" name="">
            <a:extLst xmlns:a="http://schemas.openxmlformats.org/drawingml/2006/main">
              <a:ext uri="{FF2B5EF4-FFF2-40B4-BE49-F238E27FC236}">
                <a16:creationId xmlns:a16="http://schemas.microsoft.com/office/drawing/2014/main" id="{8BB2203B-7E1B-4D4F-97A0-6464FA8F1523}"/>
              </a:ext>
            </a:extLst>
          </p:cNvPr>
          <p:cNvSpPr>
            <a:spLocks xmlns:a="http://schemas.openxmlformats.org/drawingml/2006/main" noGrp="1"/>
          </p:cNvSpPr>
          <p:nvPr/>
        </p:nvSpPr>
        <p:spPr>
          <a:xfrm xmlns:a="http://schemas.openxmlformats.org/drawingml/2006/main">
            <a:off x="2238375" y="3067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flush doorway lands directly in the shared center.</a:t>
            </a:r>
          </a:p>
        </p:txBody>
      </p:sp>
      <p:sp>
        <p:nvSpPr>
          <p:cNvPr id="9" name="">
            <a:extLst xmlns:a="http://schemas.openxmlformats.org/drawingml/2006/main">
              <a:ext uri="{FF2B5EF4-FFF2-40B4-BE49-F238E27FC236}">
                <a16:creationId xmlns:a16="http://schemas.microsoft.com/office/drawing/2014/main" id="{950B1EBC-F996-4D92-905B-294FDEB3DA7B}"/>
              </a:ext>
            </a:extLst>
          </p:cNvPr>
          <p:cNvSpPr>
            <a:spLocks xmlns:a="http://schemas.openxmlformats.org/drawingml/2006/main" noGrp="1"/>
          </p:cNvSpPr>
          <p:nvPr/>
        </p:nvSpPr>
        <p:spPr>
          <a:xfrm xmlns:a="http://schemas.openxmlformats.org/drawingml/2006/main">
            <a:off x="400050" y="40195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B5B666BF-2815-4DAC-975E-E4CAAE53F8A0}"/>
              </a:ext>
            </a:extLst>
          </p:cNvPr>
          <p:cNvSpPr>
            <a:spLocks xmlns:a="http://schemas.openxmlformats.org/drawingml/2006/main" noGrp="1"/>
          </p:cNvSpPr>
          <p:nvPr/>
        </p:nvSpPr>
        <p:spPr>
          <a:xfrm xmlns:a="http://schemas.openxmlformats.org/drawingml/2006/main">
            <a:off x="1066800" y="4019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TURN</a:t>
            </a:r>
          </a:p>
        </p:txBody>
      </p:sp>
      <p:sp>
        <p:nvSpPr>
          <p:cNvPr id="11" name="">
            <a:extLst xmlns:a="http://schemas.openxmlformats.org/drawingml/2006/main">
              <a:ext uri="{FF2B5EF4-FFF2-40B4-BE49-F238E27FC236}">
                <a16:creationId xmlns:a16="http://schemas.microsoft.com/office/drawing/2014/main" id="{C2964F65-9FD3-4106-A1B4-A40587349E0A}"/>
              </a:ext>
            </a:extLst>
          </p:cNvPr>
          <p:cNvSpPr>
            <a:spLocks xmlns:a="http://schemas.openxmlformats.org/drawingml/2006/main" noGrp="1"/>
          </p:cNvSpPr>
          <p:nvPr/>
        </p:nvSpPr>
        <p:spPr>
          <a:xfrm xmlns:a="http://schemas.openxmlformats.org/drawingml/2006/main">
            <a:off x="2238375" y="40195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Generous clear floor space absorbs direction changes.</a:t>
            </a:r>
          </a:p>
        </p:txBody>
      </p:sp>
      <p:sp>
        <p:nvSpPr>
          <p:cNvPr id="12" name="">
            <a:extLst xmlns:a="http://schemas.openxmlformats.org/drawingml/2006/main">
              <a:ext uri="{FF2B5EF4-FFF2-40B4-BE49-F238E27FC236}">
                <a16:creationId xmlns:a16="http://schemas.microsoft.com/office/drawing/2014/main" id="{99930C07-89C6-4829-B960-A2F8E25C8239}"/>
              </a:ext>
            </a:extLst>
          </p:cNvPr>
          <p:cNvSpPr>
            <a:spLocks xmlns:a="http://schemas.openxmlformats.org/drawingml/2006/main" noGrp="1"/>
          </p:cNvSpPr>
          <p:nvPr/>
        </p:nvSpPr>
        <p:spPr>
          <a:xfrm xmlns:a="http://schemas.openxmlformats.org/drawingml/2006/main">
            <a:off x="400050" y="4972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BBD4B85-DBBB-43A7-BA37-676940BD5B03}"/>
              </a:ext>
            </a:extLst>
          </p:cNvPr>
          <p:cNvSpPr>
            <a:spLocks xmlns:a="http://schemas.openxmlformats.org/drawingml/2006/main" noGrp="1"/>
          </p:cNvSpPr>
          <p:nvPr/>
        </p:nvSpPr>
        <p:spPr>
          <a:xfrm xmlns:a="http://schemas.openxmlformats.org/drawingml/2006/main">
            <a:off x="1066800" y="4972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REACH</a:t>
            </a:r>
          </a:p>
        </p:txBody>
      </p:sp>
      <p:sp>
        <p:nvSpPr>
          <p:cNvPr id="14" name="">
            <a:extLst xmlns:a="http://schemas.openxmlformats.org/drawingml/2006/main">
              <a:ext uri="{FF2B5EF4-FFF2-40B4-BE49-F238E27FC236}">
                <a16:creationId xmlns:a16="http://schemas.microsoft.com/office/drawing/2014/main" id="{3F6143C7-9B66-4D5C-AF91-47CDF0C730F9}"/>
              </a:ext>
            </a:extLst>
          </p:cNvPr>
          <p:cNvSpPr>
            <a:spLocks xmlns:a="http://schemas.openxmlformats.org/drawingml/2006/main" noGrp="1"/>
          </p:cNvSpPr>
          <p:nvPr/>
        </p:nvSpPr>
        <p:spPr>
          <a:xfrm xmlns:a="http://schemas.openxmlformats.org/drawingml/2006/main">
            <a:off x="2238375" y="4972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Short radial routes connect kitchen, bed, and bath.</a:t>
            </a:r>
          </a:p>
        </p:txBody>
      </p:sp>
      <p:sp>
        <p:nvSpPr>
          <p:cNvPr id="15" name="">
            <a:extLst xmlns:a="http://schemas.openxmlformats.org/drawingml/2006/main">
              <a:ext uri="{FF2B5EF4-FFF2-40B4-BE49-F238E27FC236}">
                <a16:creationId xmlns:a16="http://schemas.microsoft.com/office/drawing/2014/main" id="{734AFA61-6E3C-40B6-9C79-AF22F41F6E70}"/>
              </a:ext>
            </a:extLst>
          </p:cNvPr>
          <p:cNvSpPr>
            <a:spLocks xmlns:a="http://schemas.openxmlformats.org/drawingml/2006/main" noGrp="1"/>
          </p:cNvSpPr>
          <p:nvPr/>
        </p:nvSpPr>
        <p:spPr>
          <a:xfrm xmlns:a="http://schemas.openxmlformats.org/drawingml/2006/main">
            <a:off x="4552950" y="1695450"/>
            <a:ext cx="7334250" cy="4419600"/>
          </a:xfrm>
          <a:prstGeom xmlns:a="http://schemas.openxmlformats.org/drawingml/2006/main" prst="roundRect">
            <a:avLst>
              <a:gd name="adj" fmla="val 1724"/>
            </a:avLst>
          </a:prstGeom>
          <a:solidFill xmlns:a="http://schemas.openxmlformats.org/drawingml/2006/main">
            <a:srgbClr val="F5F0E8"/>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bc2542e70f14224"/>
          <a:stretch xmlns:a="http://schemas.openxmlformats.org/drawingml/2006/main"/>
        </p:blipFill>
        <p:spPr>
          <a:xfrm xmlns:a="http://schemas.openxmlformats.org/drawingml/2006/main">
            <a:off x="5048250" y="1790700"/>
            <a:ext cx="6343650" cy="4229100"/>
          </a:xfrm>
          <a:prstGeom xmlns:a="http://schemas.openxmlformats.org/drawingml/2006/main" prst="roundRect">
            <a:avLst>
              <a:gd name="adj" fmla="val 3153"/>
            </a:avLst>
          </a:prstGeom>
        </p:spPr>
      </p:pic>
      <p:sp>
        <p:nvSpPr>
          <p:cNvPr id="17" name="">
            <a:extLst xmlns:a="http://schemas.openxmlformats.org/drawingml/2006/main">
              <a:ext uri="{FF2B5EF4-FFF2-40B4-BE49-F238E27FC236}">
                <a16:creationId xmlns:a16="http://schemas.microsoft.com/office/drawing/2014/main" id="{26452668-8F6D-485A-BF05-DD17586C2207}"/>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2A129F-627B-454B-81CC-E1B299AB8E61}"/>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19" name="repainted-top-rule-3">
            <a:extLst xmlns:a="http://schemas.openxmlformats.org/drawingml/2006/main">
              <a:ext uri="{FF2B5EF4-FFF2-40B4-BE49-F238E27FC236}">
                <a16:creationId xmlns:a16="http://schemas.microsoft.com/office/drawing/2014/main" id="{24A8F1B3-E3B1-41BE-B9B8-D7548CB7645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F39416-625F-42E8-9B50-A9978669DBC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0406596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D0FCECD-1E06-4EFE-A6CC-B61A8D77279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F71E66C5-ED98-43D7-AC22-8BB902DF10F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3" name="top-rule-4">
            <a:extLst xmlns:a="http://schemas.openxmlformats.org/drawingml/2006/main">
              <a:ext uri="{FF2B5EF4-FFF2-40B4-BE49-F238E27FC236}">
                <a16:creationId xmlns:a16="http://schemas.microsoft.com/office/drawing/2014/main" id="{F89A4ACF-CF2E-4628-9897-664DFB8B73E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97C902-C93F-481C-BF86-F7491FA8E07A}"/>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E7BF586-367D-47C2-A3FA-104E2B1A8AE0}"/>
              </a:ext>
            </a:extLst>
          </p:cNvPr>
          <p:cNvSpPr>
            <a:spLocks xmlns:a="http://schemas.openxmlformats.org/drawingml/2006/main" noGrp="1"/>
          </p:cNvSpPr>
          <p:nvPr/>
        </p:nvSpPr>
        <p:spPr>
          <a:xfrm xmlns:a="http://schemas.openxmlformats.org/drawingml/2006/main">
            <a:off x="400050" y="1828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470"/>
                </a:solidFill>
                <a:latin typeface="Arial"/>
                <a:ea typeface="Arial"/>
                <a:cs typeface="Arial"/>
              </a:defRPr>
            </a:pPr>
            <a:r>
              <a:rPr sz="1950" b="0">
                <a:solidFill>
                  <a:srgbClr val="5B6470"/>
                </a:solidFill>
                <a:latin typeface="Arial"/>
                <a:ea typeface="Arial"/>
                <a:cs typeface="Arial"/>
              </a:rPr>
              <a:t>A plan can look generous on paper and still demand dozens of avoidable maneuvers every day.</a:t>
            </a:r>
          </a:p>
        </p:txBody>
      </p:sp>
      <p:sp>
        <p:nvSpPr>
          <p:cNvPr id="6" name="">
            <a:extLst xmlns:a="http://schemas.openxmlformats.org/drawingml/2006/main">
              <a:ext uri="{FF2B5EF4-FFF2-40B4-BE49-F238E27FC236}">
                <a16:creationId xmlns:a16="http://schemas.microsoft.com/office/drawing/2014/main" id="{9CA63453-B947-46B2-868B-CD235F1BED8A}"/>
              </a:ext>
            </a:extLst>
          </p:cNvPr>
          <p:cNvSpPr>
            <a:spLocks xmlns:a="http://schemas.openxmlformats.org/drawingml/2006/main" noGrp="1"/>
          </p:cNvSpPr>
          <p:nvPr/>
        </p:nvSpPr>
        <p:spPr>
          <a:xfrm xmlns:a="http://schemas.openxmlformats.org/drawingml/2006/main">
            <a:off x="400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48906A6-99B4-4008-B13A-DAACF95B33CD}"/>
              </a:ext>
            </a:extLst>
          </p:cNvPr>
          <p:cNvSpPr>
            <a:spLocks xmlns:a="http://schemas.openxmlformats.org/drawingml/2006/main" noGrp="1"/>
          </p:cNvSpPr>
          <p:nvPr/>
        </p:nvSpPr>
        <p:spPr>
          <a:xfrm xmlns:a="http://schemas.openxmlformats.org/drawingml/2006/main">
            <a:off x="400050" y="3457575"/>
            <a:ext cx="238125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64F017-B8B6-4D48-B096-88D6DA6246E4}"/>
              </a:ext>
            </a:extLst>
          </p:cNvPr>
          <p:cNvSpPr>
            <a:spLocks xmlns:a="http://schemas.openxmlformats.org/drawingml/2006/main" noGrp="1"/>
          </p:cNvSpPr>
          <p:nvPr/>
        </p:nvSpPr>
        <p:spPr>
          <a:xfrm xmlns:a="http://schemas.openxmlformats.org/drawingml/2006/main">
            <a:off x="400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THRESHOLD</a:t>
            </a:r>
          </a:p>
        </p:txBody>
      </p:sp>
      <p:sp>
        <p:nvSpPr>
          <p:cNvPr id="9" name="">
            <a:extLst xmlns:a="http://schemas.openxmlformats.org/drawingml/2006/main">
              <a:ext uri="{FF2B5EF4-FFF2-40B4-BE49-F238E27FC236}">
                <a16:creationId xmlns:a16="http://schemas.microsoft.com/office/drawing/2014/main" id="{39B186AE-312B-4262-97DD-CF007CE20EB1}"/>
              </a:ext>
            </a:extLst>
          </p:cNvPr>
          <p:cNvSpPr>
            <a:spLocks xmlns:a="http://schemas.openxmlformats.org/drawingml/2006/main" noGrp="1"/>
          </p:cNvSpPr>
          <p:nvPr/>
        </p:nvSpPr>
        <p:spPr>
          <a:xfrm xmlns:a="http://schemas.openxmlformats.org/drawingml/2006/main">
            <a:off x="400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wheel catches. Momentum stops.</a:t>
            </a:r>
          </a:p>
        </p:txBody>
      </p:sp>
      <p:sp>
        <p:nvSpPr>
          <p:cNvPr id="10" name="">
            <a:extLst xmlns:a="http://schemas.openxmlformats.org/drawingml/2006/main">
              <a:ext uri="{FF2B5EF4-FFF2-40B4-BE49-F238E27FC236}">
                <a16:creationId xmlns:a16="http://schemas.microsoft.com/office/drawing/2014/main" id="{54C0A162-7252-4D41-AE70-679D802A36B6}"/>
              </a:ext>
            </a:extLst>
          </p:cNvPr>
          <p:cNvSpPr>
            <a:spLocks xmlns:a="http://schemas.openxmlformats.org/drawingml/2006/main" noGrp="1"/>
          </p:cNvSpPr>
          <p:nvPr/>
        </p:nvSpPr>
        <p:spPr>
          <a:xfrm xmlns:a="http://schemas.openxmlformats.org/drawingml/2006/main">
            <a:off x="3257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4F7F331-CD62-4B6C-A4EF-FAACECE81452}"/>
              </a:ext>
            </a:extLst>
          </p:cNvPr>
          <p:cNvSpPr>
            <a:spLocks xmlns:a="http://schemas.openxmlformats.org/drawingml/2006/main" noGrp="1"/>
          </p:cNvSpPr>
          <p:nvPr/>
        </p:nvSpPr>
        <p:spPr>
          <a:xfrm xmlns:a="http://schemas.openxmlformats.org/drawingml/2006/main">
            <a:off x="3257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D80DB4-B3ED-436F-A8AA-DB68CA2EED70}"/>
              </a:ext>
            </a:extLst>
          </p:cNvPr>
          <p:cNvSpPr>
            <a:spLocks xmlns:a="http://schemas.openxmlformats.org/drawingml/2006/main" noGrp="1"/>
          </p:cNvSpPr>
          <p:nvPr/>
        </p:nvSpPr>
        <p:spPr>
          <a:xfrm xmlns:a="http://schemas.openxmlformats.org/drawingml/2006/main">
            <a:off x="3257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TURN</a:t>
            </a:r>
          </a:p>
        </p:txBody>
      </p:sp>
      <p:sp>
        <p:nvSpPr>
          <p:cNvPr id="13" name="">
            <a:extLst xmlns:a="http://schemas.openxmlformats.org/drawingml/2006/main">
              <a:ext uri="{FF2B5EF4-FFF2-40B4-BE49-F238E27FC236}">
                <a16:creationId xmlns:a16="http://schemas.microsoft.com/office/drawing/2014/main" id="{F1CA11B7-53D8-4F53-8221-54EF5561E89A}"/>
              </a:ext>
            </a:extLst>
          </p:cNvPr>
          <p:cNvSpPr>
            <a:spLocks xmlns:a="http://schemas.openxmlformats.org/drawingml/2006/main" noGrp="1"/>
          </p:cNvSpPr>
          <p:nvPr/>
        </p:nvSpPr>
        <p:spPr>
          <a:xfrm xmlns:a="http://schemas.openxmlformats.org/drawingml/2006/main">
            <a:off x="3257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sharp corner forces backing and correction.</a:t>
            </a:r>
          </a:p>
        </p:txBody>
      </p:sp>
      <p:sp>
        <p:nvSpPr>
          <p:cNvPr id="14" name="">
            <a:extLst xmlns:a="http://schemas.openxmlformats.org/drawingml/2006/main">
              <a:ext uri="{FF2B5EF4-FFF2-40B4-BE49-F238E27FC236}">
                <a16:creationId xmlns:a16="http://schemas.microsoft.com/office/drawing/2014/main" id="{0DAC6B2F-7644-4C10-8887-CB3865A1F2C6}"/>
              </a:ext>
            </a:extLst>
          </p:cNvPr>
          <p:cNvSpPr>
            <a:spLocks xmlns:a="http://schemas.openxmlformats.org/drawingml/2006/main" noGrp="1"/>
          </p:cNvSpPr>
          <p:nvPr/>
        </p:nvSpPr>
        <p:spPr>
          <a:xfrm xmlns:a="http://schemas.openxmlformats.org/drawingml/2006/main">
            <a:off x="6115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EC3D307-AF48-402A-9CCD-41D131D4C9E9}"/>
              </a:ext>
            </a:extLst>
          </p:cNvPr>
          <p:cNvSpPr>
            <a:spLocks xmlns:a="http://schemas.openxmlformats.org/drawingml/2006/main" noGrp="1"/>
          </p:cNvSpPr>
          <p:nvPr/>
        </p:nvSpPr>
        <p:spPr>
          <a:xfrm xmlns:a="http://schemas.openxmlformats.org/drawingml/2006/main">
            <a:off x="61150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92DEE51-074F-4C62-9528-44304B5D9392}"/>
              </a:ext>
            </a:extLst>
          </p:cNvPr>
          <p:cNvSpPr>
            <a:spLocks xmlns:a="http://schemas.openxmlformats.org/drawingml/2006/main" noGrp="1"/>
          </p:cNvSpPr>
          <p:nvPr/>
        </p:nvSpPr>
        <p:spPr>
          <a:xfrm xmlns:a="http://schemas.openxmlformats.org/drawingml/2006/main">
            <a:off x="6115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REACH</a:t>
            </a:r>
          </a:p>
        </p:txBody>
      </p:sp>
      <p:sp>
        <p:nvSpPr>
          <p:cNvPr id="17" name="">
            <a:extLst xmlns:a="http://schemas.openxmlformats.org/drawingml/2006/main">
              <a:ext uri="{FF2B5EF4-FFF2-40B4-BE49-F238E27FC236}">
                <a16:creationId xmlns:a16="http://schemas.microsoft.com/office/drawing/2014/main" id="{C80480F3-0714-45B9-8D29-E3939C4901ED}"/>
              </a:ext>
            </a:extLst>
          </p:cNvPr>
          <p:cNvSpPr>
            <a:spLocks xmlns:a="http://schemas.openxmlformats.org/drawingml/2006/main" noGrp="1"/>
          </p:cNvSpPr>
          <p:nvPr/>
        </p:nvSpPr>
        <p:spPr>
          <a:xfrm xmlns:a="http://schemas.openxmlformats.org/drawingml/2006/main">
            <a:off x="6115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control sits beyond safe range.</a:t>
            </a:r>
          </a:p>
        </p:txBody>
      </p:sp>
      <p:sp>
        <p:nvSpPr>
          <p:cNvPr id="18" name="">
            <a:extLst xmlns:a="http://schemas.openxmlformats.org/drawingml/2006/main">
              <a:ext uri="{FF2B5EF4-FFF2-40B4-BE49-F238E27FC236}">
                <a16:creationId xmlns:a16="http://schemas.microsoft.com/office/drawing/2014/main" id="{892A4098-E281-4ECD-8CF9-67395212F18A}"/>
              </a:ext>
            </a:extLst>
          </p:cNvPr>
          <p:cNvSpPr>
            <a:spLocks xmlns:a="http://schemas.openxmlformats.org/drawingml/2006/main" noGrp="1"/>
          </p:cNvSpPr>
          <p:nvPr/>
        </p:nvSpPr>
        <p:spPr>
          <a:xfrm xmlns:a="http://schemas.openxmlformats.org/drawingml/2006/main">
            <a:off x="8972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E83269CF-A992-4D6A-AFE8-24499C6050F2}"/>
              </a:ext>
            </a:extLst>
          </p:cNvPr>
          <p:cNvSpPr>
            <a:spLocks xmlns:a="http://schemas.openxmlformats.org/drawingml/2006/main" noGrp="1"/>
          </p:cNvSpPr>
          <p:nvPr/>
        </p:nvSpPr>
        <p:spPr>
          <a:xfrm xmlns:a="http://schemas.openxmlformats.org/drawingml/2006/main">
            <a:off x="8972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2341C7-655B-4CC9-B410-5116779CBDB4}"/>
              </a:ext>
            </a:extLst>
          </p:cNvPr>
          <p:cNvSpPr>
            <a:spLocks xmlns:a="http://schemas.openxmlformats.org/drawingml/2006/main" noGrp="1"/>
          </p:cNvSpPr>
          <p:nvPr/>
        </p:nvSpPr>
        <p:spPr>
          <a:xfrm xmlns:a="http://schemas.openxmlformats.org/drawingml/2006/main">
            <a:off x="8972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TRANSFER</a:t>
            </a:r>
          </a:p>
        </p:txBody>
      </p:sp>
      <p:sp>
        <p:nvSpPr>
          <p:cNvPr id="21" name="">
            <a:extLst xmlns:a="http://schemas.openxmlformats.org/drawingml/2006/main">
              <a:ext uri="{FF2B5EF4-FFF2-40B4-BE49-F238E27FC236}">
                <a16:creationId xmlns:a16="http://schemas.microsoft.com/office/drawing/2014/main" id="{E6A8FF82-8B67-4962-948B-85BD368D6011}"/>
              </a:ext>
            </a:extLst>
          </p:cNvPr>
          <p:cNvSpPr>
            <a:spLocks xmlns:a="http://schemas.openxmlformats.org/drawingml/2006/main" noGrp="1"/>
          </p:cNvSpPr>
          <p:nvPr/>
        </p:nvSpPr>
        <p:spPr>
          <a:xfrm xmlns:a="http://schemas.openxmlformats.org/drawingml/2006/main">
            <a:off x="8972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tight fixture turns privacy into assistance.</a:t>
            </a:r>
          </a:p>
        </p:txBody>
      </p:sp>
      <p:sp>
        <p:nvSpPr>
          <p:cNvPr id="22" name="">
            <a:extLst xmlns:a="http://schemas.openxmlformats.org/drawingml/2006/main">
              <a:ext uri="{FF2B5EF4-FFF2-40B4-BE49-F238E27FC236}">
                <a16:creationId xmlns:a16="http://schemas.microsoft.com/office/drawing/2014/main" id="{6797905A-2A72-4BD8-A350-880210736A08}"/>
              </a:ext>
            </a:extLst>
          </p:cNvPr>
          <p:cNvSpPr>
            <a:spLocks xmlns:a="http://schemas.openxmlformats.org/drawingml/2006/main" noGrp="1"/>
          </p:cNvSpPr>
          <p:nvPr/>
        </p:nvSpPr>
        <p:spPr>
          <a:xfrm xmlns:a="http://schemas.openxmlformats.org/drawingml/2006/main">
            <a:off x="400050" y="58102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persuasive case for the dome is simple: spend the floor area on movement before spending it on walls.</a:t>
            </a:r>
          </a:p>
        </p:txBody>
      </p:sp>
      <p:sp>
        <p:nvSpPr>
          <p:cNvPr id="23" name="">
            <a:extLst xmlns:a="http://schemas.openxmlformats.org/drawingml/2006/main">
              <a:ext uri="{FF2B5EF4-FFF2-40B4-BE49-F238E27FC236}">
                <a16:creationId xmlns:a16="http://schemas.microsoft.com/office/drawing/2014/main" id="{E832FA49-38B1-4A0F-B623-EAD8B8846CD9}"/>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564C5E-F825-46C8-960C-C81BAB42F55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25" name="repainted-top-rule-4">
            <a:extLst xmlns:a="http://schemas.openxmlformats.org/drawingml/2006/main">
              <a:ext uri="{FF2B5EF4-FFF2-40B4-BE49-F238E27FC236}">
                <a16:creationId xmlns:a16="http://schemas.microsoft.com/office/drawing/2014/main" id="{5716AF1D-4A32-4743-A690-D239039E3223}"/>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A9A7DE2-41EA-4815-B4B7-95620362A2B3}"/>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6706199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72E8C9A-D469-4145-81CC-2D81C60E443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D2198CC2-0357-4792-922B-DBEA71F10A4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3" name="top-rule-5">
            <a:extLst xmlns:a="http://schemas.openxmlformats.org/drawingml/2006/main">
              <a:ext uri="{FF2B5EF4-FFF2-40B4-BE49-F238E27FC236}">
                <a16:creationId xmlns:a16="http://schemas.microsoft.com/office/drawing/2014/main" id="{4B644395-1A9C-42F9-96AF-2BFAD457808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1F7ACB-AED4-48E0-A1AE-73A8327953D0}"/>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F5BC07F-EDF6-4786-8A9D-7F7DCAF9E647}"/>
              </a:ext>
            </a:extLst>
          </p:cNvPr>
          <p:cNvSpPr>
            <a:spLocks xmlns:a="http://schemas.openxmlformats.org/drawingml/2006/main" noGrp="1"/>
          </p:cNvSpPr>
          <p:nvPr/>
        </p:nvSpPr>
        <p:spPr>
          <a:xfrm xmlns:a="http://schemas.openxmlformats.org/drawingml/2006/main">
            <a:off x="400050" y="184785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The dome is valuable here not because it is round, but because it can hold a broad central volume with fewer interior structural interruptions.</a:t>
            </a:r>
          </a:p>
        </p:txBody>
      </p:sp>
      <p:sp>
        <p:nvSpPr>
          <p:cNvPr id="6" name="">
            <a:extLst xmlns:a="http://schemas.openxmlformats.org/drawingml/2006/main">
              <a:ext uri="{FF2B5EF4-FFF2-40B4-BE49-F238E27FC236}">
                <a16:creationId xmlns:a16="http://schemas.microsoft.com/office/drawing/2014/main" id="{B0BC3B7B-ED9A-4E6D-99A2-E1DDEE74E74D}"/>
              </a:ext>
            </a:extLst>
          </p:cNvPr>
          <p:cNvSpPr>
            <a:spLocks xmlns:a="http://schemas.openxmlformats.org/drawingml/2006/main" noGrp="1"/>
          </p:cNvSpPr>
          <p:nvPr/>
        </p:nvSpPr>
        <p:spPr>
          <a:xfrm xmlns:a="http://schemas.openxmlformats.org/drawingml/2006/main">
            <a:off x="40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CENTER</a:t>
            </a:r>
          </a:p>
        </p:txBody>
      </p:sp>
      <p:sp>
        <p:nvSpPr>
          <p:cNvPr id="7" name="">
            <a:extLst xmlns:a="http://schemas.openxmlformats.org/drawingml/2006/main">
              <a:ext uri="{FF2B5EF4-FFF2-40B4-BE49-F238E27FC236}">
                <a16:creationId xmlns:a16="http://schemas.microsoft.com/office/drawing/2014/main" id="{17EC886F-FD0A-48F9-86FA-AD32C4F3FA96}"/>
              </a:ext>
            </a:extLst>
          </p:cNvPr>
          <p:cNvSpPr>
            <a:spLocks xmlns:a="http://schemas.openxmlformats.org/drawingml/2006/main" noGrp="1"/>
          </p:cNvSpPr>
          <p:nvPr/>
        </p:nvSpPr>
        <p:spPr>
          <a:xfrm xmlns:a="http://schemas.openxmlformats.org/drawingml/2006/main">
            <a:off x="40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EDE2CB-4085-4686-9E2B-61840112F722}"/>
              </a:ext>
            </a:extLst>
          </p:cNvPr>
          <p:cNvSpPr>
            <a:spLocks xmlns:a="http://schemas.openxmlformats.org/drawingml/2006/main" noGrp="1"/>
          </p:cNvSpPr>
          <p:nvPr/>
        </p:nvSpPr>
        <p:spPr>
          <a:xfrm xmlns:a="http://schemas.openxmlformats.org/drawingml/2006/main">
            <a:off x="40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Reserve it for turning, passing, gathering, and changing direction.</a:t>
            </a:r>
          </a:p>
        </p:txBody>
      </p:sp>
      <p:sp>
        <p:nvSpPr>
          <p:cNvPr id="9" name="">
            <a:extLst xmlns:a="http://schemas.openxmlformats.org/drawingml/2006/main">
              <a:ext uri="{FF2B5EF4-FFF2-40B4-BE49-F238E27FC236}">
                <a16:creationId xmlns:a16="http://schemas.microsoft.com/office/drawing/2014/main" id="{D2730F30-E999-47D7-BE53-795180DF9186}"/>
              </a:ext>
            </a:extLst>
          </p:cNvPr>
          <p:cNvSpPr>
            <a:spLocks xmlns:a="http://schemas.openxmlformats.org/drawingml/2006/main" noGrp="1"/>
          </p:cNvSpPr>
          <p:nvPr/>
        </p:nvSpPr>
        <p:spPr>
          <a:xfrm xmlns:a="http://schemas.openxmlformats.org/drawingml/2006/main">
            <a:off x="421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F7A7A"/>
                </a:solidFill>
                <a:latin typeface="Arial"/>
                <a:ea typeface="Arial"/>
                <a:cs typeface="Arial"/>
              </a:defRPr>
            </a:pPr>
            <a:r>
              <a:rPr sz="2550" b="1">
                <a:solidFill>
                  <a:srgbClr val="1F7A7A"/>
                </a:solidFill>
                <a:latin typeface="Arial"/>
                <a:ea typeface="Arial"/>
                <a:cs typeface="Arial"/>
              </a:rPr>
              <a:t>EDGE</a:t>
            </a:r>
          </a:p>
        </p:txBody>
      </p:sp>
      <p:sp>
        <p:nvSpPr>
          <p:cNvPr id="10" name="">
            <a:extLst xmlns:a="http://schemas.openxmlformats.org/drawingml/2006/main">
              <a:ext uri="{FF2B5EF4-FFF2-40B4-BE49-F238E27FC236}">
                <a16:creationId xmlns:a16="http://schemas.microsoft.com/office/drawing/2014/main" id="{AC9D1DD9-6427-4FD4-A4E0-6CF4E968D694}"/>
              </a:ext>
            </a:extLst>
          </p:cNvPr>
          <p:cNvSpPr>
            <a:spLocks xmlns:a="http://schemas.openxmlformats.org/drawingml/2006/main" noGrp="1"/>
          </p:cNvSpPr>
          <p:nvPr/>
        </p:nvSpPr>
        <p:spPr>
          <a:xfrm xmlns:a="http://schemas.openxmlformats.org/drawingml/2006/main">
            <a:off x="421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19DA88-98E4-4769-AAF4-0F202DD13054}"/>
              </a:ext>
            </a:extLst>
          </p:cNvPr>
          <p:cNvSpPr>
            <a:spLocks xmlns:a="http://schemas.openxmlformats.org/drawingml/2006/main" noGrp="1"/>
          </p:cNvSpPr>
          <p:nvPr/>
        </p:nvSpPr>
        <p:spPr>
          <a:xfrm xmlns:a="http://schemas.openxmlformats.org/drawingml/2006/main">
            <a:off x="421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Place storage, utilities, and built-ins where movement does not need to be.</a:t>
            </a:r>
          </a:p>
        </p:txBody>
      </p:sp>
      <p:sp>
        <p:nvSpPr>
          <p:cNvPr id="12" name="">
            <a:extLst xmlns:a="http://schemas.openxmlformats.org/drawingml/2006/main">
              <a:ext uri="{FF2B5EF4-FFF2-40B4-BE49-F238E27FC236}">
                <a16:creationId xmlns:a16="http://schemas.microsoft.com/office/drawing/2014/main" id="{A5E7A71C-9E39-4735-BEC6-01618BF13A73}"/>
              </a:ext>
            </a:extLst>
          </p:cNvPr>
          <p:cNvSpPr>
            <a:spLocks xmlns:a="http://schemas.openxmlformats.org/drawingml/2006/main" noGrp="1"/>
          </p:cNvSpPr>
          <p:nvPr/>
        </p:nvSpPr>
        <p:spPr>
          <a:xfrm xmlns:a="http://schemas.openxmlformats.org/drawingml/2006/main">
            <a:off x="802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ROUTES</a:t>
            </a:r>
          </a:p>
        </p:txBody>
      </p:sp>
      <p:sp>
        <p:nvSpPr>
          <p:cNvPr id="13" name="">
            <a:extLst xmlns:a="http://schemas.openxmlformats.org/drawingml/2006/main">
              <a:ext uri="{FF2B5EF4-FFF2-40B4-BE49-F238E27FC236}">
                <a16:creationId xmlns:a16="http://schemas.microsoft.com/office/drawing/2014/main" id="{5B22BD36-1B3B-4ECE-9152-189AB7E958A1}"/>
              </a:ext>
            </a:extLst>
          </p:cNvPr>
          <p:cNvSpPr>
            <a:spLocks xmlns:a="http://schemas.openxmlformats.org/drawingml/2006/main" noGrp="1"/>
          </p:cNvSpPr>
          <p:nvPr/>
        </p:nvSpPr>
        <p:spPr>
          <a:xfrm xmlns:a="http://schemas.openxmlformats.org/drawingml/2006/main">
            <a:off x="802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5FEE18-472D-42C0-8EA5-56E2CF8941A8}"/>
              </a:ext>
            </a:extLst>
          </p:cNvPr>
          <p:cNvSpPr>
            <a:spLocks xmlns:a="http://schemas.openxmlformats.org/drawingml/2006/main" noGrp="1"/>
          </p:cNvSpPr>
          <p:nvPr/>
        </p:nvSpPr>
        <p:spPr>
          <a:xfrm xmlns:a="http://schemas.openxmlformats.org/drawingml/2006/main">
            <a:off x="802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Use short, straight radial connections—never a curved ramp as a design gesture.</a:t>
            </a:r>
          </a:p>
        </p:txBody>
      </p:sp>
      <p:sp>
        <p:nvSpPr>
          <p:cNvPr id="15" name="">
            <a:extLst xmlns:a="http://schemas.openxmlformats.org/drawingml/2006/main">
              <a:ext uri="{FF2B5EF4-FFF2-40B4-BE49-F238E27FC236}">
                <a16:creationId xmlns:a16="http://schemas.microsoft.com/office/drawing/2014/main" id="{F93A53B9-D7C1-40A1-A47D-ACA295243396}"/>
              </a:ext>
            </a:extLst>
          </p:cNvPr>
          <p:cNvSpPr>
            <a:spLocks xmlns:a="http://schemas.openxmlformats.org/drawingml/2006/main" noGrp="1"/>
          </p:cNvSpPr>
          <p:nvPr/>
        </p:nvSpPr>
        <p:spPr>
          <a:xfrm xmlns:a="http://schemas.openxmlformats.org/drawingml/2006/main">
            <a:off x="400050" y="588645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45D8A"/>
                </a:solidFill>
                <a:latin typeface="Arial"/>
                <a:ea typeface="Arial"/>
                <a:cs typeface="Arial"/>
              </a:defRPr>
            </a:pPr>
            <a:r>
              <a:rPr sz="2025" b="1">
                <a:solidFill>
                  <a:srgbClr val="145D8A"/>
                </a:solidFill>
                <a:latin typeface="Arial"/>
                <a:ea typeface="Arial"/>
                <a:cs typeface="Arial"/>
              </a:rPr>
              <a:t>Curve the envelope. Keep the accessible route level, direct, and predictable.</a:t>
            </a:r>
          </a:p>
        </p:txBody>
      </p:sp>
      <p:sp>
        <p:nvSpPr>
          <p:cNvPr id="16" name="">
            <a:extLst xmlns:a="http://schemas.openxmlformats.org/drawingml/2006/main">
              <a:ext uri="{FF2B5EF4-FFF2-40B4-BE49-F238E27FC236}">
                <a16:creationId xmlns:a16="http://schemas.microsoft.com/office/drawing/2014/main" id="{FCEFC597-743D-40B1-B423-2FBDF8C9F2A6}"/>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C0EDD1-A46D-4A84-A9AC-8A7A25C1334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18" name="repainted-top-rule-5">
            <a:extLst xmlns:a="http://schemas.openxmlformats.org/drawingml/2006/main">
              <a:ext uri="{FF2B5EF4-FFF2-40B4-BE49-F238E27FC236}">
                <a16:creationId xmlns:a16="http://schemas.microsoft.com/office/drawing/2014/main" id="{6B99FD4E-2CF3-43C7-B14C-A60CEA6CAAB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80E6B2-730F-4306-867A-D820D0E477EC}"/>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8634427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32B335-15D9-47FB-B3BA-8CF179962FD9}"/>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3413D3CB-924B-48A8-A774-B2BC124E677F}"/>
              </a:ext>
            </a:extLst>
          </p:cNvPr>
          <p:cNvSpPr>
            <a:spLocks xmlns:a="http://schemas.openxmlformats.org/drawingml/2006/main" noGrp="1"/>
          </p:cNvSpPr>
          <p:nvPr/>
        </p:nvSpPr>
        <p:spPr>
          <a:xfrm xmlns:a="http://schemas.openxmlformats.org/drawingml/2006/main">
            <a:off x="400050" y="18478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beautiful house that requires help at the door is not accessible.</a:t>
            </a:r>
          </a:p>
        </p:txBody>
      </p:sp>
      <p:sp>
        <p:nvSpPr>
          <p:cNvPr id="3" name="">
            <a:extLst xmlns:a="http://schemas.openxmlformats.org/drawingml/2006/main">
              <a:ext uri="{FF2B5EF4-FFF2-40B4-BE49-F238E27FC236}">
                <a16:creationId xmlns:a16="http://schemas.microsoft.com/office/drawing/2014/main" id="{531C1EC9-6AD8-45F5-9A1E-56C3DB6CF6A7}"/>
              </a:ext>
            </a:extLst>
          </p:cNvPr>
          <p:cNvSpPr>
            <a:spLocks xmlns:a="http://schemas.openxmlformats.org/drawingml/2006/main" noGrp="1"/>
          </p:cNvSpPr>
          <p:nvPr/>
        </p:nvSpPr>
        <p:spPr>
          <a:xfrm xmlns:a="http://schemas.openxmlformats.org/drawingml/2006/main">
            <a:off x="400050" y="285750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D8DFF"/>
                </a:solidFill>
                <a:latin typeface="Arial"/>
                <a:ea typeface="Arial"/>
                <a:cs typeface="Arial"/>
              </a:defRPr>
            </a:pPr>
            <a:r>
              <a:rPr sz="5400" b="1">
                <a:solidFill>
                  <a:srgbClr val="3D8DFF"/>
                </a:solidFill>
                <a:latin typeface="Arial"/>
                <a:ea typeface="Arial"/>
                <a:cs typeface="Arial"/>
              </a:rPr>
              <a:t>32 in</a:t>
            </a:r>
          </a:p>
        </p:txBody>
      </p:sp>
      <p:sp>
        <p:nvSpPr>
          <p:cNvPr id="4" name="">
            <a:extLst xmlns:a="http://schemas.openxmlformats.org/drawingml/2006/main">
              <a:ext uri="{FF2B5EF4-FFF2-40B4-BE49-F238E27FC236}">
                <a16:creationId xmlns:a16="http://schemas.microsoft.com/office/drawing/2014/main" id="{11C2B71F-84BA-4582-9B1A-2713A70B8805}"/>
              </a:ext>
            </a:extLst>
          </p:cNvPr>
          <p:cNvSpPr>
            <a:spLocks xmlns:a="http://schemas.openxmlformats.org/drawingml/2006/main" noGrp="1"/>
          </p:cNvSpPr>
          <p:nvPr/>
        </p:nvSpPr>
        <p:spPr>
          <a:xfrm xmlns:a="http://schemas.openxmlformats.org/drawingml/2006/main">
            <a:off x="400050" y="3790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minimum clear door opening</a:t>
            </a:r>
          </a:p>
        </p:txBody>
      </p:sp>
      <p:sp>
        <p:nvSpPr>
          <p:cNvPr id="5" name="">
            <a:extLst xmlns:a="http://schemas.openxmlformats.org/drawingml/2006/main">
              <a:ext uri="{FF2B5EF4-FFF2-40B4-BE49-F238E27FC236}">
                <a16:creationId xmlns:a16="http://schemas.microsoft.com/office/drawing/2014/main" id="{32E05A4C-AB08-411F-A26E-41477AE05BA7}"/>
              </a:ext>
            </a:extLst>
          </p:cNvPr>
          <p:cNvSpPr>
            <a:spLocks xmlns:a="http://schemas.openxmlformats.org/drawingml/2006/main" noGrp="1"/>
          </p:cNvSpPr>
          <p:nvPr/>
        </p:nvSpPr>
        <p:spPr>
          <a:xfrm xmlns:a="http://schemas.openxmlformats.org/drawingml/2006/main">
            <a:off x="400050" y="4419600"/>
            <a:ext cx="304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Benchmark from the ADA Standards; local residential requirements and individual needs may differ.</a:t>
            </a:r>
          </a:p>
        </p:txBody>
      </p:sp>
      <p:sp>
        <p:nvSpPr>
          <p:cNvPr id="6" name="">
            <a:extLst xmlns:a="http://schemas.openxmlformats.org/drawingml/2006/main">
              <a:ext uri="{FF2B5EF4-FFF2-40B4-BE49-F238E27FC236}">
                <a16:creationId xmlns:a16="http://schemas.microsoft.com/office/drawing/2014/main" id="{16C770F0-772D-4681-8B90-E2252D88C386}"/>
              </a:ext>
            </a:extLst>
          </p:cNvPr>
          <p:cNvSpPr>
            <a:spLocks xmlns:a="http://schemas.openxmlformats.org/drawingml/2006/main" noGrp="1"/>
          </p:cNvSpPr>
          <p:nvPr/>
        </p:nvSpPr>
        <p:spPr>
          <a:xfrm xmlns:a="http://schemas.openxmlformats.org/drawingml/2006/main">
            <a:off x="3714750" y="2667000"/>
            <a:ext cx="9525" cy="28956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9F59260-663D-427C-AA51-03BEFAB44588}"/>
              </a:ext>
            </a:extLst>
          </p:cNvPr>
          <p:cNvSpPr>
            <a:spLocks xmlns:a="http://schemas.openxmlformats.org/drawingml/2006/main" noGrp="1"/>
          </p:cNvSpPr>
          <p:nvPr/>
        </p:nvSpPr>
        <p:spPr>
          <a:xfrm xmlns:a="http://schemas.openxmlformats.org/drawingml/2006/main">
            <a:off x="4324350" y="2781300"/>
            <a:ext cx="6762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Flush threshold. </a:t>
            </a:r>
            <a:r>
              <a:rPr sz="1875">
                <a:solidFill>
                  <a:srgbClr val="0A0A0A"/>
                </a:solidFill>
                <a:latin typeface="Arial"/>
                <a:ea typeface="Arial"/>
                <a:cs typeface="Arial"/>
              </a:rPr>
              <a:t>Eliminate the small lip that stops casters and creates a trip edge.</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Level landing. </a:t>
            </a:r>
            <a:r>
              <a:rPr sz="1875">
                <a:solidFill>
                  <a:srgbClr val="0A0A0A"/>
                </a:solidFill>
                <a:latin typeface="Arial"/>
                <a:ea typeface="Arial"/>
                <a:cs typeface="Arial"/>
              </a:rPr>
              <a:t>Give the user room to stop, reach hardware, and operate the door.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Straight, gentle approach. </a:t>
            </a:r>
            <a:r>
              <a:rPr sz="1875">
                <a:solidFill>
                  <a:srgbClr val="0A0A0A"/>
                </a:solidFill>
                <a:latin typeface="Arial"/>
                <a:ea typeface="Arial"/>
                <a:cs typeface="Arial"/>
              </a:rPr>
              <a:t>Use the least slope practical; if it is a ramp, design to the applicable standard.</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Simple hardware. </a:t>
            </a:r>
            <a:r>
              <a:rPr sz="1875">
                <a:solidFill>
                  <a:srgbClr val="0A0A0A"/>
                </a:solidFill>
                <a:latin typeface="Arial"/>
                <a:ea typeface="Arial"/>
                <a:cs typeface="Arial"/>
              </a:rPr>
              <a:t>Lever handles, low force, and powered opening where appropriate.</a:t>
            </a:r>
          </a:p>
        </p:txBody>
      </p:sp>
      <p:sp>
        <p:nvSpPr>
          <p:cNvPr id="8" name="">
            <a:extLst xmlns:a="http://schemas.openxmlformats.org/drawingml/2006/main">
              <a:ext uri="{FF2B5EF4-FFF2-40B4-BE49-F238E27FC236}">
                <a16:creationId xmlns:a16="http://schemas.microsoft.com/office/drawing/2014/main" id="{4BC8E7EF-07B2-4C5A-A4E1-460773D0D8D1}"/>
              </a:ext>
            </a:extLst>
          </p:cNvPr>
          <p:cNvSpPr>
            <a:spLocks xmlns:a="http://schemas.openxmlformats.org/drawingml/2006/main" noGrp="1"/>
          </p:cNvSpPr>
          <p:nvPr/>
        </p:nvSpPr>
        <p:spPr>
          <a:xfrm xmlns:a="http://schemas.openxmlformats.org/drawingml/2006/main">
            <a:off x="4324350" y="5810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7A7A"/>
                </a:solidFill>
                <a:latin typeface="Arial"/>
                <a:ea typeface="Arial"/>
                <a:cs typeface="Arial"/>
              </a:defRPr>
            </a:pPr>
            <a:r>
              <a:rPr sz="1950" b="1">
                <a:solidFill>
                  <a:srgbClr val="1F7A7A"/>
                </a:solidFill>
                <a:latin typeface="Arial"/>
                <a:ea typeface="Arial"/>
                <a:cs typeface="Arial"/>
              </a:rPr>
              <a:t>A shared, dignified front door—not a side-door accommodation.</a:t>
            </a:r>
          </a:p>
        </p:txBody>
      </p:sp>
      <p:sp>
        <p:nvSpPr>
          <p:cNvPr id="9" name="">
            <a:extLst xmlns:a="http://schemas.openxmlformats.org/drawingml/2006/main">
              <a:ext uri="{FF2B5EF4-FFF2-40B4-BE49-F238E27FC236}">
                <a16:creationId xmlns:a16="http://schemas.microsoft.com/office/drawing/2014/main" id="{696EDBE8-A95A-46F0-BF0E-CAB8A8B5EFF9}"/>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A2BC9B-7306-4F6E-9B58-B6239CEDAB76}"/>
              </a:ext>
            </a:extLst>
          </p:cNvPr>
          <p:cNvSpPr>
            <a:spLocks xmlns:a="http://schemas.openxmlformats.org/drawingml/2006/main" noGrp="1"/>
          </p:cNvSpPr>
          <p:nvPr/>
        </p:nvSpPr>
        <p:spPr>
          <a:xfrm xmlns:a="http://schemas.openxmlformats.org/drawingml/2006/main">
            <a:off x="1428750" y="66675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11" name="indented-top-rule-6">
            <a:extLst xmlns:a="http://schemas.openxmlformats.org/drawingml/2006/main">
              <a:ext uri="{FF2B5EF4-FFF2-40B4-BE49-F238E27FC236}">
                <a16:creationId xmlns:a16="http://schemas.microsoft.com/office/drawing/2014/main" id="{1E2F760D-576E-4AEB-BFC5-97398571D8F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BA9AD2-0243-40F6-B372-A03DCCC8196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815756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36BEBA-999A-4532-B9DB-2027717FFA1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4197D669-C8FA-4E78-9340-FE09CBC1854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3" name="top-rule-7">
            <a:extLst xmlns:a="http://schemas.openxmlformats.org/drawingml/2006/main">
              <a:ext uri="{FF2B5EF4-FFF2-40B4-BE49-F238E27FC236}">
                <a16:creationId xmlns:a16="http://schemas.microsoft.com/office/drawing/2014/main" id="{015B8DA1-57CE-4A54-AB3E-A9AE16A6EC00}"/>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E88B82-47E4-4AD3-A42F-C07531C4867B}"/>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09b77990584980"/>
          <a:srcRect xmlns:a="http://schemas.openxmlformats.org/drawingml/2006/main" l="0" t="5000" r="0" b="5000"/>
          <a:stretch xmlns:a="http://schemas.openxmlformats.org/drawingml/2006/main">
            <a:fillRect l="0" t="0" r="0" b="0"/>
          </a:stretch>
        </p:blipFill>
        <p:spPr>
          <a:xfrm xmlns:a="http://schemas.openxmlformats.org/drawingml/2006/main">
            <a:off x="400050" y="1809750"/>
            <a:ext cx="6953250" cy="4171950"/>
          </a:xfrm>
          <a:prstGeom xmlns:a="http://schemas.openxmlformats.org/drawingml/2006/main" prst="roundRect">
            <a:avLst>
              <a:gd name="adj" fmla="val 3196"/>
            </a:avLst>
          </a:prstGeom>
        </p:spPr>
      </p:pic>
      <p:sp>
        <p:nvSpPr>
          <p:cNvPr id="6" name="">
            <a:extLst xmlns:a="http://schemas.openxmlformats.org/drawingml/2006/main">
              <a:ext uri="{FF2B5EF4-FFF2-40B4-BE49-F238E27FC236}">
                <a16:creationId xmlns:a16="http://schemas.microsoft.com/office/drawing/2014/main" id="{4A011554-F457-49BC-BC70-0F22512F8EF2}"/>
              </a:ext>
            </a:extLst>
          </p:cNvPr>
          <p:cNvSpPr>
            <a:spLocks xmlns:a="http://schemas.openxmlformats.org/drawingml/2006/main" noGrp="1"/>
          </p:cNvSpPr>
          <p:nvPr/>
        </p:nvSpPr>
        <p:spPr>
          <a:xfrm xmlns:a="http://schemas.openxmlformats.org/drawingml/2006/main">
            <a:off x="7810500" y="1924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A0A0A"/>
                </a:solidFill>
                <a:latin typeface="Arial"/>
                <a:ea typeface="Arial"/>
                <a:cs typeface="Arial"/>
              </a:defRPr>
            </a:pPr>
            <a:r>
              <a:rPr sz="2400" b="1">
                <a:solidFill>
                  <a:srgbClr val="0A0A0A"/>
                </a:solidFill>
                <a:latin typeface="Arial"/>
                <a:ea typeface="Arial"/>
                <a:cs typeface="Arial"/>
              </a:rPr>
              <a:t>Design for reach, not adaptation</a:t>
            </a:r>
          </a:p>
        </p:txBody>
      </p:sp>
      <p:sp>
        <p:nvSpPr>
          <p:cNvPr id="7" name="">
            <a:extLst xmlns:a="http://schemas.openxmlformats.org/drawingml/2006/main">
              <a:ext uri="{FF2B5EF4-FFF2-40B4-BE49-F238E27FC236}">
                <a16:creationId xmlns:a16="http://schemas.microsoft.com/office/drawing/2014/main" id="{5B89D0D7-4E6F-4566-97B1-6BB070A6122B}"/>
              </a:ext>
            </a:extLst>
          </p:cNvPr>
          <p:cNvSpPr>
            <a:spLocks xmlns:a="http://schemas.openxmlformats.org/drawingml/2006/main" noGrp="1"/>
          </p:cNvSpPr>
          <p:nvPr/>
        </p:nvSpPr>
        <p:spPr>
          <a:xfrm xmlns:a="http://schemas.openxmlformats.org/drawingml/2006/main">
            <a:off x="7810500" y="2857500"/>
            <a:ext cx="371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Pull under. </a:t>
            </a:r>
            <a:r>
              <a:rPr sz="1650">
                <a:solidFill>
                  <a:srgbClr val="0A0A0A"/>
                </a:solidFill>
                <a:latin typeface="Arial"/>
                <a:ea typeface="Arial"/>
                <a:cs typeface="Arial"/>
              </a:rPr>
              <a:t>Provide knee and toe clearance at a true work surface.</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Bring storage down. </a:t>
            </a:r>
            <a:r>
              <a:rPr sz="1650">
                <a:solidFill>
                  <a:srgbClr val="0A0A0A"/>
                </a:solidFill>
                <a:latin typeface="Arial"/>
                <a:ea typeface="Arial"/>
                <a:cs typeface="Arial"/>
              </a:rPr>
              <a:t>Use drawers, pull-outs, and reachable pantry zones.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Open the turning area. </a:t>
            </a:r>
            <a:r>
              <a:rPr sz="1650">
                <a:solidFill>
                  <a:srgbClr val="0A0A0A"/>
                </a:solidFill>
                <a:latin typeface="Arial"/>
                <a:ea typeface="Arial"/>
                <a:cs typeface="Arial"/>
              </a:rPr>
              <a:t>Keep the chair clear of appliance doors and traffic.</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Share the room. </a:t>
            </a:r>
            <a:r>
              <a:rPr sz="1650">
                <a:solidFill>
                  <a:srgbClr val="0A0A0A"/>
                </a:solidFill>
                <a:latin typeface="Arial"/>
                <a:ea typeface="Arial"/>
                <a:cs typeface="Arial"/>
              </a:rPr>
              <a:t>An open kitchen keeps cooking social, visible, and connected.</a:t>
            </a:r>
          </a:p>
        </p:txBody>
      </p:sp>
      <p:sp>
        <p:nvSpPr>
          <p:cNvPr id="8" name="">
            <a:extLst xmlns:a="http://schemas.openxmlformats.org/drawingml/2006/main">
              <a:ext uri="{FF2B5EF4-FFF2-40B4-BE49-F238E27FC236}">
                <a16:creationId xmlns:a16="http://schemas.microsoft.com/office/drawing/2014/main" id="{C686E680-4F55-4809-97A0-1A4B8CF6930A}"/>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EA2813-9806-44E1-BC47-5E603410EC47}"/>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10" name="repainted-top-rule-7">
            <a:extLst xmlns:a="http://schemas.openxmlformats.org/drawingml/2006/main">
              <a:ext uri="{FF2B5EF4-FFF2-40B4-BE49-F238E27FC236}">
                <a16:creationId xmlns:a16="http://schemas.microsoft.com/office/drawing/2014/main" id="{F505360A-0339-4411-9676-30452EFCD109}"/>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C0DE92-1890-4543-ABD0-C118DF5E6B9F}"/>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9427752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BF7154-4DD3-4087-B090-0A39FAA3A74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04351447-00C1-44D2-82C0-765F14156FDC}"/>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3" name="top-rule-8">
            <a:extLst xmlns:a="http://schemas.openxmlformats.org/drawingml/2006/main">
              <a:ext uri="{FF2B5EF4-FFF2-40B4-BE49-F238E27FC236}">
                <a16:creationId xmlns:a16="http://schemas.microsoft.com/office/drawing/2014/main" id="{F19A381A-FDD3-4E44-95AB-7FC1B504540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7A4562-BE54-4FBD-A155-6B908338B856}"/>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6B49047-9129-4812-A92B-E4FD0F297633}"/>
              </a:ext>
            </a:extLst>
          </p:cNvPr>
          <p:cNvSpPr>
            <a:spLocks xmlns:a="http://schemas.openxmlformats.org/drawingml/2006/main" noGrp="1"/>
          </p:cNvSpPr>
          <p:nvPr/>
        </p:nvSpPr>
        <p:spPr>
          <a:xfrm xmlns:a="http://schemas.openxmlformats.org/drawingml/2006/main">
            <a:off x="400050" y="1866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bedroom and bathroom should reduce transfers, not create new ones.</a:t>
            </a:r>
          </a:p>
        </p:txBody>
      </p:sp>
      <p:sp>
        <p:nvSpPr>
          <p:cNvPr id="6" name="">
            <a:extLst xmlns:a="http://schemas.openxmlformats.org/drawingml/2006/main">
              <a:ext uri="{FF2B5EF4-FFF2-40B4-BE49-F238E27FC236}">
                <a16:creationId xmlns:a16="http://schemas.microsoft.com/office/drawing/2014/main" id="{F52B3CA1-A580-4B8C-A041-062A3DD6B913}"/>
              </a:ext>
            </a:extLst>
          </p:cNvPr>
          <p:cNvSpPr>
            <a:spLocks xmlns:a="http://schemas.openxmlformats.org/drawingml/2006/main" noGrp="1"/>
          </p:cNvSpPr>
          <p:nvPr/>
        </p:nvSpPr>
        <p:spPr>
          <a:xfrm xmlns:a="http://schemas.openxmlformats.org/drawingml/2006/main">
            <a:off x="400050" y="3086100"/>
            <a:ext cx="40767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Wide sliding opening. </a:t>
            </a:r>
            <a:r>
              <a:rPr sz="1650">
                <a:solidFill>
                  <a:srgbClr val="0A0A0A"/>
                </a:solidFill>
                <a:latin typeface="Arial"/>
                <a:ea typeface="Arial"/>
                <a:cs typeface="Arial"/>
              </a:rPr>
              <a:t>Avoid a door swing that steals maneuvering room.</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Roll-in shower. </a:t>
            </a:r>
            <a:r>
              <a:rPr sz="1650">
                <a:solidFill>
                  <a:srgbClr val="0A0A0A"/>
                </a:solidFill>
                <a:latin typeface="Arial"/>
                <a:ea typeface="Arial"/>
                <a:cs typeface="Arial"/>
              </a:rPr>
              <a:t>Use a flush floor, seat, controls within reach, and correctly placed grab bars.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Clear side approach. </a:t>
            </a:r>
            <a:r>
              <a:rPr sz="1650">
                <a:solidFill>
                  <a:srgbClr val="0A0A0A"/>
                </a:solidFill>
                <a:latin typeface="Arial"/>
                <a:ea typeface="Arial"/>
                <a:cs typeface="Arial"/>
              </a:rPr>
              <a:t>Leave transfer space beside the bed and fixtures.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Reinforced straight walls. </a:t>
            </a:r>
            <a:r>
              <a:rPr sz="1650">
                <a:solidFill>
                  <a:srgbClr val="0A0A0A"/>
                </a:solidFill>
                <a:latin typeface="Arial"/>
                <a:ea typeface="Arial"/>
                <a:cs typeface="Arial"/>
              </a:rPr>
              <a:t>Give rails and cabinetry solid mounting surfaces inside the curved shell.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102f266a0b455f"/>
          <a:srcRect xmlns:a="http://schemas.openxmlformats.org/drawingml/2006/main" l="0" t="4248" r="0" b="4248"/>
          <a:stretch xmlns:a="http://schemas.openxmlformats.org/drawingml/2006/main">
            <a:fillRect l="0" t="0" r="0" b="0"/>
          </a:stretch>
        </p:blipFill>
        <p:spPr>
          <a:xfrm xmlns:a="http://schemas.openxmlformats.org/drawingml/2006/main">
            <a:off x="4953000" y="1809750"/>
            <a:ext cx="6838950" cy="4171950"/>
          </a:xfrm>
          <a:prstGeom xmlns:a="http://schemas.openxmlformats.org/drawingml/2006/main" prst="roundRect">
            <a:avLst>
              <a:gd name="adj" fmla="val 3196"/>
            </a:avLst>
          </a:prstGeom>
        </p:spPr>
      </p:pic>
      <p:sp>
        <p:nvSpPr>
          <p:cNvPr id="8" name="">
            <a:extLst xmlns:a="http://schemas.openxmlformats.org/drawingml/2006/main">
              <a:ext uri="{FF2B5EF4-FFF2-40B4-BE49-F238E27FC236}">
                <a16:creationId xmlns:a16="http://schemas.microsoft.com/office/drawing/2014/main" id="{B91898DE-C47A-4F18-BBF5-BBFAE0F8DCF1}"/>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FF8CF18-B647-4A10-9F29-38DB4EEE8FAD}"/>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10" name="repainted-top-rule-8">
            <a:extLst xmlns:a="http://schemas.openxmlformats.org/drawingml/2006/main">
              <a:ext uri="{FF2B5EF4-FFF2-40B4-BE49-F238E27FC236}">
                <a16:creationId xmlns:a16="http://schemas.microsoft.com/office/drawing/2014/main" id="{E0428F4E-D7F1-45CA-959E-BF1917CA300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8D9FEE-8AD9-4977-9115-687EDB56426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3254152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DDB4B71-B22C-491C-848E-1C38ADCF4DF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1A49FA34-8360-497F-9ED6-11E9F8194806}"/>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3" name="top-rule-9">
            <a:extLst xmlns:a="http://schemas.openxmlformats.org/drawingml/2006/main">
              <a:ext uri="{FF2B5EF4-FFF2-40B4-BE49-F238E27FC236}">
                <a16:creationId xmlns:a16="http://schemas.microsoft.com/office/drawing/2014/main" id="{2E101EE8-7669-4E38-B9AC-E9314EBE5523}"/>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CCCD2B-8EE6-461E-B41A-4EED93557D1B}"/>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2113CB3-CE3B-4696-BF77-1B68758D335C}"/>
              </a:ext>
            </a:extLst>
          </p:cNvPr>
          <p:cNvSpPr>
            <a:spLocks xmlns:a="http://schemas.openxmlformats.org/drawingml/2006/main" noGrp="1"/>
          </p:cNvSpPr>
          <p:nvPr/>
        </p:nvSpPr>
        <p:spPr>
          <a:xfrm xmlns:a="http://schemas.openxmlformats.org/drawingml/2006/main">
            <a:off x="400050" y="1847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Use these as early design checks. They are not a substitute for local residential code, an architect, or the user’s own chair and reach.</a:t>
            </a:r>
          </a:p>
        </p:txBody>
      </p:sp>
      <p:sp>
        <p:nvSpPr>
          <p:cNvPr id="6" name="metric-1">
            <a:extLst xmlns:a="http://schemas.openxmlformats.org/drawingml/2006/main">
              <a:ext uri="{FF2B5EF4-FFF2-40B4-BE49-F238E27FC236}">
                <a16:creationId xmlns:a16="http://schemas.microsoft.com/office/drawing/2014/main" id="{80CF25A7-D3FD-466D-A3C1-EEBBC4906649}"/>
              </a:ext>
            </a:extLst>
          </p:cNvPr>
          <p:cNvSpPr>
            <a:spLocks xmlns:a="http://schemas.openxmlformats.org/drawingml/2006/main" noGrp="1"/>
          </p:cNvSpPr>
          <p:nvPr/>
        </p:nvSpPr>
        <p:spPr>
          <a:xfrm xmlns:a="http://schemas.openxmlformats.org/drawingml/2006/main">
            <a:off x="40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40B943-7649-4778-A4EF-BDE8ACFB30ED}"/>
              </a:ext>
            </a:extLst>
          </p:cNvPr>
          <p:cNvSpPr>
            <a:spLocks xmlns:a="http://schemas.openxmlformats.org/drawingml/2006/main" noGrp="1"/>
          </p:cNvSpPr>
          <p:nvPr/>
        </p:nvSpPr>
        <p:spPr>
          <a:xfrm xmlns:a="http://schemas.openxmlformats.org/drawingml/2006/main">
            <a:off x="68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60 in</a:t>
            </a:r>
          </a:p>
        </p:txBody>
      </p:sp>
      <p:sp>
        <p:nvSpPr>
          <p:cNvPr id="8" name="">
            <a:extLst xmlns:a="http://schemas.openxmlformats.org/drawingml/2006/main">
              <a:ext uri="{FF2B5EF4-FFF2-40B4-BE49-F238E27FC236}">
                <a16:creationId xmlns:a16="http://schemas.microsoft.com/office/drawing/2014/main" id="{813AA888-C839-47A2-923D-828539453244}"/>
              </a:ext>
            </a:extLst>
          </p:cNvPr>
          <p:cNvSpPr>
            <a:spLocks xmlns:a="http://schemas.openxmlformats.org/drawingml/2006/main" noGrp="1"/>
          </p:cNvSpPr>
          <p:nvPr/>
        </p:nvSpPr>
        <p:spPr>
          <a:xfrm xmlns:a="http://schemas.openxmlformats.org/drawingml/2006/main">
            <a:off x="68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TURNING SPACE</a:t>
            </a:r>
          </a:p>
        </p:txBody>
      </p:sp>
      <p:sp>
        <p:nvSpPr>
          <p:cNvPr id="9" name="">
            <a:extLst xmlns:a="http://schemas.openxmlformats.org/drawingml/2006/main">
              <a:ext uri="{FF2B5EF4-FFF2-40B4-BE49-F238E27FC236}">
                <a16:creationId xmlns:a16="http://schemas.microsoft.com/office/drawing/2014/main" id="{A2CF9BA6-8E08-415C-B72D-0F2C1BF044E1}"/>
              </a:ext>
            </a:extLst>
          </p:cNvPr>
          <p:cNvSpPr>
            <a:spLocks xmlns:a="http://schemas.openxmlformats.org/drawingml/2006/main" noGrp="1"/>
          </p:cNvSpPr>
          <p:nvPr/>
        </p:nvSpPr>
        <p:spPr>
          <a:xfrm xmlns:a="http://schemas.openxmlformats.org/drawingml/2006/main">
            <a:off x="685800" y="49434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A clear circular benchmark for changing direction.</a:t>
            </a:r>
          </a:p>
        </p:txBody>
      </p:sp>
      <p:sp>
        <p:nvSpPr>
          <p:cNvPr id="10" name="metric-2">
            <a:extLst xmlns:a="http://schemas.openxmlformats.org/drawingml/2006/main">
              <a:ext uri="{FF2B5EF4-FFF2-40B4-BE49-F238E27FC236}">
                <a16:creationId xmlns:a16="http://schemas.microsoft.com/office/drawing/2014/main" id="{250FE40F-073A-49C0-A37E-850C8FC5B0E8}"/>
              </a:ext>
            </a:extLst>
          </p:cNvPr>
          <p:cNvSpPr>
            <a:spLocks xmlns:a="http://schemas.openxmlformats.org/drawingml/2006/main" noGrp="1"/>
          </p:cNvSpPr>
          <p:nvPr/>
        </p:nvSpPr>
        <p:spPr>
          <a:xfrm xmlns:a="http://schemas.openxmlformats.org/drawingml/2006/main">
            <a:off x="4210050" y="3143250"/>
            <a:ext cx="3381375" cy="2495550"/>
          </a:xfrm>
          <a:prstGeom xmlns:a="http://schemas.openxmlformats.org/drawingml/2006/main" prst="roundRect">
            <a:avLst>
              <a:gd name="adj" fmla="val 3053"/>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69B87D-34F8-459E-963F-9B093A7D75DA}"/>
              </a:ext>
            </a:extLst>
          </p:cNvPr>
          <p:cNvSpPr>
            <a:spLocks xmlns:a="http://schemas.openxmlformats.org/drawingml/2006/main" noGrp="1"/>
          </p:cNvSpPr>
          <p:nvPr/>
        </p:nvSpPr>
        <p:spPr>
          <a:xfrm xmlns:a="http://schemas.openxmlformats.org/drawingml/2006/main">
            <a:off x="449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45D8A"/>
                </a:solidFill>
                <a:latin typeface="Arial"/>
                <a:ea typeface="Arial"/>
                <a:cs typeface="Arial"/>
              </a:defRPr>
            </a:pPr>
            <a:r>
              <a:rPr sz="4650" b="1">
                <a:solidFill>
                  <a:srgbClr val="145D8A"/>
                </a:solidFill>
                <a:latin typeface="Arial"/>
                <a:ea typeface="Arial"/>
                <a:cs typeface="Arial"/>
              </a:rPr>
              <a:t>32 in</a:t>
            </a:r>
          </a:p>
        </p:txBody>
      </p:sp>
      <p:sp>
        <p:nvSpPr>
          <p:cNvPr id="12" name="">
            <a:extLst xmlns:a="http://schemas.openxmlformats.org/drawingml/2006/main">
              <a:ext uri="{FF2B5EF4-FFF2-40B4-BE49-F238E27FC236}">
                <a16:creationId xmlns:a16="http://schemas.microsoft.com/office/drawing/2014/main" id="{57BDBF5E-FEAA-4A62-BF92-87D0BB907FBC}"/>
              </a:ext>
            </a:extLst>
          </p:cNvPr>
          <p:cNvSpPr>
            <a:spLocks xmlns:a="http://schemas.openxmlformats.org/drawingml/2006/main" noGrp="1"/>
          </p:cNvSpPr>
          <p:nvPr/>
        </p:nvSpPr>
        <p:spPr>
          <a:xfrm xmlns:a="http://schemas.openxmlformats.org/drawingml/2006/main">
            <a:off x="449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CLEAR OPENING</a:t>
            </a:r>
          </a:p>
        </p:txBody>
      </p:sp>
      <p:sp>
        <p:nvSpPr>
          <p:cNvPr id="13" name="">
            <a:extLst xmlns:a="http://schemas.openxmlformats.org/drawingml/2006/main">
              <a:ext uri="{FF2B5EF4-FFF2-40B4-BE49-F238E27FC236}">
                <a16:creationId xmlns:a16="http://schemas.microsoft.com/office/drawing/2014/main" id="{349BD1CE-1DFE-4CC5-8FD3-EDBBE46F5007}"/>
              </a:ext>
            </a:extLst>
          </p:cNvPr>
          <p:cNvSpPr>
            <a:spLocks xmlns:a="http://schemas.openxmlformats.org/drawingml/2006/main" noGrp="1"/>
          </p:cNvSpPr>
          <p:nvPr/>
        </p:nvSpPr>
        <p:spPr>
          <a:xfrm xmlns:a="http://schemas.openxmlformats.org/drawingml/2006/main">
            <a:off x="4495800" y="49434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Minimum clear width at a door opened to 90 degrees.</a:t>
            </a:r>
          </a:p>
        </p:txBody>
      </p:sp>
      <p:sp>
        <p:nvSpPr>
          <p:cNvPr id="14" name="metric-3">
            <a:extLst xmlns:a="http://schemas.openxmlformats.org/drawingml/2006/main">
              <a:ext uri="{FF2B5EF4-FFF2-40B4-BE49-F238E27FC236}">
                <a16:creationId xmlns:a16="http://schemas.microsoft.com/office/drawing/2014/main" id="{790BAE4A-A4DF-467F-B3DA-57BD808A767E}"/>
              </a:ext>
            </a:extLst>
          </p:cNvPr>
          <p:cNvSpPr>
            <a:spLocks xmlns:a="http://schemas.openxmlformats.org/drawingml/2006/main" noGrp="1"/>
          </p:cNvSpPr>
          <p:nvPr/>
        </p:nvSpPr>
        <p:spPr>
          <a:xfrm xmlns:a="http://schemas.openxmlformats.org/drawingml/2006/main">
            <a:off x="802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16C6FFB-7C95-479A-80CB-A1BAEA932FA4}"/>
              </a:ext>
            </a:extLst>
          </p:cNvPr>
          <p:cNvSpPr>
            <a:spLocks xmlns:a="http://schemas.openxmlformats.org/drawingml/2006/main" noGrp="1"/>
          </p:cNvSpPr>
          <p:nvPr/>
        </p:nvSpPr>
        <p:spPr>
          <a:xfrm xmlns:a="http://schemas.openxmlformats.org/drawingml/2006/main">
            <a:off x="830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1:12</a:t>
            </a:r>
          </a:p>
        </p:txBody>
      </p:sp>
      <p:sp>
        <p:nvSpPr>
          <p:cNvPr id="16" name="">
            <a:extLst xmlns:a="http://schemas.openxmlformats.org/drawingml/2006/main">
              <a:ext uri="{FF2B5EF4-FFF2-40B4-BE49-F238E27FC236}">
                <a16:creationId xmlns:a16="http://schemas.microsoft.com/office/drawing/2014/main" id="{428F1A0C-E6F5-40AD-A3BC-009DAF55E302}"/>
              </a:ext>
            </a:extLst>
          </p:cNvPr>
          <p:cNvSpPr>
            <a:spLocks xmlns:a="http://schemas.openxmlformats.org/drawingml/2006/main" noGrp="1"/>
          </p:cNvSpPr>
          <p:nvPr/>
        </p:nvSpPr>
        <p:spPr>
          <a:xfrm xmlns:a="http://schemas.openxmlformats.org/drawingml/2006/main">
            <a:off x="830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MAXIMUM RAMP SLOPE</a:t>
            </a:r>
          </a:p>
        </p:txBody>
      </p:sp>
      <p:sp>
        <p:nvSpPr>
          <p:cNvPr id="17" name="">
            <a:extLst xmlns:a="http://schemas.openxmlformats.org/drawingml/2006/main">
              <a:ext uri="{FF2B5EF4-FFF2-40B4-BE49-F238E27FC236}">
                <a16:creationId xmlns:a16="http://schemas.microsoft.com/office/drawing/2014/main" id="{21D00D45-E2D6-4766-ABCA-6DF7F6C4D10B}"/>
              </a:ext>
            </a:extLst>
          </p:cNvPr>
          <p:cNvSpPr>
            <a:spLocks xmlns:a="http://schemas.openxmlformats.org/drawingml/2006/main" noGrp="1"/>
          </p:cNvSpPr>
          <p:nvPr/>
        </p:nvSpPr>
        <p:spPr>
          <a:xfrm xmlns:a="http://schemas.openxmlformats.org/drawingml/2006/main">
            <a:off x="8305800" y="49434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Ramp benchmark; gentler is better where practical.</a:t>
            </a:r>
          </a:p>
        </p:txBody>
      </p:sp>
      <p:sp>
        <p:nvSpPr>
          <p:cNvPr id="18" name="">
            <a:extLst xmlns:a="http://schemas.openxmlformats.org/drawingml/2006/main">
              <a:ext uri="{FF2B5EF4-FFF2-40B4-BE49-F238E27FC236}">
                <a16:creationId xmlns:a16="http://schemas.microsoft.com/office/drawing/2014/main" id="{DC7CA82B-CBAB-4270-A6AB-66E327C4F0D6}"/>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DF7A442-8F21-4563-A59A-E8FFEF7A93E6}"/>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20" name="repainted-top-rule-9">
            <a:extLst xmlns:a="http://schemas.openxmlformats.org/drawingml/2006/main">
              <a:ext uri="{FF2B5EF4-FFF2-40B4-BE49-F238E27FC236}">
                <a16:creationId xmlns:a16="http://schemas.microsoft.com/office/drawing/2014/main" id="{19F45B20-9DE3-4319-9FEE-E0983987E802}"/>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7F897FC-70B2-4BA0-A694-663ED38E69AC}"/>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2510600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AD5F7F2-66EB-4265-AE12-DD279BE62AF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36DCB4AA-2F2E-45CC-AEFB-30F475F5DD3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3" name="top-rule-10">
            <a:extLst xmlns:a="http://schemas.openxmlformats.org/drawingml/2006/main">
              <a:ext uri="{FF2B5EF4-FFF2-40B4-BE49-F238E27FC236}">
                <a16:creationId xmlns:a16="http://schemas.microsoft.com/office/drawing/2014/main" id="{D713D86E-E920-4A47-80AD-025C76288BD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07A3B6-01E5-4671-8272-62B9020C73F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7398CDA-D388-49DE-88F0-32584501E13D}"/>
              </a:ext>
            </a:extLst>
          </p:cNvPr>
          <p:cNvSpPr>
            <a:spLocks xmlns:a="http://schemas.openxmlformats.org/drawingml/2006/main" noGrp="1"/>
          </p:cNvSpPr>
          <p:nvPr/>
        </p:nvSpPr>
        <p:spPr>
          <a:xfrm xmlns:a="http://schemas.openxmlformats.org/drawingml/2006/main">
            <a:off x="400050" y="18478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Designing out level changes, cluttered routes, and forced transfers helps more people than wheelchair users alone.</a:t>
            </a:r>
          </a:p>
        </p:txBody>
      </p:sp>
      <p:sp>
        <p:nvSpPr>
          <p:cNvPr id="6" name="">
            <a:extLst xmlns:a="http://schemas.openxmlformats.org/drawingml/2006/main">
              <a:ext uri="{FF2B5EF4-FFF2-40B4-BE49-F238E27FC236}">
                <a16:creationId xmlns:a16="http://schemas.microsoft.com/office/drawing/2014/main" id="{CAD570E8-7906-4C5F-BF75-BEB89F8595C8}"/>
              </a:ext>
            </a:extLst>
          </p:cNvPr>
          <p:cNvSpPr>
            <a:spLocks xmlns:a="http://schemas.openxmlformats.org/drawingml/2006/main" noGrp="1"/>
          </p:cNvSpPr>
          <p:nvPr/>
        </p:nvSpPr>
        <p:spPr>
          <a:xfrm xmlns:a="http://schemas.openxmlformats.org/drawingml/2006/main">
            <a:off x="400050" y="30480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D8DFF"/>
                </a:solidFill>
                <a:latin typeface="Arial"/>
                <a:ea typeface="Arial"/>
                <a:cs typeface="Arial"/>
              </a:defRPr>
            </a:pPr>
            <a:r>
              <a:rPr sz="5700" b="1">
                <a:solidFill>
                  <a:srgbClr val="3D8DFF"/>
                </a:solidFill>
                <a:latin typeface="Arial"/>
                <a:ea typeface="Arial"/>
                <a:cs typeface="Arial"/>
              </a:rPr>
              <a:t>1 in 4</a:t>
            </a:r>
          </a:p>
        </p:txBody>
      </p:sp>
      <p:sp>
        <p:nvSpPr>
          <p:cNvPr id="7" name="">
            <a:extLst xmlns:a="http://schemas.openxmlformats.org/drawingml/2006/main">
              <a:ext uri="{FF2B5EF4-FFF2-40B4-BE49-F238E27FC236}">
                <a16:creationId xmlns:a16="http://schemas.microsoft.com/office/drawing/2014/main" id="{0D817BF1-7569-43A9-A29F-F418EAA08F6A}"/>
              </a:ext>
            </a:extLst>
          </p:cNvPr>
          <p:cNvSpPr>
            <a:spLocks xmlns:a="http://schemas.openxmlformats.org/drawingml/2006/main" noGrp="1"/>
          </p:cNvSpPr>
          <p:nvPr/>
        </p:nvSpPr>
        <p:spPr>
          <a:xfrm xmlns:a="http://schemas.openxmlformats.org/drawingml/2006/main">
            <a:off x="400050" y="4114800"/>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U.S. adults age 65+ report falling each year</a:t>
            </a:r>
          </a:p>
        </p:txBody>
      </p:sp>
      <p:sp>
        <p:nvSpPr>
          <p:cNvPr id="8" name="">
            <a:extLst xmlns:a="http://schemas.openxmlformats.org/drawingml/2006/main">
              <a:ext uri="{FF2B5EF4-FFF2-40B4-BE49-F238E27FC236}">
                <a16:creationId xmlns:a16="http://schemas.microsoft.com/office/drawing/2014/main" id="{22589C5E-9BA2-4F33-80D7-EC64AC5D861A}"/>
              </a:ext>
            </a:extLst>
          </p:cNvPr>
          <p:cNvSpPr>
            <a:spLocks xmlns:a="http://schemas.openxmlformats.org/drawingml/2006/main" noGrp="1"/>
          </p:cNvSpPr>
          <p:nvPr/>
        </p:nvSpPr>
        <p:spPr>
          <a:xfrm xmlns:a="http://schemas.openxmlformats.org/drawingml/2006/main">
            <a:off x="382905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A025A0-01F8-40C5-AF7D-1BEF61E310CD}"/>
              </a:ext>
            </a:extLst>
          </p:cNvPr>
          <p:cNvSpPr>
            <a:spLocks xmlns:a="http://schemas.openxmlformats.org/drawingml/2006/main" noGrp="1"/>
          </p:cNvSpPr>
          <p:nvPr/>
        </p:nvSpPr>
        <p:spPr>
          <a:xfrm xmlns:a="http://schemas.openxmlformats.org/drawingml/2006/main">
            <a:off x="4324350" y="30480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F7A7A"/>
                </a:solidFill>
                <a:latin typeface="Arial"/>
                <a:ea typeface="Arial"/>
                <a:cs typeface="Arial"/>
              </a:defRPr>
            </a:pPr>
            <a:r>
              <a:rPr sz="5700" b="1">
                <a:solidFill>
                  <a:srgbClr val="1F7A7A"/>
                </a:solidFill>
                <a:latin typeface="Arial"/>
                <a:ea typeface="Arial"/>
                <a:cs typeface="Arial"/>
              </a:rPr>
              <a:t>37%</a:t>
            </a:r>
          </a:p>
        </p:txBody>
      </p:sp>
      <p:sp>
        <p:nvSpPr>
          <p:cNvPr id="10" name="">
            <a:extLst xmlns:a="http://schemas.openxmlformats.org/drawingml/2006/main">
              <a:ext uri="{FF2B5EF4-FFF2-40B4-BE49-F238E27FC236}">
                <a16:creationId xmlns:a16="http://schemas.microsoft.com/office/drawing/2014/main" id="{DB149328-9CCC-4FCF-B18A-BF5191423C9C}"/>
              </a:ext>
            </a:extLst>
          </p:cNvPr>
          <p:cNvSpPr>
            <a:spLocks xmlns:a="http://schemas.openxmlformats.org/drawingml/2006/main" noGrp="1"/>
          </p:cNvSpPr>
          <p:nvPr/>
        </p:nvSpPr>
        <p:spPr>
          <a:xfrm xmlns:a="http://schemas.openxmlformats.org/drawingml/2006/main">
            <a:off x="4324350" y="41148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A0A0A"/>
                </a:solidFill>
                <a:latin typeface="Arial"/>
                <a:ea typeface="Arial"/>
                <a:cs typeface="Arial"/>
              </a:defRPr>
            </a:pPr>
            <a:r>
              <a:rPr sz="1650" b="1">
                <a:solidFill>
                  <a:srgbClr val="0A0A0A"/>
                </a:solidFill>
                <a:latin typeface="Arial"/>
                <a:ea typeface="Arial"/>
                <a:cs typeface="Arial"/>
              </a:rPr>
              <a:t>of people who fall report injury needing medical treatment or restricting activity</a:t>
            </a:r>
          </a:p>
        </p:txBody>
      </p:sp>
      <p:sp>
        <p:nvSpPr>
          <p:cNvPr id="11" name="">
            <a:extLst xmlns:a="http://schemas.openxmlformats.org/drawingml/2006/main">
              <a:ext uri="{FF2B5EF4-FFF2-40B4-BE49-F238E27FC236}">
                <a16:creationId xmlns:a16="http://schemas.microsoft.com/office/drawing/2014/main" id="{65454AA4-2DB5-4A6C-81FA-50CAE24783D5}"/>
              </a:ext>
            </a:extLst>
          </p:cNvPr>
          <p:cNvSpPr>
            <a:spLocks xmlns:a="http://schemas.openxmlformats.org/drawingml/2006/main" noGrp="1"/>
          </p:cNvSpPr>
          <p:nvPr/>
        </p:nvSpPr>
        <p:spPr>
          <a:xfrm xmlns:a="http://schemas.openxmlformats.org/drawingml/2006/main">
            <a:off x="769620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6663C05-66EA-49C1-A8EF-7E18DDE5E5BA}"/>
              </a:ext>
            </a:extLst>
          </p:cNvPr>
          <p:cNvSpPr>
            <a:spLocks xmlns:a="http://schemas.openxmlformats.org/drawingml/2006/main" noGrp="1"/>
          </p:cNvSpPr>
          <p:nvPr/>
        </p:nvSpPr>
        <p:spPr>
          <a:xfrm xmlns:a="http://schemas.openxmlformats.org/drawingml/2006/main">
            <a:off x="8191500" y="31908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0A0A"/>
                </a:solidFill>
                <a:latin typeface="Arial"/>
                <a:ea typeface="Arial"/>
                <a:cs typeface="Arial"/>
              </a:defRPr>
            </a:pPr>
            <a:r>
              <a:rPr sz="2850" b="1">
                <a:solidFill>
                  <a:srgbClr val="0A0A0A"/>
                </a:solidFill>
                <a:latin typeface="Arial"/>
                <a:ea typeface="Arial"/>
                <a:cs typeface="Arial"/>
              </a:rPr>
              <a:t>ONE FLOOR</a:t>
            </a:r>
          </a:p>
        </p:txBody>
      </p:sp>
      <p:sp>
        <p:nvSpPr>
          <p:cNvPr id="13" name="">
            <a:extLst xmlns:a="http://schemas.openxmlformats.org/drawingml/2006/main">
              <a:ext uri="{FF2B5EF4-FFF2-40B4-BE49-F238E27FC236}">
                <a16:creationId xmlns:a16="http://schemas.microsoft.com/office/drawing/2014/main" id="{3CFA0B12-C9C4-44A5-9981-B7ACE77426CB}"/>
              </a:ext>
            </a:extLst>
          </p:cNvPr>
          <p:cNvSpPr>
            <a:spLocks xmlns:a="http://schemas.openxmlformats.org/drawingml/2006/main" noGrp="1"/>
          </p:cNvSpPr>
          <p:nvPr/>
        </p:nvSpPr>
        <p:spPr>
          <a:xfrm xmlns:a="http://schemas.openxmlformats.org/drawingml/2006/main">
            <a:off x="8191500" y="41148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design goal that benefits wheelchair users, people with walkers, anyone with fatigue, and future caregivers.</a:t>
            </a:r>
          </a:p>
        </p:txBody>
      </p:sp>
      <p:sp>
        <p:nvSpPr>
          <p:cNvPr id="14" name="">
            <a:extLst xmlns:a="http://schemas.openxmlformats.org/drawingml/2006/main">
              <a:ext uri="{FF2B5EF4-FFF2-40B4-BE49-F238E27FC236}">
                <a16:creationId xmlns:a16="http://schemas.microsoft.com/office/drawing/2014/main" id="{54F8AA91-11B7-44D8-BED4-03A8EB1348B7}"/>
              </a:ext>
            </a:extLst>
          </p:cNvPr>
          <p:cNvSpPr>
            <a:spLocks xmlns:a="http://schemas.openxmlformats.org/drawingml/2006/main" noGrp="1"/>
          </p:cNvSpPr>
          <p:nvPr/>
        </p:nvSpPr>
        <p:spPr>
          <a:xfrm xmlns:a="http://schemas.openxmlformats.org/drawingml/2006/main">
            <a:off x="400050" y="5810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5D8A"/>
                </a:solidFill>
                <a:latin typeface="Arial"/>
                <a:ea typeface="Arial"/>
                <a:cs typeface="Arial"/>
              </a:defRPr>
            </a:pPr>
            <a:r>
              <a:rPr sz="1950" b="1">
                <a:solidFill>
                  <a:srgbClr val="145D8A"/>
                </a:solidFill>
                <a:latin typeface="Arial"/>
                <a:ea typeface="Arial"/>
                <a:cs typeface="Arial"/>
              </a:rPr>
              <a:t>Aging in place works best when the house can change before the person has to leave.</a:t>
            </a:r>
          </a:p>
        </p:txBody>
      </p:sp>
      <p:sp>
        <p:nvSpPr>
          <p:cNvPr id="15" name="">
            <a:extLst xmlns:a="http://schemas.openxmlformats.org/drawingml/2006/main">
              <a:ext uri="{FF2B5EF4-FFF2-40B4-BE49-F238E27FC236}">
                <a16:creationId xmlns:a16="http://schemas.microsoft.com/office/drawing/2014/main" id="{FDA41969-43CB-4827-A5D8-A6BC8BF5BCB5}"/>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4CB19C-B383-4731-88EA-E58F4C72F6F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17" name="repainted-top-rule-10">
            <a:extLst xmlns:a="http://schemas.openxmlformats.org/drawingml/2006/main">
              <a:ext uri="{FF2B5EF4-FFF2-40B4-BE49-F238E27FC236}">
                <a16:creationId xmlns:a16="http://schemas.microsoft.com/office/drawing/2014/main" id="{CD8F0191-1F93-47D1-8B71-9F79A7398E4E}"/>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4630489-2E11-4EE1-8D7C-F9CB2EFCAC9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340639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264A3DE-32C5-4637-831F-D2D8A9B1560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6F747F68-4739-4A16-AA94-50799390D3B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3" name="top-rule-11">
            <a:extLst xmlns:a="http://schemas.openxmlformats.org/drawingml/2006/main">
              <a:ext uri="{FF2B5EF4-FFF2-40B4-BE49-F238E27FC236}">
                <a16:creationId xmlns:a16="http://schemas.microsoft.com/office/drawing/2014/main" id="{EADB9324-C982-40FA-9309-144959D6FC5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7A3F8C-81AE-485C-A3E6-601B43FAA5B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93DC49D-B3DB-4574-A3A3-DE939EBEC57D}"/>
              </a:ext>
            </a:extLst>
          </p:cNvPr>
          <p:cNvSpPr>
            <a:spLocks xmlns:a="http://schemas.openxmlformats.org/drawingml/2006/main" noGrp="1"/>
          </p:cNvSpPr>
          <p:nvPr/>
        </p:nvSpPr>
        <p:spPr>
          <a:xfrm xmlns:a="http://schemas.openxmlformats.org/drawingml/2006/main">
            <a:off x="40005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5B6470"/>
                </a:solidFill>
                <a:latin typeface="Arial"/>
                <a:ea typeface="Arial"/>
                <a:cs typeface="Arial"/>
              </a:defRPr>
            </a:pPr>
            <a:r>
              <a:rPr sz="1650" b="1">
                <a:solidFill>
                  <a:srgbClr val="5B6470"/>
                </a:solidFill>
                <a:latin typeface="Arial"/>
                <a:ea typeface="Arial"/>
                <a:cs typeface="Arial"/>
              </a:rPr>
              <a:t>TYPICAL CONVENTIONAL RETROFIT</a:t>
            </a:r>
          </a:p>
        </p:txBody>
      </p:sp>
      <p:sp>
        <p:nvSpPr>
          <p:cNvPr id="6" name="">
            <a:extLst xmlns:a="http://schemas.openxmlformats.org/drawingml/2006/main">
              <a:ext uri="{FF2B5EF4-FFF2-40B4-BE49-F238E27FC236}">
                <a16:creationId xmlns:a16="http://schemas.microsoft.com/office/drawing/2014/main" id="{74A229E6-F8E3-480C-B7A7-D2378BD62A4F}"/>
              </a:ext>
            </a:extLst>
          </p:cNvPr>
          <p:cNvSpPr>
            <a:spLocks xmlns:a="http://schemas.openxmlformats.org/drawingml/2006/main" noGrp="1"/>
          </p:cNvSpPr>
          <p:nvPr/>
        </p:nvSpPr>
        <p:spPr>
          <a:xfrm xmlns:a="http://schemas.openxmlformats.org/drawingml/2006/main">
            <a:off x="651510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PURPOSE-BUILT ACCESSIBLE DOME</a:t>
            </a:r>
          </a:p>
        </p:txBody>
      </p:sp>
      <p:sp>
        <p:nvSpPr>
          <p:cNvPr id="7" name="">
            <a:extLst xmlns:a="http://schemas.openxmlformats.org/drawingml/2006/main">
              <a:ext uri="{FF2B5EF4-FFF2-40B4-BE49-F238E27FC236}">
                <a16:creationId xmlns:a16="http://schemas.microsoft.com/office/drawing/2014/main" id="{51084091-4654-4FBC-B1F6-B0493B9B3969}"/>
              </a:ext>
            </a:extLst>
          </p:cNvPr>
          <p:cNvSpPr>
            <a:spLocks xmlns:a="http://schemas.openxmlformats.org/drawingml/2006/main" noGrp="1"/>
          </p:cNvSpPr>
          <p:nvPr/>
        </p:nvSpPr>
        <p:spPr>
          <a:xfrm xmlns:a="http://schemas.openxmlformats.org/drawingml/2006/main">
            <a:off x="5915025" y="1885950"/>
            <a:ext cx="9525"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1D85E0-E317-4F71-B4E6-4E89829631A5}"/>
              </a:ext>
            </a:extLst>
          </p:cNvPr>
          <p:cNvSpPr>
            <a:spLocks xmlns:a="http://schemas.openxmlformats.org/drawingml/2006/main" noGrp="1"/>
          </p:cNvSpPr>
          <p:nvPr/>
        </p:nvSpPr>
        <p:spPr>
          <a:xfrm xmlns:a="http://schemas.openxmlformats.org/drawingml/2006/main">
            <a:off x="40005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Circulation is leftover. </a:t>
            </a:r>
            <a:r>
              <a:rPr sz="1725">
                <a:solidFill>
                  <a:srgbClr val="5B6470"/>
                </a:solidFill>
                <a:latin typeface="Arial"/>
                <a:ea typeface="Arial"/>
                <a:cs typeface="Arial"/>
              </a:rPr>
              <a:t>Hallways and corners are inherited from the existing plan.</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Access is appended. </a:t>
            </a:r>
            <a:r>
              <a:rPr sz="1725">
                <a:solidFill>
                  <a:srgbClr val="5B6470"/>
                </a:solidFill>
                <a:latin typeface="Arial"/>
                <a:ea typeface="Arial"/>
                <a:cs typeface="Arial"/>
              </a:rPr>
              <a:t>A ramp, widened door, or lift solves one barrier at a time.</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Doors consume maneuvering room. </a:t>
            </a:r>
            <a:r>
              <a:rPr sz="1725">
                <a:solidFill>
                  <a:srgbClr val="5B6470"/>
                </a:solidFill>
                <a:latin typeface="Arial"/>
                <a:ea typeface="Arial"/>
                <a:cs typeface="Arial"/>
              </a:rPr>
              <a:t>Multiple swings compete in small spaces.</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Future change is expensive. </a:t>
            </a:r>
            <a:r>
              <a:rPr sz="1725">
                <a:solidFill>
                  <a:srgbClr val="5B6470"/>
                </a:solidFill>
                <a:latin typeface="Arial"/>
                <a:ea typeface="Arial"/>
                <a:cs typeface="Arial"/>
              </a:rPr>
              <a:t>Structure, plumbing, and floor levels limit adaptation.</a:t>
            </a:r>
          </a:p>
        </p:txBody>
      </p:sp>
      <p:sp>
        <p:nvSpPr>
          <p:cNvPr id="9" name="">
            <a:extLst xmlns:a="http://schemas.openxmlformats.org/drawingml/2006/main">
              <a:ext uri="{FF2B5EF4-FFF2-40B4-BE49-F238E27FC236}">
                <a16:creationId xmlns:a16="http://schemas.microsoft.com/office/drawing/2014/main" id="{504E22AA-3C7B-4303-A832-10FFA5705594}"/>
              </a:ext>
            </a:extLst>
          </p:cNvPr>
          <p:cNvSpPr>
            <a:spLocks xmlns:a="http://schemas.openxmlformats.org/drawingml/2006/main" noGrp="1"/>
          </p:cNvSpPr>
          <p:nvPr/>
        </p:nvSpPr>
        <p:spPr>
          <a:xfrm xmlns:a="http://schemas.openxmlformats.org/drawingml/2006/main">
            <a:off x="651510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Movement is the organizing grid. </a:t>
            </a:r>
            <a:r>
              <a:rPr sz="1725">
                <a:solidFill>
                  <a:srgbClr val="0A0A0A"/>
                </a:solidFill>
                <a:latin typeface="Arial"/>
                <a:ea typeface="Arial"/>
                <a:cs typeface="Arial"/>
              </a:rPr>
              <a:t>The open center is reserved for turning and passing.</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Access is the front door. </a:t>
            </a:r>
            <a:r>
              <a:rPr sz="1725">
                <a:solidFill>
                  <a:srgbClr val="0A0A0A"/>
                </a:solidFill>
                <a:latin typeface="Arial"/>
                <a:ea typeface="Arial"/>
                <a:cs typeface="Arial"/>
              </a:rPr>
              <a:t>The shared route is level, direct, and dignified.</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Short radial routes replace long halls. </a:t>
            </a:r>
            <a:r>
              <a:rPr sz="1725">
                <a:solidFill>
                  <a:srgbClr val="0A0A0A"/>
                </a:solidFill>
                <a:latin typeface="Arial"/>
                <a:ea typeface="Arial"/>
                <a:cs typeface="Arial"/>
              </a:rPr>
              <a:t>Key rooms remain visually and physically close.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Straight service walls make adaptation easier. </a:t>
            </a:r>
            <a:r>
              <a:rPr sz="1725">
                <a:solidFill>
                  <a:srgbClr val="0A0A0A"/>
                </a:solidFill>
                <a:latin typeface="Arial"/>
                <a:ea typeface="Arial"/>
                <a:cs typeface="Arial"/>
              </a:rPr>
              <a:t>Cabinetry, rails, and utilities stay practical.</a:t>
            </a:r>
          </a:p>
        </p:txBody>
      </p:sp>
      <p:sp>
        <p:nvSpPr>
          <p:cNvPr id="10" name="">
            <a:extLst xmlns:a="http://schemas.openxmlformats.org/drawingml/2006/main">
              <a:ext uri="{FF2B5EF4-FFF2-40B4-BE49-F238E27FC236}">
                <a16:creationId xmlns:a16="http://schemas.microsoft.com/office/drawing/2014/main" id="{9CFA00EB-7839-4EA2-A1BB-2200301D7947}"/>
              </a:ext>
            </a:extLst>
          </p:cNvPr>
          <p:cNvSpPr>
            <a:spLocks xmlns:a="http://schemas.openxmlformats.org/drawingml/2006/main" noGrp="1"/>
          </p:cNvSpPr>
          <p:nvPr/>
        </p:nvSpPr>
        <p:spPr>
          <a:xfrm xmlns:a="http://schemas.openxmlformats.org/drawingml/2006/main">
            <a:off x="6515100" y="5848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7A7A"/>
                </a:solidFill>
                <a:latin typeface="Arial"/>
                <a:ea typeface="Arial"/>
                <a:cs typeface="Arial"/>
              </a:defRPr>
            </a:pPr>
            <a:r>
              <a:rPr sz="1875" b="1">
                <a:solidFill>
                  <a:srgbClr val="1F7A7A"/>
                </a:solidFill>
                <a:latin typeface="Arial"/>
                <a:ea typeface="Arial"/>
                <a:cs typeface="Arial"/>
              </a:rPr>
              <a:t>The advantage is not novelty. It is fewer barriers per day.</a:t>
            </a:r>
          </a:p>
        </p:txBody>
      </p:sp>
      <p:sp>
        <p:nvSpPr>
          <p:cNvPr id="11" name="">
            <a:extLst xmlns:a="http://schemas.openxmlformats.org/drawingml/2006/main">
              <a:ext uri="{FF2B5EF4-FFF2-40B4-BE49-F238E27FC236}">
                <a16:creationId xmlns:a16="http://schemas.microsoft.com/office/drawing/2014/main" id="{A4D1FC46-51EC-45F6-98AE-423639CBF30E}"/>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8157FC-3415-4F86-B99F-35E86DC38AA9}"/>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13" name="repainted-top-rule-11">
            <a:extLst xmlns:a="http://schemas.openxmlformats.org/drawingml/2006/main">
              <a:ext uri="{FF2B5EF4-FFF2-40B4-BE49-F238E27FC236}">
                <a16:creationId xmlns:a16="http://schemas.microsoft.com/office/drawing/2014/main" id="{7F906CBD-FFE2-4C88-AB8B-AA51CA1DE7D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27623E-1DC6-41FE-99BD-C1ADFE07455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251781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2B7B51-D01F-4B40-8C10-D5EE14D2F521}"/>
              </a:ext>
            </a:extLst>
          </p:cNvPr>
          <p:cNvSpPr>
            <a:spLocks xmlns:a="http://schemas.openxmlformats.org/drawingml/2006/main" noGrp="1"/>
          </p:cNvSpPr>
          <p:nvPr/>
        </p:nvSpPr>
        <p:spPr>
          <a:xfrm xmlns:a="http://schemas.openxmlformats.org/drawingml/2006/main">
            <a:off x="400050" y="342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THE HONEST STANDARD</a:t>
            </a:r>
          </a:p>
        </p:txBody>
      </p:sp>
      <p:sp>
        <p:nvSpPr>
          <p:cNvPr id="2" name="">
            <a:extLst xmlns:a="http://schemas.openxmlformats.org/drawingml/2006/main">
              <a:ext uri="{FF2B5EF4-FFF2-40B4-BE49-F238E27FC236}">
                <a16:creationId xmlns:a16="http://schemas.microsoft.com/office/drawing/2014/main" id="{0CDB57A8-D818-4BD9-ADAC-1BABE61AA754}"/>
              </a:ext>
            </a:extLst>
          </p:cNvPr>
          <p:cNvSpPr>
            <a:spLocks xmlns:a="http://schemas.openxmlformats.org/drawingml/2006/main" noGrp="1"/>
          </p:cNvSpPr>
          <p:nvPr/>
        </p:nvSpPr>
        <p:spPr>
          <a:xfrm xmlns:a="http://schemas.openxmlformats.org/drawingml/2006/main">
            <a:off x="400050" y="102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A0A0A"/>
                </a:solidFill>
                <a:latin typeface="Arial"/>
                <a:ea typeface="Arial"/>
                <a:cs typeface="Arial"/>
              </a:defRPr>
            </a:pPr>
            <a:r>
              <a:rPr sz="3750" b="1">
                <a:solidFill>
                  <a:srgbClr val="0A0A0A"/>
                </a:solidFill>
                <a:latin typeface="Arial"/>
                <a:ea typeface="Arial"/>
                <a:cs typeface="Arial"/>
              </a:rPr>
              <a:t>A dome is perfect only when the details are</a:t>
            </a:r>
          </a:p>
        </p:txBody>
      </p:sp>
      <p:sp>
        <p:nvSpPr>
          <p:cNvPr id="3" name="">
            <a:extLst xmlns:a="http://schemas.openxmlformats.org/drawingml/2006/main">
              <a:ext uri="{FF2B5EF4-FFF2-40B4-BE49-F238E27FC236}">
                <a16:creationId xmlns:a16="http://schemas.microsoft.com/office/drawing/2014/main" id="{AE7810F0-D0AC-48A0-8909-75D750F7E883}"/>
              </a:ext>
            </a:extLst>
          </p:cNvPr>
          <p:cNvSpPr>
            <a:spLocks xmlns:a="http://schemas.openxmlformats.org/drawingml/2006/main" noGrp="1"/>
          </p:cNvSpPr>
          <p:nvPr/>
        </p:nvSpPr>
        <p:spPr>
          <a:xfrm xmlns:a="http://schemas.openxmlformats.org/drawingml/2006/main">
            <a:off x="400050" y="17526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3D8DFF"/>
                </a:solidFill>
                <a:latin typeface="Arial"/>
                <a:ea typeface="Arial"/>
                <a:cs typeface="Arial"/>
              </a:defRPr>
            </a:pPr>
            <a:r>
              <a:rPr sz="5025" b="1">
                <a:solidFill>
                  <a:srgbClr val="3D8DFF"/>
                </a:solidFill>
                <a:latin typeface="Arial"/>
                <a:ea typeface="Arial"/>
                <a:cs typeface="Arial"/>
              </a:rPr>
              <a:t>built around a real body.</a:t>
            </a:r>
          </a:p>
        </p:txBody>
      </p:sp>
      <p:sp>
        <p:nvSpPr>
          <p:cNvPr id="4" name="">
            <a:extLst xmlns:a="http://schemas.openxmlformats.org/drawingml/2006/main">
              <a:ext uri="{FF2B5EF4-FFF2-40B4-BE49-F238E27FC236}">
                <a16:creationId xmlns:a16="http://schemas.microsoft.com/office/drawing/2014/main" id="{044F08AA-B518-4521-A420-A97CD637B3C3}"/>
              </a:ext>
            </a:extLst>
          </p:cNvPr>
          <p:cNvSpPr>
            <a:spLocks xmlns:a="http://schemas.openxmlformats.org/drawingml/2006/main" noGrp="1"/>
          </p:cNvSpPr>
          <p:nvPr/>
        </p:nvSpPr>
        <p:spPr>
          <a:xfrm xmlns:a="http://schemas.openxmlformats.org/drawingml/2006/main">
            <a:off x="400050" y="28575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572FEC0-396F-4C1E-9C99-2D13A697F367}"/>
              </a:ext>
            </a:extLst>
          </p:cNvPr>
          <p:cNvSpPr>
            <a:spLocks xmlns:a="http://schemas.openxmlformats.org/drawingml/2006/main" noGrp="1"/>
          </p:cNvSpPr>
          <p:nvPr/>
        </p:nvSpPr>
        <p:spPr>
          <a:xfrm xmlns:a="http://schemas.openxmlformats.org/drawingml/2006/main">
            <a:off x="400050" y="3314700"/>
            <a:ext cx="7239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Curve the shell—not the wheelchair path. </a:t>
            </a:r>
            <a:r>
              <a:rPr sz="1725">
                <a:solidFill>
                  <a:srgbClr val="0A0A0A"/>
                </a:solidFill>
                <a:latin typeface="Arial"/>
                <a:ea typeface="Arial"/>
                <a:cs typeface="Arial"/>
              </a:rPr>
              <a:t>Routes remain level, straight, and predictable.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Use straight interior service walls. </a:t>
            </a:r>
            <a:r>
              <a:rPr sz="1725">
                <a:solidFill>
                  <a:srgbClr val="0A0A0A"/>
                </a:solidFill>
                <a:latin typeface="Arial"/>
                <a:ea typeface="Arial"/>
                <a:cs typeface="Arial"/>
              </a:rPr>
              <a:t>They simplify cabinetry, plumbing, reinforcement, and grab bars.</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Keep every essential room on the main floor. </a:t>
            </a:r>
            <a:r>
              <a:rPr sz="1725">
                <a:solidFill>
                  <a:srgbClr val="0A0A0A"/>
                </a:solidFill>
                <a:latin typeface="Arial"/>
                <a:ea typeface="Arial"/>
                <a:cs typeface="Arial"/>
              </a:rPr>
              <a:t>Lofts may exist, but daily life cannot depend on them.</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Test the plan with the actual user. </a:t>
            </a:r>
            <a:r>
              <a:rPr sz="1725">
                <a:solidFill>
                  <a:srgbClr val="0A0A0A"/>
                </a:solidFill>
                <a:latin typeface="Arial"/>
                <a:ea typeface="Arial"/>
                <a:cs typeface="Arial"/>
              </a:rPr>
              <a:t>Chair size, reach, transfer method, fatigue, vision, and caregiver needs vary.</a:t>
            </a:r>
          </a:p>
        </p:txBody>
      </p:sp>
      <p:sp>
        <p:nvSpPr>
          <p:cNvPr id="6" name="">
            <a:extLst xmlns:a="http://schemas.openxmlformats.org/drawingml/2006/main">
              <a:ext uri="{FF2B5EF4-FFF2-40B4-BE49-F238E27FC236}">
                <a16:creationId xmlns:a16="http://schemas.microsoft.com/office/drawing/2014/main" id="{7DFE70C4-85B8-4E9C-A6D2-36E01EB2B714}"/>
              </a:ext>
            </a:extLst>
          </p:cNvPr>
          <p:cNvSpPr>
            <a:spLocks xmlns:a="http://schemas.openxmlformats.org/drawingml/2006/main" noGrp="1"/>
          </p:cNvSpPr>
          <p:nvPr/>
        </p:nvSpPr>
        <p:spPr>
          <a:xfrm xmlns:a="http://schemas.openxmlformats.org/drawingml/2006/main">
            <a:off x="8096250" y="3333750"/>
            <a:ext cx="3286125" cy="2647950"/>
          </a:xfrm>
          <a:prstGeom xmlns:a="http://schemas.openxmlformats.org/drawingml/2006/main" prst="roundRect">
            <a:avLst>
              <a:gd name="adj" fmla="val 2878"/>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61418D-E42E-4B6E-97BE-548BC4C7E636}"/>
              </a:ext>
            </a:extLst>
          </p:cNvPr>
          <p:cNvSpPr>
            <a:spLocks xmlns:a="http://schemas.openxmlformats.org/drawingml/2006/main" noGrp="1"/>
          </p:cNvSpPr>
          <p:nvPr/>
        </p:nvSpPr>
        <p:spPr>
          <a:xfrm xmlns:a="http://schemas.openxmlformats.org/drawingml/2006/main">
            <a:off x="8420100" y="36385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6FC865C5-53E3-48A7-A407-6E4C7F2EEEBC}"/>
              </a:ext>
            </a:extLst>
          </p:cNvPr>
          <p:cNvSpPr>
            <a:spLocks xmlns:a="http://schemas.openxmlformats.org/drawingml/2006/main" noGrp="1"/>
          </p:cNvSpPr>
          <p:nvPr/>
        </p:nvSpPr>
        <p:spPr>
          <a:xfrm xmlns:a="http://schemas.openxmlformats.org/drawingml/2006/main">
            <a:off x="8420100" y="4095750"/>
            <a:ext cx="25527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A0A0A"/>
                </a:solidFill>
                <a:latin typeface="Arial"/>
                <a:ea typeface="Arial"/>
                <a:cs typeface="Arial"/>
              </a:defRPr>
            </a:pPr>
            <a:r>
              <a:rPr sz="1800" b="1">
                <a:solidFill>
                  <a:srgbClr val="0A0A0A"/>
                </a:solidFill>
                <a:latin typeface="Arial"/>
                <a:ea typeface="Arial"/>
                <a:cs typeface="Arial"/>
              </a:rPr>
              <a:t>Map one real user’s day—entry, turn, reach, transfer—before pricing the shell.</a:t>
            </a:r>
          </a:p>
        </p:txBody>
      </p:sp>
      <p:sp>
        <p:nvSpPr>
          <p:cNvPr id="9" name="">
            <a:extLst xmlns:a="http://schemas.openxmlformats.org/drawingml/2006/main">
              <a:ext uri="{FF2B5EF4-FFF2-40B4-BE49-F238E27FC236}">
                <a16:creationId xmlns:a16="http://schemas.microsoft.com/office/drawing/2014/main" id="{3C302D1D-B8EF-4B3F-8CE2-DF1C8D917498}"/>
              </a:ext>
            </a:extLst>
          </p:cNvPr>
          <p:cNvSpPr>
            <a:spLocks xmlns:a="http://schemas.openxmlformats.org/drawingml/2006/main" noGrp="1"/>
          </p:cNvSpPr>
          <p:nvPr/>
        </p:nvSpPr>
        <p:spPr>
          <a:xfrm xmlns:a="http://schemas.openxmlformats.org/drawingml/2006/main">
            <a:off x="400050" y="61150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7A7A"/>
                </a:solidFill>
                <a:latin typeface="Arial"/>
                <a:ea typeface="Arial"/>
                <a:cs typeface="Arial"/>
              </a:defRPr>
            </a:pPr>
            <a:r>
              <a:rPr sz="2025" b="1">
                <a:solidFill>
                  <a:srgbClr val="1F7A7A"/>
                </a:solidFill>
                <a:latin typeface="Arial"/>
                <a:ea typeface="Arial"/>
                <a:cs typeface="Arial"/>
              </a:rPr>
              <a:t>Build a home that preserves choice, privacy, and belonging as movement changes.</a:t>
            </a:r>
          </a:p>
        </p:txBody>
      </p:sp>
      <p:sp>
        <p:nvSpPr>
          <p:cNvPr id="10" name="">
            <a:extLst xmlns:a="http://schemas.openxmlformats.org/drawingml/2006/main">
              <a:ext uri="{FF2B5EF4-FFF2-40B4-BE49-F238E27FC236}">
                <a16:creationId xmlns:a16="http://schemas.microsoft.com/office/drawing/2014/main" id="{BDEC7AE7-158C-4B9C-BCC7-0AE14A3BF7ED}"/>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12</a:t>
            </a:r>
          </a:p>
        </p:txBody>
      </p:sp>
    </p:spTree>
    <p:extLst>
      <p:ext uri="{BB962C8B-B14F-4D97-AF65-F5344CB8AC3E}">
        <p14:creationId xmlns:p14="http://schemas.microsoft.com/office/powerpoint/2010/main" val="633054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2026-08-16T13:48:57.2020000Z</dcterms:created>
  <dcterms:modified xsi:type="dcterms:W3CDTF">2026-08-16T13:48:57.2020000Z</dcterms:modified>
</coreProperties>
</file>