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8ef39c40374612" /><Relationship Type="http://schemas.openxmlformats.org/officeDocument/2006/relationships/extended-properties" Target="/docProps/app.xml" Id="R9faa775780db4005" /><Relationship Type="http://schemas.openxmlformats.org/officeDocument/2006/relationships/officeDocument" Target="/ppt/presentation.xml" Id="R1fde9baf825142ee" /></Relationships>
</file>

<file path=ppt/presentation.xml><?xml version="1.0" encoding="utf-8"?>
<p:presentation xmlns:p="http://schemas.openxmlformats.org/presentationml/2006/main">
  <p:sldMasterIdLst>
    <p:sldMasterId xmlns:r="http://schemas.openxmlformats.org/officeDocument/2006/relationships" id="2147483648" r:id="R2f1299752ac94b33"/>
  </p:sldMasterIdLst>
  <p:notesMasterIdLst>
    <p:notesMasterId xmlns:r="http://schemas.openxmlformats.org/officeDocument/2006/relationships" r:id="R6442ecc626164c7f"/>
  </p:notesMasterIdLst>
  <p:sldIdLst>
    <p:sldId xmlns:r="http://schemas.openxmlformats.org/officeDocument/2006/relationships" id="256" r:id="R13c00f424db54a94"/>
    <p:sldId xmlns:r="http://schemas.openxmlformats.org/officeDocument/2006/relationships" id="257" r:id="R16ae28cc91fe4fc2"/>
    <p:sldId xmlns:r="http://schemas.openxmlformats.org/officeDocument/2006/relationships" id="258" r:id="Rfef03addb1354166"/>
    <p:sldId xmlns:r="http://schemas.openxmlformats.org/officeDocument/2006/relationships" id="259" r:id="Rcb206e0878a54f4e"/>
    <p:sldId xmlns:r="http://schemas.openxmlformats.org/officeDocument/2006/relationships" id="260" r:id="R0ac1329ca848450a"/>
    <p:sldId xmlns:r="http://schemas.openxmlformats.org/officeDocument/2006/relationships" id="261" r:id="R9872b2b585694e23"/>
    <p:sldId xmlns:r="http://schemas.openxmlformats.org/officeDocument/2006/relationships" id="262" r:id="R4c043d1c5f2b45bb"/>
    <p:sldId xmlns:r="http://schemas.openxmlformats.org/officeDocument/2006/relationships" id="263" r:id="R316e7f369df84a02"/>
    <p:sldId xmlns:r="http://schemas.openxmlformats.org/officeDocument/2006/relationships" id="264" r:id="R35f86223fc9547d3"/>
    <p:sldId xmlns:r="http://schemas.openxmlformats.org/officeDocument/2006/relationships" id="265" r:id="R6d34d7ec332b472a"/>
    <p:sldId xmlns:r="http://schemas.openxmlformats.org/officeDocument/2006/relationships" id="266" r:id="Rc70de85de5944e21"/>
    <p:sldId xmlns:r="http://schemas.openxmlformats.org/officeDocument/2006/relationships" id="267" r:id="Rfe11ed566188470b"/>
    <p:sldId xmlns:r="http://schemas.openxmlformats.org/officeDocument/2006/relationships" id="268" r:id="Raf68f73ebe5a4c74"/>
    <p:sldId xmlns:r="http://schemas.openxmlformats.org/officeDocument/2006/relationships" id="269" r:id="R7e4220c25847431c"/>
    <p:sldId xmlns:r="http://schemas.openxmlformats.org/officeDocument/2006/relationships" id="270" r:id="R3828ccf012534cca"/>
    <p:sldId xmlns:r="http://schemas.openxmlformats.org/officeDocument/2006/relationships" id="271" r:id="R6a2ea8f90d584916"/>
    <p:sldId xmlns:r="http://schemas.openxmlformats.org/officeDocument/2006/relationships" id="272" r:id="R0cf3242559144eac"/>
    <p:sldId xmlns:r="http://schemas.openxmlformats.org/officeDocument/2006/relationships" id="273" r:id="Rab77ffe893aa4a34"/>
    <p:sldId xmlns:r="http://schemas.openxmlformats.org/officeDocument/2006/relationships" id="274" r:id="Ra0557ad001b14ce9"/>
    <p:sldId xmlns:r="http://schemas.openxmlformats.org/officeDocument/2006/relationships" id="275" r:id="R500d1666fdc34d82"/>
    <p:sldId xmlns:r="http://schemas.openxmlformats.org/officeDocument/2006/relationships" id="276" r:id="Rbb953978e00f4897"/>
    <p:sldId xmlns:r="http://schemas.openxmlformats.org/officeDocument/2006/relationships" id="277" r:id="R935cd4db768746a1"/>
    <p:sldId xmlns:r="http://schemas.openxmlformats.org/officeDocument/2006/relationships" id="278" r:id="R34ae061c993b4119"/>
    <p:sldId xmlns:r="http://schemas.openxmlformats.org/officeDocument/2006/relationships" id="279" r:id="R51f0efe9f1f04aaf"/>
    <p:sldId xmlns:r="http://schemas.openxmlformats.org/officeDocument/2006/relationships" id="280" r:id="Rb981c146f72240a3"/>
    <p:sldId xmlns:r="http://schemas.openxmlformats.org/officeDocument/2006/relationships" id="281" r:id="R9a95adb93f0747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93fcc708464bfe" /><Relationship Type="http://schemas.openxmlformats.org/officeDocument/2006/relationships/slideMaster" Target="/ppt/slideMasters/slideMaster1.xml" Id="R2f1299752ac94b33" /><Relationship Type="http://schemas.openxmlformats.org/officeDocument/2006/relationships/notesMaster" Target="/ppt/notesMasters/notesMaster1.xml" Id="R6442ecc626164c7f" /><Relationship Type="http://schemas.openxmlformats.org/officeDocument/2006/relationships/presProps" Target="/ppt/presProps.xml" Id="Rf0bad8f410f54c8d" /><Relationship Type="http://schemas.openxmlformats.org/officeDocument/2006/relationships/tableStyles" Target="/ppt/tableStyles.xml" Id="R3c377697a2df445a" /><Relationship Type="http://schemas.openxmlformats.org/officeDocument/2006/relationships/slide" Target="/ppt/slides/slide1.xml" Id="R13c00f424db54a94" /><Relationship Type="http://schemas.openxmlformats.org/officeDocument/2006/relationships/slide" Target="/ppt/slides/slide2.xml" Id="R16ae28cc91fe4fc2" /><Relationship Type="http://schemas.openxmlformats.org/officeDocument/2006/relationships/slide" Target="/ppt/slides/slide3.xml" Id="Rfef03addb1354166" /><Relationship Type="http://schemas.openxmlformats.org/officeDocument/2006/relationships/slide" Target="/ppt/slides/slide4.xml" Id="Rcb206e0878a54f4e" /><Relationship Type="http://schemas.openxmlformats.org/officeDocument/2006/relationships/slide" Target="/ppt/slides/slide5.xml" Id="R0ac1329ca848450a" /><Relationship Type="http://schemas.openxmlformats.org/officeDocument/2006/relationships/slide" Target="/ppt/slides/slide6.xml" Id="R9872b2b585694e23" /><Relationship Type="http://schemas.openxmlformats.org/officeDocument/2006/relationships/slide" Target="/ppt/slides/slide7.xml" Id="R4c043d1c5f2b45bb" /><Relationship Type="http://schemas.openxmlformats.org/officeDocument/2006/relationships/slide" Target="/ppt/slides/slide8.xml" Id="R316e7f369df84a02" /><Relationship Type="http://schemas.openxmlformats.org/officeDocument/2006/relationships/slide" Target="/ppt/slides/slide9.xml" Id="R35f86223fc9547d3" /><Relationship Type="http://schemas.openxmlformats.org/officeDocument/2006/relationships/slide" Target="/ppt/slides/slide10.xml" Id="R6d34d7ec332b472a" /><Relationship Type="http://schemas.openxmlformats.org/officeDocument/2006/relationships/slide" Target="/ppt/slides/slide11.xml" Id="Rc70de85de5944e21" /><Relationship Type="http://schemas.openxmlformats.org/officeDocument/2006/relationships/slide" Target="/ppt/slides/slide12.xml" Id="Rfe11ed566188470b" /><Relationship Type="http://schemas.openxmlformats.org/officeDocument/2006/relationships/slide" Target="/ppt/slides/slide13.xml" Id="Raf68f73ebe5a4c74" /><Relationship Type="http://schemas.openxmlformats.org/officeDocument/2006/relationships/slide" Target="/ppt/slides/slide14.xml" Id="R7e4220c25847431c" /><Relationship Type="http://schemas.openxmlformats.org/officeDocument/2006/relationships/slide" Target="/ppt/slides/slide15.xml" Id="R3828ccf012534cca" /><Relationship Type="http://schemas.openxmlformats.org/officeDocument/2006/relationships/slide" Target="/ppt/slides/slide16.xml" Id="R6a2ea8f90d584916" /><Relationship Type="http://schemas.openxmlformats.org/officeDocument/2006/relationships/slide" Target="/ppt/slides/slide17.xml" Id="R0cf3242559144eac" /><Relationship Type="http://schemas.openxmlformats.org/officeDocument/2006/relationships/slide" Target="/ppt/slides/slide18.xml" Id="Rab77ffe893aa4a34" /><Relationship Type="http://schemas.openxmlformats.org/officeDocument/2006/relationships/slide" Target="/ppt/slides/slide19.xml" Id="Ra0557ad001b14ce9" /><Relationship Type="http://schemas.openxmlformats.org/officeDocument/2006/relationships/slide" Target="/ppt/slides/slide20.xml" Id="R500d1666fdc34d82" /><Relationship Type="http://schemas.openxmlformats.org/officeDocument/2006/relationships/slide" Target="/ppt/slides/slide21.xml" Id="Rbb953978e00f4897" /><Relationship Type="http://schemas.openxmlformats.org/officeDocument/2006/relationships/slide" Target="/ppt/slides/slide22.xml" Id="R935cd4db768746a1" /><Relationship Type="http://schemas.openxmlformats.org/officeDocument/2006/relationships/slide" Target="/ppt/slides/slide23.xml" Id="R34ae061c993b4119" /><Relationship Type="http://schemas.openxmlformats.org/officeDocument/2006/relationships/slide" Target="/ppt/slides/slide24.xml" Id="R51f0efe9f1f04aaf" /><Relationship Type="http://schemas.openxmlformats.org/officeDocument/2006/relationships/slide" Target="/ppt/slides/slide25.xml" Id="Rb981c146f72240a3" /><Relationship Type="http://schemas.openxmlformats.org/officeDocument/2006/relationships/slide" Target="/ppt/slides/slide26.xml" Id="R9a95adb93f0747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ea3ec52ca04c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8d076eaa8649e8" /><Relationship Type="http://schemas.openxmlformats.org/officeDocument/2006/relationships/notesMaster" Target="/ppt/notesMasters/notesMaster1.xml" Id="R4e50846b19b44c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1fdbd725de447a" /><Relationship Type="http://schemas.openxmlformats.org/officeDocument/2006/relationships/notesMaster" Target="/ppt/notesMasters/notesMaster1.xml" Id="Rcc374aaf2f0041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b0ffc1f0204ace" /><Relationship Type="http://schemas.openxmlformats.org/officeDocument/2006/relationships/notesMaster" Target="/ppt/notesMasters/notesMaster1.xml" Id="Rc2970dbd23ee43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da20c60b614c44" /><Relationship Type="http://schemas.openxmlformats.org/officeDocument/2006/relationships/notesMaster" Target="/ppt/notesMasters/notesMaster1.xml" Id="Rc7e744c046b7464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37032a8ce34589" /><Relationship Type="http://schemas.openxmlformats.org/officeDocument/2006/relationships/notesMaster" Target="/ppt/notesMasters/notesMaster1.xml" Id="R7ce67ce4726d4e9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0349c0512d4c39" /><Relationship Type="http://schemas.openxmlformats.org/officeDocument/2006/relationships/notesMaster" Target="/ppt/notesMasters/notesMaster1.xml" Id="R15fe0585e25a44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2a2328cb514c31" /><Relationship Type="http://schemas.openxmlformats.org/officeDocument/2006/relationships/notesMaster" Target="/ppt/notesMasters/notesMaster1.xml" Id="R0b4e7168367140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8e5b35e5d3f4323" /><Relationship Type="http://schemas.openxmlformats.org/officeDocument/2006/relationships/notesMaster" Target="/ppt/notesMasters/notesMaster1.xml" Id="R7ff427e4c3384a8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537effce59481b" /><Relationship Type="http://schemas.openxmlformats.org/officeDocument/2006/relationships/notesMaster" Target="/ppt/notesMasters/notesMaster1.xml" Id="R74bb3957537e420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b97a283c9243cd" /><Relationship Type="http://schemas.openxmlformats.org/officeDocument/2006/relationships/notesMaster" Target="/ppt/notesMasters/notesMaster1.xml" Id="R5922be7d72fa43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607a65e0684be0" /><Relationship Type="http://schemas.openxmlformats.org/officeDocument/2006/relationships/notesMaster" Target="/ppt/notesMasters/notesMaster1.xml" Id="R98f58a64243544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005bf94ce04e6d" /><Relationship Type="http://schemas.openxmlformats.org/officeDocument/2006/relationships/notesMaster" Target="/ppt/notesMasters/notesMaster1.xml" Id="R5a4f577fb1ce4f7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4d38cef5b54c8c" /><Relationship Type="http://schemas.openxmlformats.org/officeDocument/2006/relationships/notesMaster" Target="/ppt/notesMasters/notesMaster1.xml" Id="R5990f7843fce45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153fa33c0544cc2" /><Relationship Type="http://schemas.openxmlformats.org/officeDocument/2006/relationships/notesMaster" Target="/ppt/notesMasters/notesMaster1.xml" Id="R77be3dfcd7924bb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cb77c7f68464ec7" /><Relationship Type="http://schemas.openxmlformats.org/officeDocument/2006/relationships/notesMaster" Target="/ppt/notesMasters/notesMaster1.xml" Id="Rf7f2aa55d0374d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71b17ea3fe34fcc" /><Relationship Type="http://schemas.openxmlformats.org/officeDocument/2006/relationships/notesMaster" Target="/ppt/notesMasters/notesMaster1.xml" Id="Rbb3aaf8e530d4d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ddf3e1a1aa647d1" /><Relationship Type="http://schemas.openxmlformats.org/officeDocument/2006/relationships/notesMaster" Target="/ppt/notesMasters/notesMaster1.xml" Id="R6d6ccfbc79574db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8cea5453f74984" /><Relationship Type="http://schemas.openxmlformats.org/officeDocument/2006/relationships/notesMaster" Target="/ppt/notesMasters/notesMaster1.xml" Id="R7bd42f3aa80e4ba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85d75d3e12b406c" /><Relationship Type="http://schemas.openxmlformats.org/officeDocument/2006/relationships/notesMaster" Target="/ppt/notesMasters/notesMaster1.xml" Id="Rca9b99f124d347f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f68e500fd442a1" /><Relationship Type="http://schemas.openxmlformats.org/officeDocument/2006/relationships/notesMaster" Target="/ppt/notesMasters/notesMaster1.xml" Id="R582fb68428904d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ad9808892c4186" /><Relationship Type="http://schemas.openxmlformats.org/officeDocument/2006/relationships/notesMaster" Target="/ppt/notesMasters/notesMaster1.xml" Id="R2160537078bb42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9aed5abd6644a5" /><Relationship Type="http://schemas.openxmlformats.org/officeDocument/2006/relationships/notesMaster" Target="/ppt/notesMasters/notesMaster1.xml" Id="Rc4f13c8325124a0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a8f829ede794258" /><Relationship Type="http://schemas.openxmlformats.org/officeDocument/2006/relationships/notesMaster" Target="/ppt/notesMasters/notesMaster1.xml" Id="R671d2dbb5b214e9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937b11c255e42a5" /><Relationship Type="http://schemas.openxmlformats.org/officeDocument/2006/relationships/notesMaster" Target="/ppt/notesMasters/notesMaster1.xml" Id="R343c1b1bb67b4cc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051b04a6b24ec3" /><Relationship Type="http://schemas.openxmlformats.org/officeDocument/2006/relationships/notesMaster" Target="/ppt/notesMasters/notesMaster1.xml" Id="R14eeea36193f48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db4af86b8f34fda" /><Relationship Type="http://schemas.openxmlformats.org/officeDocument/2006/relationships/notesMaster" Target="/ppt/notesMasters/notesMaster1.xml" Id="R3d03e675234a4b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Picture an ordinary pine tree. Someone might offer twenty dollars for it standing in the woods. Someone else could turn its wood into several hundred dollars of lumber. And a person with the right building system might use it to replace thousands of dollars of purchased framing. How can all of those descriptions be true? This presentation follows one tree through different uses, then examines a proposed two-tree dome. The central idea is simple. The value depends on the work you add, the function you create, and the costs you avoid. Each number answers a different economic question.</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a:p xmlns:a="http://schemas.openxmlformats.org/drawingml/2006/main">
            <a:r>
              <a:t>Forest background: built-in ImageGen conceptual illustration, 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example starts with a pine about fifteen inches in diameter at breast height, the standard reference height for measuring a trunk. The source assumes roughly sixty feet of useful stem and around thirty-seven cubic feet of solid wood. Trees taper, so this is a yield assumption, not the volume of a perfect cylinder. The dome scenario uses two suitable trees, approximately one hundred twenty frame members, and a three-hundred-square-foot structural shell. It assigns forty-eight hundred dollars to the commercial framing function those members could replace. That figure is a working comparison supplied with the project. It is not a contractor quote or the cost of a completed home.</a:t>
            </a:r>
          </a:p>
          <a:p xmlns:a="http://schemas.openxmlformats.org/drawingml/2006/main">
            <a:r>
              <a:t/>
            </a:r>
          </a:p>
          <a:p xmlns:a="http://schemas.openxmlformats.org/drawingml/2006/main">
            <a:r>
              <a:t>On-screen qualification: Project assumptions. Actual yield and equivalent framing cost require measurement.</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C:/Users/Don/Desktop/DomeSim/two_trees_codex/workspace/expanded-art/tools-20260912T064848369517Z-cc4b2b/forge-double-frame.png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Stumpage means the price paid for standing timber before harvesting and transport. A buyer still has to fell the tree, pull it to a loading area, haul it, mill it, dry the boards, hold inventory, and find customers. Builders must then turn those boards into a structure. The source cites Alabama pine sawtimber at roughly seventeen to twenty-one dollars per ton in the fourth quarter of twenty twenty-five. TimberMart-South confirms a South-wide average of twenty-three dollars and thirty-four cents per ton for the second quarter of twenty twenty-six. The source's roughly six-dollar pulpwood comparison is close to that quarter's five dollars and forty cents. These are prices per ton, not prices per tree. The example's ten-to-thirty-five-dollar tree range also depends on its merchantable weight, quality, access, and local buyers.</a:t>
            </a:r>
          </a:p>
          <a:p xmlns:a="http://schemas.openxmlformats.org/drawingml/2006/main">
            <a:r>
              <a:t/>
            </a:r>
          </a:p>
          <a:p xmlns:a="http://schemas.openxmlformats.org/drawingml/2006/main">
            <a:r>
              <a:t>On-screen qualification: Regional prices are dated benchmarks. Two isolated trees may have little commercial harvest appeal.</a:t>
            </a:r>
          </a:p>
          <a:p xmlns:a="http://schemas.openxmlformats.org/drawingml/2006/main">
            <a:r>
              <a:t/>
            </a:r>
          </a:p>
          <a:p xmlns:a="http://schemas.openxmlformats.org/drawingml/2006/main">
            <a:r>
              <a:t>Sources: https://timbermart-south.com/wp-content/uploads/2026/07/2Q2026_bulletin.pdf ; Alabama Q4 range retained from supplied essay, corroborated by https://thetimberlandinvestor.com/alabama-stumpage-timber-prices/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ladder from the source. Standing timber might bring ten to thirty-five dollars. Retail-equivalent firewood might represent about one hundred to one hundred thirty-five dollars. Rough pine boards could represent three hundred thirty to four hundred fifteen dollars. About eighty wedge blanks carry an estimated two-hundred-fifty-to-four-hundred-dollar lumber replacement value. In a useful dome assembly, the proposed contribution rises to twenty-four hundred to thirty-two hundred dollars per tree. Including the assumed financing, the source rounds the corresponding lifetime payments to fifty-five hundred through seventy-three hundred dollars. The upper figures depend on more favorable system assumptions. We will use the conservative two-tree allocation of twenty-four hundred dollars for the rest of the explanation. These are alternative valuations. Adding the rows together would count the same material repeatedly.</a:t>
            </a:r>
          </a:p>
          <a:p xmlns:a="http://schemas.openxmlformats.org/drawingml/2006/main">
            <a:r>
              <a:t/>
            </a:r>
          </a:p>
          <a:p xmlns:a="http://schemas.openxmlformats.org/drawingml/2006/main">
            <a:r>
              <a:t>On-screen qualification: Gross comparisons before processing costs and labor. System use and loan payments are different measures.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pricing firewood, we need to understand a cord. A standard cord occupies one hundred twenty-eight cubic feet when stacked, commonly four feet high, four feet deep, and eight feet long. That stack includes empty spaces between pieces. Solid wood volume is smaller. Our model uses about ninety cubic feet of solid wood per cord. Forestry references show that the actual amount varies with piece size and stacking, so ninety is a conversion assumption rather than a universal physical constant. The supplied yield examples place a fifteen-inch pine near point three five cord at sixty feet and point four seven cord at eighty feet, depending on species and usable top diameter. For the representative stem, we use point three five to point four five cord.</a:t>
            </a:r>
          </a:p>
          <a:p xmlns:a="http://schemas.openxmlformats.org/drawingml/2006/main">
            <a:r>
              <a:t/>
            </a:r>
          </a:p>
          <a:p xmlns:a="http://schemas.openxmlformats.org/drawingml/2006/main">
            <a:r>
              <a:t>On-screen qualification: 90 ft³ is a working solid-wood conversion. The 60-foot and 80-foot yield examples come from the source essay.</a:t>
            </a:r>
          </a:p>
          <a:p xmlns:a="http://schemas.openxmlformats.org/drawingml/2006/main">
            <a:r>
              <a:t/>
            </a:r>
          </a:p>
          <a:p xmlns:a="http://schemas.openxmlformats.org/drawingml/2006/main">
            <a:r>
              <a:t>Sources: https://extension.psu.edu/valuing-standing-timber ; https://extension.okstate.edu/fact-sheets/measuring-woodland-timber ; supplied essay for tree-specific yield examples. The essay attributes 90 ft³ to Alabama Extension; that exact attribution was not independently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Tuscaloosa-area seller, North River Firewood, lists a full cord at two hundred seventy-five dollars for pickup and three hundred dollars delivered, with stacking charges and delivery terms to check. The source also gives a broader Southeast comparison of two hundred to three hundred twenty-five dollars per cord. Using the local two-hundred-seventy-five-to-three-hundred-dollar benchmark, point three five to point four five cord works out to roughly ninety-five to one hundred thirty-five dollars for one tree. Two equivalent trees represent about point seven to point nine cord, or one hundred ninety to two hundred seventy dollars. This is a retail-equivalent comparison. Species, seasoning, and delivery affect actual sale value. Felling, cutting, splitting, seasoning, and stacking also consume time and money. The selling price is not the seller's profit.</a:t>
            </a:r>
          </a:p>
          <a:p xmlns:a="http://schemas.openxmlformats.org/drawingml/2006/main">
            <a:r>
              <a:t/>
            </a:r>
          </a:p>
          <a:p xmlns:a="http://schemas.openxmlformats.org/drawingml/2006/main">
            <a:r>
              <a:t>On-screen qualification: Rounded model values. Local listing does not establish a species-matched pine sale price.</a:t>
            </a:r>
          </a:p>
          <a:p xmlns:a="http://schemas.openxmlformats.org/drawingml/2006/main">
            <a:r>
              <a:t/>
            </a:r>
          </a:p>
          <a:p xmlns:a="http://schemas.openxmlformats.org/drawingml/2006/main">
            <a:r>
              <a:t>Sources: https://north-river-firewood.ueniweb.com/price-list ; broader Southeast range retained as an unverified comparison range from the supplied essay.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compare those same two trees with the proposed dome. The model assigns them forty-eight hundred dollars of framing substitution. Divide that by the firewood comparison and the ratio is roughly eighteen to twenty-five. Using two hundred fifty dollars as a simple midpoint gives forty-eight hundred divided by two hundred fifty, or nineteen point two. The amount of wood has not increased. The design gives the wood a different purpose. The comparison also changes economic categories. Firewood is a processed product you might sell. The dome number is a purchased structural function you might avoid paying for. It becomes a real advantage only if the substitute actually does the required job at an acceptable total cost.</a:t>
            </a:r>
          </a:p>
          <a:p xmlns:a="http://schemas.openxmlformats.org/drawingml/2006/main">
            <a:r>
              <a:t/>
            </a:r>
          </a:p>
          <a:p xmlns:a="http://schemas.openxmlformats.org/drawingml/2006/main">
            <a:r>
              <a:t>On-screen qualification: About 18–25× gross use-value comparison. It is not a resale-price multiplier.</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Milling creates another useful product: boards. A board foot is a volume unit equivalent to a board one inch thick, twelve inches wide, and twelve inches long. You cannot turn every cubic inch of a log into standard lumber. The saw blade removes a strip called the kerf. Outer slabs, edging, defects, and dimensional requirements reduce recovery. The source gives a southern-pine recovery range of seven point five to eight point four board feet per cubic foot of log. We use seven point five as the working factor. Thirty-seven times seven point five is two hundred seventy-seven point five, rounded here to about two hundred seventy-five board feet. At the assumed dollar twenty to dollar fifty per board foot, the result is roughly three hundred thirty to four hundred thirteen dollars. Mill configuration, grade, and local prices can change the result.</a:t>
            </a:r>
          </a:p>
          <a:p xmlns:a="http://schemas.openxmlformats.org/drawingml/2006/main">
            <a:r>
              <a:t/>
            </a:r>
          </a:p>
          <a:p xmlns:a="http://schemas.openxmlformats.org/drawingml/2006/main">
            <a:r>
              <a:t>On-screen qualification: 7.5 BF/ft³ and $1.20–$1.50/BF are scenario inputs. 275 BF uses coarse rounding.</a:t>
            </a:r>
          </a:p>
          <a:p xmlns:a="http://schemas.openxmlformats.org/drawingml/2006/main">
            <a:r>
              <a:t/>
            </a:r>
          </a:p>
          <a:p xmlns:a="http://schemas.openxmlformats.org/drawingml/2006/main">
            <a:r>
              <a:t>Sources: https://www.fpl.fs.usda.gov/documnts/fplrp/fplrp285.pdf supports a historical average around 7.5, not the complete claimed modern southern-pine 7.5–8.4 range. That range is retained as a source input. https://potato-pepper-ggcl.squarespace.com/lumberprices lists common 1x pine at $1.50/BF.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wedge proposal changes the shape of the desired product. A conventional sawmill aims to recover standard rectangular boards. This method divides the log lengthwise into two halves, then four quarters, then eight sectors. Each sector has a wedge-shaped cross-section. Because the structural design can use that shape, less wood may need to be removed simply to make rectangular stock. That is the proposed material advantage. It does not eliminate losses from cutting, defects, taper, trimming, or drying. The meaningful question becomes how much usable building structure you can recover from the tree. To answer it, the resulting pieces must meet the design's length, cross-section, connection, and material requirements.</a:t>
            </a:r>
          </a:p>
          <a:p xmlns:a="http://schemas.openxmlformats.org/drawingml/2006/main">
            <a:r>
              <a:t/>
            </a:r>
          </a:p>
          <a:p xmlns:a="http://schemas.openxmlformats.org/drawingml/2006/main">
            <a:r>
              <a:t>On-screen qualification: Radial processing concept. Usable structural yield remains a project assumption.</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C:/Users/Don/Desktop/DomeSim/two_trees_codex/workspace/expanded-art/video-20260912T103813587203Z-f337b60b/01-why-wedges-no-sawmill-v2-000333.000s.png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source's member-count arithmetic is straightforward. Eight longitudinal sectors over sixty useful feet give four hundred eighty linear feet of wedge stock. Divide by six feet per blank and you get eighty blanks from one tree. Two comparable trees therefore offer a theoretical one hundred sixty six-foot blanks. This is an inventory calculation, not a measured production result. It assumes the useful stem can supply all eight acceptable sectors at each needed section and that the length allowance covers the actual cutting plan. Real trunks taper. Knots, splits, saw kerf, end trimming, and drying can turn a theoretical blank into a shorter piece or a reject. Those effects determine whether the proposed inventory holds up in practice.</a:t>
            </a:r>
          </a:p>
          <a:p xmlns:a="http://schemas.openxmlformats.org/drawingml/2006/main">
            <a:r>
              <a:t/>
            </a:r>
          </a:p>
          <a:p xmlns:a="http://schemas.openxmlformats.org/drawingml/2006/main">
            <a:r>
              <a:t>On-screen qualification: Idealized count before actual cutting losses and material acceptance.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Against a requirement of about one hundred twenty members, one hundred sixty theoretical blanks leave forty potential pieces. The source identifies several uses for that allowance: rejects, shorter members, flooring or support material, bracing, door framing, test pieces, and replacement stock. Those forty pieces cannot all be promised as useful extras. Some may be consumed by the losses needed to obtain the main frame. Still, the allowance makes the planning question concrete. A sawmill asks how much standardized lumber a log can produce. This building method asks how much of the proposed structure the available stock can supply. A measured cut list and an inventory of accepted pieces connect those two questions to reality.</a:t>
            </a:r>
          </a:p>
          <a:p xmlns:a="http://schemas.openxmlformats.org/drawingml/2006/main">
            <a:r>
              <a:t/>
            </a:r>
          </a:p>
          <a:p xmlns:a="http://schemas.openxmlformats.org/drawingml/2006/main">
            <a:r>
              <a:t>On-screen qualification: The 40-piece balance is an allowance, not guaranteed additional construction material.</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pile of wedge blanks has a material substitution value, estimated in the source at two hundred fifty to four hundred dollars per tree. The larger economic claim appears when geometry, a jig, assembly work, and a suitable structural design turn those pieces into a functioning shell. A jig is a fixture that holds parts in a repeatable position while you work. It can reduce repeated measuring and help produce consistent assemblies. The transformation therefore belongs to a system: tree, tools, labor, knowledge, organization, and verified performance. Assigning all of the resulting value to the raw tree would hide most of the inputs that made the result possible.</a:t>
            </a:r>
          </a:p>
          <a:p xmlns:a="http://schemas.openxmlformats.org/drawingml/2006/main">
            <a:r>
              <a:t/>
            </a:r>
          </a:p>
          <a:p xmlns:a="http://schemas.openxmlformats.org/drawingml/2006/main">
            <a:r>
              <a:t>On-screen qualification: Existing DomeSim jig illustration. The image explains the concept, not a certified construction detail.</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C:/Users/Don/Desktop/DomeSim/two_trees_codex/workspace/expanded-art/tools-20260912T064848369517Z-cc4b2b/forge-jig-loaded.png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the conventional route: tree, logger, truck, sawmill, kiln, wholesaler, retailer, framer, and finally a house. Now imagine the proposed local route: tree, radial processing, drying, jig, triangular assembly, and dome. Each commercial step normally carries someone's labor, equipment, overhead, transportation, inventory, profit, and financing. Performing more of the chain yourself may reduce some of those purchased services and margins. The physical work remains. You take responsibility for the parts of the process you can perform effectively. The savings come from organizing that work well, using the available wood efficiently, and avoiding costs that your particular situation does not require. Commercial operations also have efficiencies, so a shorter route alone does not prove that your total cost will be lower.</a:t>
            </a:r>
          </a:p>
          <a:p xmlns:a="http://schemas.openxmlformats.org/drawingml/2006/main">
            <a:r>
              <a:t/>
            </a:r>
          </a:p>
          <a:p xmlns:a="http://schemas.openxmlformats.org/drawingml/2006/main">
            <a:r>
              <a:t>On-screen qualification: Alternative production routes. Self-building internalizes work and costs.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landowner might describe a twenty-dollar tree. The firewood seller sees roughly one hundred dollars of prepared fuel. The sawmill sees several hundred dollars of boards. The lumberyard adds drying, grading, stocking, and retail service. The framer turns those boards into an installed structure that represents thousands of dollars of completed work. If a customer borrows for that work, the lender receives payments that include interest over time. All of these descriptions begin with the same cellulose. Processing, knowledge, organization, and usefulness change what the next person can offer. The numbers become understandable once you identify who owns the next process and what that person's price actually includes.</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two trees, the complete comparison becomes easier to see. Selling them standing might bring twenty to seventy dollars combined, although a buyer may not want to harvest only two trees. Processing them as firewood gives a retail-equivalent one hundred ninety to two hundred seventy dollars. Milling them yields about five hundred fifty board feet in the example, worth six hundred sixty to eight hundred twenty-five dollars at the assumed rough-pine price. Using them in the dome is modeled to replace forty-eight hundred dollars of framing. If that entire amount would otherwise have been financed under the stated mortgage assumptions, its lifetime principal-and-interest payments total about ten thousand nine hundred twenty-two dollars. These rows measure different alternatives, not cumulative income.</a:t>
            </a:r>
          </a:p>
          <a:p xmlns:a="http://schemas.openxmlformats.org/drawingml/2006/main">
            <a:r>
              <a:t/>
            </a:r>
          </a:p>
          <a:p xmlns:a="http://schemas.openxmlformats.org/drawingml/2006/main">
            <a:r>
              <a:t>On-screen qualification: Illustrative gross comparisons. The shell figure excludes the other costs of a completed home.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financing adds to the comparison. Assume forty-eight hundred dollars would have been borrowed at a fixed annual rate of six point five percent for thirty years, with monthly payments. The standard amortization calculation gives about thirty dollars and thirty-four cents each month. Across three hundred sixty payments, the unrounded calculation totals ten thousand nine hundred twenty-two dollars. About six thousand one hundred twenty-two dollars of that total is interest. This scenario assumes the balance stays in place for the full term, with no early repayment or refinancing. It excludes taxes, insurance, and fees. Nominal means we add future dollars without adjusting for inflation or the time value of money. The forty-eight hundred dollars is already included in the payment total. Adding it again would double count the principal.</a:t>
            </a:r>
          </a:p>
          <a:p xmlns:a="http://schemas.openxmlformats.org/drawingml/2006/main">
            <a:r>
              <a:t/>
            </a:r>
          </a:p>
          <a:p xmlns:a="http://schemas.openxmlformats.org/drawingml/2006/main">
            <a:r>
              <a:t>On-screen qualification: Illustrative fixed-rate loan calculation. $10,922 is a future nominal total, not present value.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Firewood converts wood into heat and consumes the material in the process. Construction can keep that wood in service as part of a durable asset. Using the two-hundred-fifty-dollar firewood illustration, the forty-eight-hundred-dollar framing comparison is nineteen point two times as large. But the deeper distinction is the continuing function. A completed, useful building can provide shelter and enclosed space, and may contribute to property value and owner equity. Appreciation is possible, not guaranteed. Framing by itself does not establish a finished building's market value. Connections, weather protection, foundations, services, maintenance, and the rest of the project still matter. The economic opportunity is to preserve wood in a useful capital asset whose service lasts beyond a single use.</a:t>
            </a:r>
          </a:p>
          <a:p xmlns:a="http://schemas.openxmlformats.org/drawingml/2006/main">
            <a:r>
              <a:t/>
            </a:r>
          </a:p>
          <a:p xmlns:a="http://schemas.openxmlformats.org/drawingml/2006/main">
            <a:r>
              <a:t>On-screen qualification: Concept illustration of a building shell. Durability and property value depend on the completed project.</a:t>
            </a:r>
          </a:p>
          <a:p xmlns:a="http://schemas.openxmlformats.org/drawingml/2006/main">
            <a:r>
              <a:t/>
            </a:r>
          </a:p>
          <a:p xmlns:a="http://schemas.openxmlformats.org/drawingml/2006/main">
            <a:r>
              <a:t>Sources: User-provided tree-value essay, adapted for a general audience.</a:t>
            </a:r>
          </a:p>
          <a:p xmlns:a="http://schemas.openxmlformats.org/drawingml/2006/main">
            <a:r>
              <a:t>Illustration: C:/Users/Don/Desktop/DomeSim/two_trees_codex/workspace/expanded-art/tools-20260912T064848369517Z-cc4b2b/forge-split-log-shell.png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summarize the ladder with a rough index. Set a representative standing value to one. The source describes firewood near five times that value, lumber near fifteen to twenty times, the dome contribution around one hundred times or more, and nominal financed payments around two hundred fifty times or more. These are broad economic-use comparisons. For example, an exact twenty-dollar baseline makes a twenty-four-hundred-dollar structural contribution one hundred twenty times as large. Changing the starting tree value changes the ratio. The financing row also spans thirty years, while the material rows describe value at one point in time. An index makes the scale memorable, but it should always travel with its assumptions and the name of the quantity being compared.</a:t>
            </a:r>
          </a:p>
          <a:p xmlns:a="http://schemas.openxmlformats.org/drawingml/2006/main">
            <a:r>
              <a:t/>
            </a:r>
          </a:p>
          <a:p xmlns:a="http://schemas.openxmlformats.org/drawingml/2006/main">
            <a:r>
              <a:t>On-screen qualification: Economic-use indices, not resale-price multipliers. Categories and time horizons differ.</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the two standing trees together have a timber value of fifty dollars. Forty-eight hundred divided by fifty is ninety-six. That gives a gross raw-material ratio of ninety-six dollars of framing function for each dollar of standing timber value. Now include the work. If the transformation takes eighty hours, forty-eight hundred divided by eighty is sixty dollars per hour. This is gross framing substitution per work hour. It is not a take-home wage or a profit rate, because it has not deducted cash expenses or the value of the timber. Both measures can be useful at once. One describes the relationship to the raw material. The other describes output relative to time. Neither justifies treating the other inputs as free.</a:t>
            </a:r>
          </a:p>
          <a:p xmlns:a="http://schemas.openxmlformats.org/drawingml/2006/main">
            <a:r>
              <a:t/>
            </a:r>
          </a:p>
          <a:p xmlns:a="http://schemas.openxmlformats.org/drawingml/2006/main">
            <a:r>
              <a:t>On-screen qualification: Source assumptions: $50 combined timber value and 80 work hours. Both ratios are gross.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two-tree assumption, divide the forty-eight-hundred-dollar framing value by two. Each tree contributes twenty-four hundred dollars of gross structural substitution. Divide the lifetime payment stream by two and each tree accounts for about fifty-four hundred sixty-one dollars of nominal payments. You can therefore describe the same tree as twenty-dollar standing timber, roughly one-hundred-dollar firewood, roughly three-hundred-fifty-dollar lumber, a twenty-four-hundred-dollar framing contribution, or a fifty-four-hundred-sixty-one-dollar share of financed payments. There is no contradiction once you name the measurement. There is also no new market in which someone automatically pays those larger amounts for a raw tree. The larger values belong to a successful use of the complete system.</a:t>
            </a:r>
          </a:p>
          <a:p xmlns:a="http://schemas.openxmlformats.org/drawingml/2006/main">
            <a:r>
              <a:t/>
            </a:r>
          </a:p>
          <a:p xmlns:a="http://schemas.openxmlformats.org/drawingml/2006/main">
            <a:r>
              <a:t>On-screen qualification: Per-tree allocations under the conservative two-tree case. Each larger value depends on successful substitution.</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sale value is what another person is willing to pay you for the resource. Personal use value asks what you can accomplish by keeping it. Suppose someone offers twenty-five dollars for a standing pine. If you can realistically turn it into the equivalent of twenty-four hundred dollars of purchased framing, keeping it may be the better choice. That conclusion depends on having the time, ability, suitable equipment, and legal and structural means to complete the work. It also depends on what you give up by choosing this project. The meaningful opportunity is the highest net value you can realistically create, after paying the processing costs and allowing for the value of your time. A large gross replacement number alone does not settle the choice.</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is the commercial function displaced, minus cash processing costs, minus the opportunity cost of labor. Cash costs can include harvesting, transport, consumables, tool wear, drying, and the other expenses required for the substitute. Count each cost once and compare equivalent scopes. Opportunity cost means the value of the best realistic alternative you give up. If forty hours on the tree replace forty hours of available paid work, your after-tax earnings from that work are a useful benchmark. If the alternative is different, choose a value that reflects your circumstances. Finally, compare the resulting net use value with the amount you could receive by selling the tree and with any other realistic use.</a:t>
            </a:r>
          </a:p>
          <a:p xmlns:a="http://schemas.openxmlformats.org/drawingml/2006/main">
            <a:r>
              <a:t/>
            </a:r>
          </a:p>
          <a:p xmlns:a="http://schemas.openxmlformats.org/drawingml/2006/main">
            <a:r>
              <a:t>On-screen qualification: This calculation requires equivalent finished function and a complete accounting of project costs.</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one tree contribute twenty-four hundred dollars of equivalent framing. Suppose direct expenses are three hundred dollars, the work takes forty hours, and your alternative after-tax wage is twenty-five dollars per hour. Forty times twenty-five assigns one thousand dollars to your time. Subtract that and the three hundred dollars of cash costs from twenty-four hundred. The result is eleven hundred dollars of net personal use value. This is the source's worked example, with your labor fully counted at the assumed rate. To choose between keeping the tree and accepting a twenty-five-dollar sale offer, subtract that forgone sale value as well. The advantage of processing rather than selling is then one thousand seventy-five dollars. That final comparison makes the opportunity cost of the tree explicit.</a:t>
            </a:r>
          </a:p>
          <a:p xmlns:a="http://schemas.openxmlformats.org/drawingml/2006/main">
            <a:r>
              <a:t/>
            </a:r>
          </a:p>
          <a:p xmlns:a="http://schemas.openxmlformats.org/drawingml/2006/main">
            <a:r>
              <a:t>On-screen qualification: Illustrative example. $1,100 before the forgone tree sale; $1,075 relative to selling for $25.</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most useful when you know which inputs can change the answer. A lower accepted yield may require more trees. Higher tool or drying costs reduce the advantage. More hours, or a more valuable alternative use of your time, also reduce it. A lower commercial framing price reduces what you avoid buying. In the worked example, twenty-four hundred minus three hundred leaves twenty-one hundred dollars available to compensate forty hours of work. That is fifty-two dollars and fifty cents per hour before counting the forgone sale. Above that opportunity cost, the stated net use value becomes negative. Financing benefits also fall if you borrow less, repay early, or would not have borrowed at all. Measuring these inputs turns the idea into an economic decision.</a:t>
            </a:r>
          </a:p>
          <a:p xmlns:a="http://schemas.openxmlformats.org/drawingml/2006/main">
            <a:r>
              <a:t/>
            </a:r>
          </a:p>
          <a:p xmlns:a="http://schemas.openxmlformats.org/drawingml/2006/main">
            <a:r>
              <a:t>On-screen qualification: Sensitivity follows the worked example. $2,100 ÷ 40 = $52.50/hour before the sale alternative.</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clear public explanation names both the raw input and the function. You could say: In this model, a twenty-dollar standing tree could contribute about twenty-four hundred dollars of avoided commercial framing cost, before processing expenses and the value of my labor. That wording is stronger than calling it a five-thousand-dollar tree, because it tells the audience where the value actually comes from. Geometry and a repeatable method let ordinary material perform a valuable job. The labor, tools, knowledge, and design deserve their share of the explanation. Any financed-payment comparison should appear separately, with the interest rate and time period attached.</a:t>
            </a:r>
          </a:p>
          <a:p xmlns:a="http://schemas.openxmlformats.org/drawingml/2006/main">
            <a:r>
              <a:t/>
            </a:r>
          </a:p>
          <a:p xmlns:a="http://schemas.openxmlformats.org/drawingml/2006/main">
            <a:r>
              <a:t>On-screen qualification: Conditional claim based on the supplied model. Processing expenses and labor still count.</a:t>
            </a:r>
          </a:p>
          <a:p xmlns:a="http://schemas.openxmlformats.org/drawingml/2006/main">
            <a:r>
              <a:t/>
            </a:r>
          </a:p>
          <a:p xmlns:a="http://schemas.openxmlformats.org/drawingml/2006/main">
            <a:r>
              <a:t>Sources: User-provided tree-value essay, adapted for a general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with an ordinary pine and followed several possibilities. Standing timber, firewood, and lumber have different processed-material values. A successful dome system could use that material to avoid buying a more expensive structural function. Avoiding a loan for that function could also reduce future payments. Those claims can coexist because each measures something different. The decisive number for the builder is the highest realistic net use value after expenses, the value of time, and the alternatives given up. That is why the two-tree idea deserves a careful trial. Its promise is to make structural shelter a valuable use of ordinary wood. Measured yield, repeatable work, and an equivalent functioning structure are what would turn that promise into a demonstrated result.</a:t>
            </a:r>
          </a:p>
          <a:p xmlns:a="http://schemas.openxmlformats.org/drawingml/2006/main">
            <a:r>
              <a:t/>
            </a:r>
          </a:p>
          <a:p xmlns:a="http://schemas.openxmlformats.org/drawingml/2006/main">
            <a:r>
              <a:t>On-screen qualification: </a:t>
            </a:r>
          </a:p>
          <a:p xmlns:a="http://schemas.openxmlformats.org/drawingml/2006/main">
            <a:r>
              <a:t/>
            </a:r>
          </a:p>
          <a:p xmlns:a="http://schemas.openxmlformats.org/drawingml/2006/main">
            <a:r>
              <a:t>Sources: User-provided tree-value essay, adapted for a general audience.</a:t>
            </a:r>
          </a:p>
          <a:p xmlns:a="http://schemas.openxmlformats.org/drawingml/2006/main">
            <a:r>
              <a:t>Forest background: built-in ImageGen conceptual illustration, generated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c62dea75b049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7087de30e24e07" /><Relationship Type="http://schemas.openxmlformats.org/officeDocument/2006/relationships/slideLayout" Target="/ppt/slideLayouts/slideLayout1.xml" Id="R38f995b417c1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995b417c1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6e791b18c14af7" /><Relationship Type="http://schemas.openxmlformats.org/officeDocument/2006/relationships/image" Target="/ppt/media/image.png" Id="R0fe5ddff5d0c4aa0" /><Relationship Type="http://schemas.openxmlformats.org/officeDocument/2006/relationships/notesSlide" Target="/ppt/notesSlides/notesSlide1.xml" Id="R4310881dfaf84d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ed2e4e9648466e" /><Relationship Type="http://schemas.openxmlformats.org/officeDocument/2006/relationships/image" Target="/ppt/media/image2.png" Id="Ra1c3773915a74d86" /><Relationship Type="http://schemas.openxmlformats.org/officeDocument/2006/relationships/notesSlide" Target="/ppt/notesSlides/notesSlide2.xml" Id="R072f64ced71d4e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7758da397847ba" /><Relationship Type="http://schemas.openxmlformats.org/officeDocument/2006/relationships/notesSlide" Target="/ppt/notesSlides/notesSlide3.xml" Id="R2c72e5b1713b4b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ff0645ee944a5b" /><Relationship Type="http://schemas.openxmlformats.org/officeDocument/2006/relationships/notesSlide" Target="/ppt/notesSlides/notesSlide4.xml" Id="R451d273cf6244f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7d12131f0e4e05" /><Relationship Type="http://schemas.openxmlformats.org/officeDocument/2006/relationships/notesSlide" Target="/ppt/notesSlides/notesSlide5.xml" Id="R4ddd06537da041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9a592c6f0642e1" /><Relationship Type="http://schemas.openxmlformats.org/officeDocument/2006/relationships/notesSlide" Target="/ppt/notesSlides/notesSlide6.xml" Id="Rfecab7db3e394e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2c5d0b4de04c98" /><Relationship Type="http://schemas.openxmlformats.org/officeDocument/2006/relationships/notesSlide" Target="/ppt/notesSlides/notesSlide7.xml" Id="R09f8208e71b245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b1d1d207184b5c" /><Relationship Type="http://schemas.openxmlformats.org/officeDocument/2006/relationships/notesSlide" Target="/ppt/notesSlides/notesSlide8.xml" Id="R277e4bb47a4e44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13dd624676d491a" /><Relationship Type="http://schemas.openxmlformats.org/officeDocument/2006/relationships/image" Target="/ppt/media/image3.png" Id="Rd3a7e63e430e4d0a" /><Relationship Type="http://schemas.openxmlformats.org/officeDocument/2006/relationships/notesSlide" Target="/ppt/notesSlides/notesSlide9.xml" Id="R1dadf13a04744f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94a215ec47a4845" /><Relationship Type="http://schemas.openxmlformats.org/officeDocument/2006/relationships/notesSlide" Target="/ppt/notesSlides/notesSlide10.xml" Id="Rac0062599aa143b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efea9c91f9f4731" /><Relationship Type="http://schemas.openxmlformats.org/officeDocument/2006/relationships/notesSlide" Target="/ppt/notesSlides/notesSlide11.xml" Id="R859711aef59d489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4c0fc519cbe43da" /><Relationship Type="http://schemas.openxmlformats.org/officeDocument/2006/relationships/image" Target="/ppt/media/image4.png" Id="R4f502d65e3a444b4" /><Relationship Type="http://schemas.openxmlformats.org/officeDocument/2006/relationships/notesSlide" Target="/ppt/notesSlides/notesSlide12.xml" Id="Rfd41729da7d149e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46cb2939cd431f" /><Relationship Type="http://schemas.openxmlformats.org/officeDocument/2006/relationships/notesSlide" Target="/ppt/notesSlides/notesSlide13.xml" Id="Rad52868a45ac47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2672d396754b76" /><Relationship Type="http://schemas.openxmlformats.org/officeDocument/2006/relationships/notesSlide" Target="/ppt/notesSlides/notesSlide14.xml" Id="R234c46cca8ba4f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b0d340f7382483b" /><Relationship Type="http://schemas.openxmlformats.org/officeDocument/2006/relationships/notesSlide" Target="/ppt/notesSlides/notesSlide15.xml" Id="Reead506d370945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5dff1ac1c34f30" /><Relationship Type="http://schemas.openxmlformats.org/officeDocument/2006/relationships/notesSlide" Target="/ppt/notesSlides/notesSlide16.xml" Id="R43cc4c20891044a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ed83dcf4c874828" /><Relationship Type="http://schemas.openxmlformats.org/officeDocument/2006/relationships/image" Target="/ppt/media/image5.png" Id="Re95ff806f4f64006" /><Relationship Type="http://schemas.openxmlformats.org/officeDocument/2006/relationships/notesSlide" Target="/ppt/notesSlides/notesSlide17.xml" Id="Rc75147d917e248d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6adf7ae060a4b19" /><Relationship Type="http://schemas.openxmlformats.org/officeDocument/2006/relationships/notesSlide" Target="/ppt/notesSlides/notesSlide18.xml" Id="R48a227cafcdc43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590608dc0e8432c" /><Relationship Type="http://schemas.openxmlformats.org/officeDocument/2006/relationships/notesSlide" Target="/ppt/notesSlides/notesSlide19.xml" Id="R130e8ac385e74c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111dcff01f14ca7" /><Relationship Type="http://schemas.openxmlformats.org/officeDocument/2006/relationships/notesSlide" Target="/ppt/notesSlides/notesSlide20.xml" Id="Rb3d2463571354e5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7c2f03e4e83462c" /><Relationship Type="http://schemas.openxmlformats.org/officeDocument/2006/relationships/notesSlide" Target="/ppt/notesSlides/notesSlide21.xml" Id="Rc711b59cd4964fe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4b1d81e676469a" /><Relationship Type="http://schemas.openxmlformats.org/officeDocument/2006/relationships/notesSlide" Target="/ppt/notesSlides/notesSlide22.xml" Id="R4bb393a69a7046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5a33daaf6594c29" /><Relationship Type="http://schemas.openxmlformats.org/officeDocument/2006/relationships/notesSlide" Target="/ppt/notesSlides/notesSlide23.xml" Id="R18cc0ffc0d244c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6b275ea208c4659" /><Relationship Type="http://schemas.openxmlformats.org/officeDocument/2006/relationships/notesSlide" Target="/ppt/notesSlides/notesSlide24.xml" Id="R2e43fe2b54f342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8865e230af04c06" /><Relationship Type="http://schemas.openxmlformats.org/officeDocument/2006/relationships/notesSlide" Target="/ppt/notesSlides/notesSlide25.xml" Id="R997ad9a16ff541a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fac475900d1c4c8d" /><Relationship Type="http://schemas.openxmlformats.org/officeDocument/2006/relationships/image" Target="/ppt/media/image6.png" Id="R20bca71af0bb47a2" /><Relationship Type="http://schemas.openxmlformats.org/officeDocument/2006/relationships/notesSlide" Target="/ppt/notesSlides/notesSlide26.xml" Id="R6e481afa759e49a5" /></Relationships>
</file>

<file path=ppt/slides/slide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fe5ddff5d0c4aa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C27FBE-60AC-4185-87B4-52986C7843EE}"/>
              </a:ext>
            </a:extLst>
          </p:cNvPr>
          <p:cNvSpPr>
            <a:spLocks xmlns:a="http://schemas.openxmlformats.org/drawingml/2006/main" noGrp="1"/>
          </p:cNvSpPr>
          <p:nvPr/>
        </p:nvSpPr>
        <p:spPr>
          <a:xfrm xmlns:a="http://schemas.openxmlformats.org/drawingml/2006/main">
            <a:off x="0" y="0"/>
            <a:ext cx="8191500" cy="6858000"/>
          </a:xfrm>
          <a:prstGeom xmlns:a="http://schemas.openxmlformats.org/drawingml/2006/main" prst="rect">
            <a:avLst/>
          </a:prstGeom>
          <a:solidFill xmlns:a="http://schemas.openxmlformats.org/drawingml/2006/main">
            <a:srgbClr val="07100D">
              <a:alpha val="86667"/>
            </a:srgbClr>
          </a:solidFill>
          <a:ln xmlns:a="http://schemas.openxmlformats.org/drawingml/2006/main" w="0">
            <a:noFill/>
          </a:ln>
        </p:spPr>
      </p:sp>
      <p:sp>
        <p:nvSpPr>
          <p:cNvPr id="3" name="The many values&#10;of one tree">
            <a:extLst xmlns:a="http://schemas.openxmlformats.org/drawingml/2006/main">
              <a:ext uri="{FF2B5EF4-FFF2-40B4-BE49-F238E27FC236}">
                <a16:creationId xmlns:a16="http://schemas.microsoft.com/office/drawing/2014/main" id="{2B669BCE-7794-45C8-8568-7EB39EDDD2C7}"/>
              </a:ext>
            </a:extLst>
          </p:cNvPr>
          <p:cNvSpPr>
            <a:spLocks xmlns:a="http://schemas.openxmlformats.org/drawingml/2006/main" noGrp="1"/>
          </p:cNvSpPr>
          <p:nvPr/>
        </p:nvSpPr>
        <p:spPr>
          <a:xfrm xmlns:a="http://schemas.openxmlformats.org/drawingml/2006/main">
            <a:off x="609600" y="1381125"/>
            <a:ext cx="7524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250" b="1">
                <a:solidFill>
                  <a:srgbClr val="F3F0E7"/>
                </a:solidFill>
                <a:latin typeface="Arial"/>
                <a:ea typeface="Arial"/>
                <a:cs typeface="Arial"/>
              </a:defRPr>
            </a:pPr>
            <a:r>
              <a:rPr sz="5250" b="1">
                <a:solidFill>
                  <a:srgbClr val="F3F0E7"/>
                </a:solidFill>
                <a:latin typeface="Arial"/>
                <a:ea typeface="Arial"/>
                <a:cs typeface="Arial"/>
              </a:rPr>
              <a:t>The many values</a:t>
            </a:r>
          </a:p>
          <a:p xmlns:a="http://schemas.openxmlformats.org/drawingml/2006/main">
            <a:pPr>
              <a:defRPr sz="5250" b="1">
                <a:solidFill>
                  <a:srgbClr val="F3F0E7"/>
                </a:solidFill>
                <a:latin typeface="Arial"/>
                <a:ea typeface="Arial"/>
                <a:cs typeface="Arial"/>
              </a:defRPr>
            </a:pPr>
            <a:r>
              <a:rPr sz="5250" b="1">
                <a:solidFill>
                  <a:srgbClr val="F3F0E7"/>
                </a:solidFill>
                <a:latin typeface="Arial"/>
                <a:ea typeface="Arial"/>
                <a:cs typeface="Arial"/>
              </a:rPr>
              <a:t>of one tree</a:t>
            </a:r>
          </a:p>
        </p:txBody>
      </p:sp>
      <p:sp>
        <p:nvSpPr>
          <p:cNvPr id="4" name="An ordinary pine. Several economic possibilities.">
            <a:extLst xmlns:a="http://schemas.openxmlformats.org/drawingml/2006/main">
              <a:ext uri="{FF2B5EF4-FFF2-40B4-BE49-F238E27FC236}">
                <a16:creationId xmlns:a16="http://schemas.microsoft.com/office/drawing/2014/main" id="{3372C811-74AE-497E-83D7-F7EEF1AAA551}"/>
              </a:ext>
            </a:extLst>
          </p:cNvPr>
          <p:cNvSpPr>
            <a:spLocks xmlns:a="http://schemas.openxmlformats.org/drawingml/2006/main" noGrp="1"/>
          </p:cNvSpPr>
          <p:nvPr/>
        </p:nvSpPr>
        <p:spPr>
          <a:xfrm xmlns:a="http://schemas.openxmlformats.org/drawingml/2006/main">
            <a:off x="647700" y="3619500"/>
            <a:ext cx="7048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EAC184"/>
                </a:solidFill>
                <a:latin typeface="Arial"/>
                <a:ea typeface="Arial"/>
                <a:cs typeface="Arial"/>
              </a:defRPr>
            </a:pPr>
            <a:r>
              <a:rPr sz="2250" b="0">
                <a:solidFill>
                  <a:srgbClr val="EAC184"/>
                </a:solidFill>
                <a:latin typeface="Arial"/>
                <a:ea typeface="Arial"/>
                <a:cs typeface="Arial"/>
              </a:rPr>
              <a:t>An ordinary pine. Several economic possibilities.</a:t>
            </a:r>
          </a:p>
        </p:txBody>
      </p:sp>
    </p:spTree>
    <p:extLst>
      <p:ext uri="{BB962C8B-B14F-4D97-AF65-F5344CB8AC3E}">
        <p14:creationId xmlns:p14="http://schemas.microsoft.com/office/powerpoint/2010/main" val="2054880140"/>
      </p:ext>
    </p:extLst>
  </p:cSld>
</p:sld>
</file>

<file path=ppt/slides/slide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he working example">
            <a:extLst xmlns:a="http://schemas.openxmlformats.org/drawingml/2006/main">
              <a:ext uri="{FF2B5EF4-FFF2-40B4-BE49-F238E27FC236}">
                <a16:creationId xmlns:a16="http://schemas.microsoft.com/office/drawing/2014/main" id="{28802F3F-6E10-46B3-8864-444273D9A205}"/>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working example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1c3773915a74d86"/>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15-inch trunk diameter">
            <a:extLst xmlns:a="http://schemas.openxmlformats.org/drawingml/2006/main">
              <a:ext uri="{FF2B5EF4-FFF2-40B4-BE49-F238E27FC236}">
                <a16:creationId xmlns:a16="http://schemas.microsoft.com/office/drawing/2014/main" id="{7D42ACB9-8830-4A90-8368-E9D8D22AEC5F}"/>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15-inch trunk diameter</a:t>
            </a:r>
          </a:p>
        </p:txBody>
      </p:sp>
      <p:sp>
        <p:nvSpPr>
          <p:cNvPr id="4" name="60 feet of useful stem">
            <a:extLst xmlns:a="http://schemas.openxmlformats.org/drawingml/2006/main">
              <a:ext uri="{FF2B5EF4-FFF2-40B4-BE49-F238E27FC236}">
                <a16:creationId xmlns:a16="http://schemas.microsoft.com/office/drawing/2014/main" id="{D4B43EE6-931E-4617-B92C-788AEBFEC50C}"/>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60 feet of useful stem</a:t>
            </a:r>
          </a:p>
        </p:txBody>
      </p:sp>
      <p:sp>
        <p:nvSpPr>
          <p:cNvPr id="5" name="Two suitable trees for a 300&#10;ft² shell">
            <a:extLst xmlns:a="http://schemas.openxmlformats.org/drawingml/2006/main">
              <a:ext uri="{FF2B5EF4-FFF2-40B4-BE49-F238E27FC236}">
                <a16:creationId xmlns:a16="http://schemas.microsoft.com/office/drawing/2014/main" id="{61B474AA-F190-4298-BFD8-6444DD445F77}"/>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Two suitable trees for a 300</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ft² shell</a:t>
            </a:r>
          </a:p>
        </p:txBody>
      </p:sp>
      <p:sp>
        <p:nvSpPr>
          <p:cNvPr id="6" name="Project assumptions. Actual yield and equivalent framin">
            <a:extLst xmlns:a="http://schemas.openxmlformats.org/drawingml/2006/main">
              <a:ext uri="{FF2B5EF4-FFF2-40B4-BE49-F238E27FC236}">
                <a16:creationId xmlns:a16="http://schemas.microsoft.com/office/drawing/2014/main" id="{59C62AE7-511D-424A-8ADE-B214D72238D9}"/>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Project assumptions. Actual yield and equivalent framing cost require measurement.</a:t>
            </a:r>
          </a:p>
        </p:txBody>
      </p:sp>
      <p:sp>
        <p:nvSpPr>
          <p:cNvPr id="7" name="02">
            <a:extLst xmlns:a="http://schemas.openxmlformats.org/drawingml/2006/main">
              <a:ext uri="{FF2B5EF4-FFF2-40B4-BE49-F238E27FC236}">
                <a16:creationId xmlns:a16="http://schemas.microsoft.com/office/drawing/2014/main" id="{E71BFB04-538A-46DA-B96C-C8DDF1FC1050}"/>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02</a:t>
            </a:r>
          </a:p>
        </p:txBody>
      </p:sp>
    </p:spTree>
    <p:extLst>
      <p:ext uri="{BB962C8B-B14F-4D97-AF65-F5344CB8AC3E}">
        <p14:creationId xmlns:p14="http://schemas.microsoft.com/office/powerpoint/2010/main" val="1202456193"/>
      </p:ext>
    </p:extLst>
  </p:cSld>
</p:sld>
</file>

<file path=ppt/slides/slide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Standing timber and stumpage">
            <a:extLst xmlns:a="http://schemas.openxmlformats.org/drawingml/2006/main">
              <a:ext uri="{FF2B5EF4-FFF2-40B4-BE49-F238E27FC236}">
                <a16:creationId xmlns:a16="http://schemas.microsoft.com/office/drawing/2014/main" id="{0DCDB70D-185E-4E08-A3AA-7B16AF8E1085}"/>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Standing timber and stumpage</a:t>
            </a:r>
          </a:p>
        </p:txBody>
      </p:sp>
      <p:sp>
        <p:nvSpPr>
          <p:cNvPr id="2" name="$10–$35">
            <a:extLst xmlns:a="http://schemas.openxmlformats.org/drawingml/2006/main">
              <a:ext uri="{FF2B5EF4-FFF2-40B4-BE49-F238E27FC236}">
                <a16:creationId xmlns:a16="http://schemas.microsoft.com/office/drawing/2014/main" id="{F4BE788C-A5EB-40C3-8514-8DAA71CCD5C5}"/>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$10–$35</a:t>
            </a:r>
          </a:p>
        </p:txBody>
      </p:sp>
      <p:sp>
        <p:nvSpPr>
          <p:cNvPr id="3" name="Illustrative standing value per tree">
            <a:extLst xmlns:a="http://schemas.openxmlformats.org/drawingml/2006/main">
              <a:ext uri="{FF2B5EF4-FFF2-40B4-BE49-F238E27FC236}">
                <a16:creationId xmlns:a16="http://schemas.microsoft.com/office/drawing/2014/main" id="{75D73C03-BDC1-485F-9825-3095125D0E96}"/>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Illustrative standing value per tree</a:t>
            </a:r>
          </a:p>
        </p:txBody>
      </p:sp>
      <p:sp>
        <p:nvSpPr>
          <p:cNvPr id="4" name="$23.34/ton">
            <a:extLst xmlns:a="http://schemas.openxmlformats.org/drawingml/2006/main">
              <a:ext uri="{FF2B5EF4-FFF2-40B4-BE49-F238E27FC236}">
                <a16:creationId xmlns:a16="http://schemas.microsoft.com/office/drawing/2014/main" id="{ABB7A2AF-F782-400C-B0D0-9A808F2A159B}"/>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$23.34/ton</a:t>
            </a:r>
          </a:p>
        </p:txBody>
      </p:sp>
      <p:sp>
        <p:nvSpPr>
          <p:cNvPr id="5" name="South-wide pine sawtimber, Q2 2026">
            <a:extLst xmlns:a="http://schemas.openxmlformats.org/drawingml/2006/main">
              <a:ext uri="{FF2B5EF4-FFF2-40B4-BE49-F238E27FC236}">
                <a16:creationId xmlns:a16="http://schemas.microsoft.com/office/drawing/2014/main" id="{7483CE06-BCBC-4618-8AB3-408F4A4C7F54}"/>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South-wide pine sawtimber, Q2 2026</a:t>
            </a:r>
          </a:p>
        </p:txBody>
      </p:sp>
      <p:sp>
        <p:nvSpPr>
          <p:cNvPr id="6" name="$5.40/ton">
            <a:extLst xmlns:a="http://schemas.openxmlformats.org/drawingml/2006/main">
              <a:ext uri="{FF2B5EF4-FFF2-40B4-BE49-F238E27FC236}">
                <a16:creationId xmlns:a16="http://schemas.microsoft.com/office/drawing/2014/main" id="{38650F20-C5D6-4A84-852A-AD10B2DDA64F}"/>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$5.40/ton</a:t>
            </a:r>
          </a:p>
        </p:txBody>
      </p:sp>
      <p:sp>
        <p:nvSpPr>
          <p:cNvPr id="7" name="South-wide pine pulpwood, Q2 2026">
            <a:extLst xmlns:a="http://schemas.openxmlformats.org/drawingml/2006/main">
              <a:ext uri="{FF2B5EF4-FFF2-40B4-BE49-F238E27FC236}">
                <a16:creationId xmlns:a16="http://schemas.microsoft.com/office/drawing/2014/main" id="{14438E33-B11D-41A3-98E6-2AB6E78220E2}"/>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South-wide pine pulpwood, Q2 2026</a:t>
            </a:r>
          </a:p>
        </p:txBody>
      </p:sp>
      <p:sp>
        <p:nvSpPr>
          <p:cNvPr id="8" name="Regional prices are dated benchmarks. Two isolated tree">
            <a:extLst xmlns:a="http://schemas.openxmlformats.org/drawingml/2006/main">
              <a:ext uri="{FF2B5EF4-FFF2-40B4-BE49-F238E27FC236}">
                <a16:creationId xmlns:a16="http://schemas.microsoft.com/office/drawing/2014/main" id="{0E69D278-1CE1-4AA2-B62F-0DFF32072F89}"/>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Regional prices are dated benchmarks. Two isolated trees may have little commercial harvest appeal.</a:t>
            </a:r>
          </a:p>
        </p:txBody>
      </p:sp>
      <p:sp>
        <p:nvSpPr>
          <p:cNvPr id="9" name="03">
            <a:extLst xmlns:a="http://schemas.openxmlformats.org/drawingml/2006/main">
              <a:ext uri="{FF2B5EF4-FFF2-40B4-BE49-F238E27FC236}">
                <a16:creationId xmlns:a16="http://schemas.microsoft.com/office/drawing/2014/main" id="{37056048-5BAE-42A9-B560-6737572A6130}"/>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03</a:t>
            </a:r>
          </a:p>
        </p:txBody>
      </p:sp>
    </p:spTree>
    <p:extLst>
      <p:ext uri="{BB962C8B-B14F-4D97-AF65-F5344CB8AC3E}">
        <p14:creationId xmlns:p14="http://schemas.microsoft.com/office/powerpoint/2010/main" val="467898188"/>
      </p:ext>
    </p:extLst>
  </p:cSld>
</p:sld>
</file>

<file path=ppt/slides/slide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One tree on the value ladder">
            <a:extLst xmlns:a="http://schemas.openxmlformats.org/drawingml/2006/main">
              <a:ext uri="{FF2B5EF4-FFF2-40B4-BE49-F238E27FC236}">
                <a16:creationId xmlns:a16="http://schemas.microsoft.com/office/drawing/2014/main" id="{BDBED73D-D4A4-410A-A697-1E6FAD747058}"/>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One tree on the value ladder</a:t>
            </a:r>
          </a:p>
        </p:txBody>
      </p:sp>
      <p:graphicFrame>
        <p:nvGraphicFramePr>
          <p:cNvPr id="6" name=""/>
          <p:cNvGraphicFramePr/>
          <p:nvPr/>
        </p:nvGraphicFramePr>
        <p:xfrm>
          <a:off xmlns:a="http://schemas.openxmlformats.org/drawingml/2006/main" x="609600" y="1552575"/>
          <a:ext xmlns:a="http://schemas.openxmlformats.org/drawingml/2006/main" cx="10972800" cy="3867150"/>
        </p:xfrm>
        <a:graphic xmlns:a="http://schemas.openxmlformats.org/drawingml/2006/main">
          <a:graphicData uri="http://schemas.openxmlformats.org/drawingml/2006/table">
            <a:tbl>
              <a:tblPr/>
              <a:tblGrid>
                <a:gridCol w="4095750"/>
                <a:gridCol w="2647950"/>
                <a:gridCol w="4229100"/>
              </a:tblGrid>
              <a:tr h="552450">
                <a:tc>
                  <a:txBody>
                    <a:bodyPr/>
                    <a:lstStyle/>
                    <a:p>
                      <a:r>
                        <a:rPr sz="1800" b="1">
                          <a:solidFill>
                            <a:srgbClr val="9ED0B5"/>
                          </a:solidFill>
                          <a:latin typeface="Arial"/>
                          <a:ea typeface="Arial"/>
                          <a:cs typeface="Arial"/>
                        </a:rPr>
                        <a:t>State or use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Approximate value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Meaning</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$10–$35</a:t>
                      </a:r>
                    </a:p>
                  </a:txBody>
                  <a:tcPr marL="114300" marR="76200" marT="95250" marB="76200" anchor="ctr">
                    <a:solidFill>
                      <a:srgbClr val="080D10"/>
                    </a:solidFill>
                  </a:tcPr>
                </a:tc>
                <a:tc>
                  <a:txBody>
                    <a:bodyPr/>
                    <a:lstStyle/>
                    <a:p>
                      <a:r>
                        <a:rPr sz="1875">
                          <a:solidFill>
                            <a:srgbClr val="F3F0E7"/>
                          </a:solidFill>
                          <a:latin typeface="Arial"/>
                          <a:ea typeface="Arial"/>
                          <a:cs typeface="Arial"/>
                        </a:rPr>
                        <a:t>Raw timber sale</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Retail-equivalent 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$95–$135</a:t>
                      </a:r>
                    </a:p>
                  </a:txBody>
                  <a:tcPr marL="114300" marR="76200" marT="95250" marB="76200" anchor="ctr">
                    <a:solidFill>
                      <a:srgbClr val="080D10"/>
                    </a:solidFill>
                  </a:tcPr>
                </a:tc>
                <a:tc>
                  <a:txBody>
                    <a:bodyPr/>
                    <a:lstStyle/>
                    <a:p>
                      <a:r>
                        <a:rPr sz="1875">
                          <a:solidFill>
                            <a:srgbClr val="F3F0E7"/>
                          </a:solidFill>
                          <a:latin typeface="Arial"/>
                          <a:ea typeface="Arial"/>
                          <a:cs typeface="Arial"/>
                        </a:rPr>
                        <a:t>Processed fuel</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Rough-sawn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$330–$415</a:t>
                      </a:r>
                    </a:p>
                  </a:txBody>
                  <a:tcPr marL="114300" marR="76200" marT="95250" marB="76200" anchor="ctr">
                    <a:solidFill>
                      <a:srgbClr val="080D10"/>
                    </a:solidFill>
                  </a:tcPr>
                </a:tc>
                <a:tc>
                  <a:txBody>
                    <a:bodyPr/>
                    <a:lstStyle/>
                    <a:p>
                      <a:r>
                        <a:rPr sz="1875">
                          <a:solidFill>
                            <a:srgbClr val="F3F0E7"/>
                          </a:solidFill>
                          <a:latin typeface="Arial"/>
                          <a:ea typeface="Arial"/>
                          <a:cs typeface="Arial"/>
                        </a:rPr>
                        <a:t>Processed boards</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About 80 wedge blanks</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$250–$400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Lumber substitution</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Dome contribution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$2,400–$3,200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Gross framing substitution</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With assumed financing</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$5,500–$7,300</a:t>
                      </a:r>
                    </a:p>
                  </a:txBody>
                  <a:tcPr marL="114300" marR="76200" marT="95250" marB="76200" anchor="ctr">
                    <a:solidFill>
                      <a:srgbClr val="080D10"/>
                    </a:solidFill>
                  </a:tcPr>
                </a:tc>
                <a:tc>
                  <a:txBody>
                    <a:bodyPr/>
                    <a:lstStyle/>
                    <a:p>
                      <a:r>
                        <a:rPr sz="1875">
                          <a:solidFill>
                            <a:srgbClr val="F3F0E7"/>
                          </a:solidFill>
                          <a:latin typeface="Arial"/>
                          <a:ea typeface="Arial"/>
                          <a:cs typeface="Arial"/>
                        </a:rPr>
                        <a:t>Nominal payments over 30 years</a:t>
                      </a:r>
                    </a:p>
                  </a:txBody>
                  <a:tcPr marL="114300" marR="76200" marT="95250" marB="76200" anchor="ctr">
                    <a:solidFill>
                      <a:srgbClr val="080D10"/>
                    </a:solidFill>
                  </a:tcPr>
                </a:tc>
              </a:tr>
            </a:tbl>
          </a:graphicData>
        </a:graphic>
      </p:graphicFrame>
      <p:sp>
        <p:nvSpPr>
          <p:cNvPr id="3" name="Gross comparisons before processing costs and labor. Sy">
            <a:extLst xmlns:a="http://schemas.openxmlformats.org/drawingml/2006/main">
              <a:ext uri="{FF2B5EF4-FFF2-40B4-BE49-F238E27FC236}">
                <a16:creationId xmlns:a16="http://schemas.microsoft.com/office/drawing/2014/main" id="{F40D461A-E28B-4DDD-875C-2FB86B8A534E}"/>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Gross comparisons before processing costs and labor. System use and loan payments are different measures.</a:t>
            </a:r>
          </a:p>
        </p:txBody>
      </p:sp>
      <p:sp>
        <p:nvSpPr>
          <p:cNvPr id="4" name="04">
            <a:extLst xmlns:a="http://schemas.openxmlformats.org/drawingml/2006/main">
              <a:ext uri="{FF2B5EF4-FFF2-40B4-BE49-F238E27FC236}">
                <a16:creationId xmlns:a16="http://schemas.microsoft.com/office/drawing/2014/main" id="{03CF5C2B-72AF-444B-941C-4E0ED64EE158}"/>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04</a:t>
            </a:r>
          </a:p>
        </p:txBody>
      </p:sp>
    </p:spTree>
    <p:extLst>
      <p:ext uri="{BB962C8B-B14F-4D97-AF65-F5344CB8AC3E}">
        <p14:creationId xmlns:p14="http://schemas.microsoft.com/office/powerpoint/2010/main" val="293197466"/>
      </p:ext>
    </p:extLst>
  </p:cSld>
</p:sld>
</file>

<file path=ppt/slides/slide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A cord measures a stack">
            <a:extLst xmlns:a="http://schemas.openxmlformats.org/drawingml/2006/main">
              <a:ext uri="{FF2B5EF4-FFF2-40B4-BE49-F238E27FC236}">
                <a16:creationId xmlns:a16="http://schemas.microsoft.com/office/drawing/2014/main" id="{A563799B-6A7C-4F0F-A8F9-CB602961FE11}"/>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cord measures a stack</a:t>
            </a:r>
          </a:p>
        </p:txBody>
      </p:sp>
      <p:sp>
        <p:nvSpPr>
          <p:cNvPr id="2" name="4 ft × 4 ft × 8 ft = 128 ft³">
            <a:extLst xmlns:a="http://schemas.openxmlformats.org/drawingml/2006/main">
              <a:ext uri="{FF2B5EF4-FFF2-40B4-BE49-F238E27FC236}">
                <a16:creationId xmlns:a16="http://schemas.microsoft.com/office/drawing/2014/main" id="{1EAA84FE-2A08-48D5-8E4E-CBE61293949F}"/>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4 ft × 4 ft × 8 ft = 128 ft³</a:t>
            </a:r>
          </a:p>
        </p:txBody>
      </p:sp>
      <p:sp>
        <p:nvSpPr>
          <p:cNvPr id="3" name="The stack includes air spaces">
            <a:extLst xmlns:a="http://schemas.openxmlformats.org/drawingml/2006/main">
              <a:ext uri="{FF2B5EF4-FFF2-40B4-BE49-F238E27FC236}">
                <a16:creationId xmlns:a16="http://schemas.microsoft.com/office/drawing/2014/main" id="{D760F1E7-2AC2-4FED-89B1-4C10B3BFBA5F}"/>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The stack includes air spaces</a:t>
            </a:r>
          </a:p>
        </p:txBody>
      </p:sp>
      <p:sp>
        <p:nvSpPr>
          <p:cNvPr id="4" name="Working conversion: about 90 ft³ of solid wood per cord">
            <a:extLst xmlns:a="http://schemas.openxmlformats.org/drawingml/2006/main">
              <a:ext uri="{FF2B5EF4-FFF2-40B4-BE49-F238E27FC236}">
                <a16:creationId xmlns:a16="http://schemas.microsoft.com/office/drawing/2014/main" id="{FECE6172-964D-4E28-B5AF-AA7CFC218DC1}"/>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Working conversion: about 90 ft³ of solid wood per cord</a:t>
            </a:r>
          </a:p>
        </p:txBody>
      </p:sp>
      <p:sp>
        <p:nvSpPr>
          <p:cNvPr id="5" name="90 ft³ is a working solid-wood conversion. The 60-foot ">
            <a:extLst xmlns:a="http://schemas.openxmlformats.org/drawingml/2006/main">
              <a:ext uri="{FF2B5EF4-FFF2-40B4-BE49-F238E27FC236}">
                <a16:creationId xmlns:a16="http://schemas.microsoft.com/office/drawing/2014/main" id="{B5EA3CE7-9856-4996-BF31-BBC0C312DBD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90 ft³ is a working solid-wood conversion. The 60-foot and 80-foot yield examples come from the source essay.</a:t>
            </a:r>
          </a:p>
        </p:txBody>
      </p:sp>
      <p:sp>
        <p:nvSpPr>
          <p:cNvPr id="6" name="05">
            <a:extLst xmlns:a="http://schemas.openxmlformats.org/drawingml/2006/main">
              <a:ext uri="{FF2B5EF4-FFF2-40B4-BE49-F238E27FC236}">
                <a16:creationId xmlns:a16="http://schemas.microsoft.com/office/drawing/2014/main" id="{F2769F9C-B5DE-4E3D-B305-19DD551E148D}"/>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05</a:t>
            </a:r>
          </a:p>
        </p:txBody>
      </p:sp>
    </p:spTree>
    <p:extLst>
      <p:ext uri="{BB962C8B-B14F-4D97-AF65-F5344CB8AC3E}">
        <p14:creationId xmlns:p14="http://schemas.microsoft.com/office/powerpoint/2010/main" val="606280797"/>
      </p:ext>
    </p:extLst>
  </p:cSld>
</p:sld>
</file>

<file path=ppt/slides/slide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The firewood comparison">
            <a:extLst xmlns:a="http://schemas.openxmlformats.org/drawingml/2006/main">
              <a:ext uri="{FF2B5EF4-FFF2-40B4-BE49-F238E27FC236}">
                <a16:creationId xmlns:a16="http://schemas.microsoft.com/office/drawing/2014/main" id="{DB43D73E-03DA-41AC-95EE-FC036195EC5D}"/>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firewood comparison</a:t>
            </a:r>
          </a:p>
        </p:txBody>
      </p:sp>
      <p:sp>
        <p:nvSpPr>
          <p:cNvPr id="2" name="0.35–0.45 cord">
            <a:extLst xmlns:a="http://schemas.openxmlformats.org/drawingml/2006/main">
              <a:ext uri="{FF2B5EF4-FFF2-40B4-BE49-F238E27FC236}">
                <a16:creationId xmlns:a16="http://schemas.microsoft.com/office/drawing/2014/main" id="{4B6E46F4-510C-479E-8142-F8D8F91E953C}"/>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0.35–0.45 cord</a:t>
            </a:r>
          </a:p>
        </p:txBody>
      </p:sp>
      <p:sp>
        <p:nvSpPr>
          <p:cNvPr id="3" name="One representative stem">
            <a:extLst xmlns:a="http://schemas.openxmlformats.org/drawingml/2006/main">
              <a:ext uri="{FF2B5EF4-FFF2-40B4-BE49-F238E27FC236}">
                <a16:creationId xmlns:a16="http://schemas.microsoft.com/office/drawing/2014/main" id="{042912CB-FB44-48E1-B13F-337F84F515B5}"/>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One representative stem</a:t>
            </a:r>
          </a:p>
        </p:txBody>
      </p:sp>
      <p:sp>
        <p:nvSpPr>
          <p:cNvPr id="4" name="$95–$135">
            <a:extLst xmlns:a="http://schemas.openxmlformats.org/drawingml/2006/main">
              <a:ext uri="{FF2B5EF4-FFF2-40B4-BE49-F238E27FC236}">
                <a16:creationId xmlns:a16="http://schemas.microsoft.com/office/drawing/2014/main" id="{78B4219E-CDEA-4166-B4E1-0733D637ECA1}"/>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$95–$135</a:t>
            </a:r>
          </a:p>
        </p:txBody>
      </p:sp>
      <p:sp>
        <p:nvSpPr>
          <p:cNvPr id="5" name="Retail-equivalent fuel value">
            <a:extLst xmlns:a="http://schemas.openxmlformats.org/drawingml/2006/main">
              <a:ext uri="{FF2B5EF4-FFF2-40B4-BE49-F238E27FC236}">
                <a16:creationId xmlns:a16="http://schemas.microsoft.com/office/drawing/2014/main" id="{F6D2D0E7-FDF8-4264-B10A-F6D5AF554A49}"/>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Retail-equivalent fuel value</a:t>
            </a:r>
          </a:p>
        </p:txBody>
      </p:sp>
      <p:sp>
        <p:nvSpPr>
          <p:cNvPr id="6" name="$190–$270">
            <a:extLst xmlns:a="http://schemas.openxmlformats.org/drawingml/2006/main">
              <a:ext uri="{FF2B5EF4-FFF2-40B4-BE49-F238E27FC236}">
                <a16:creationId xmlns:a16="http://schemas.microsoft.com/office/drawing/2014/main" id="{886594F2-F216-4642-9902-131A611D7113}"/>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$190–$270</a:t>
            </a:r>
          </a:p>
        </p:txBody>
      </p:sp>
      <p:sp>
        <p:nvSpPr>
          <p:cNvPr id="7" name="Two stems, about 0.7–0.9 cord">
            <a:extLst xmlns:a="http://schemas.openxmlformats.org/drawingml/2006/main">
              <a:ext uri="{FF2B5EF4-FFF2-40B4-BE49-F238E27FC236}">
                <a16:creationId xmlns:a16="http://schemas.microsoft.com/office/drawing/2014/main" id="{6930393F-DE4E-4102-BD22-31BB30FCDE86}"/>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Two stems, about 0.7–0.9 cord</a:t>
            </a:r>
          </a:p>
        </p:txBody>
      </p:sp>
      <p:sp>
        <p:nvSpPr>
          <p:cNvPr id="8" name="Rounded model values. Local listing does not establish ">
            <a:extLst xmlns:a="http://schemas.openxmlformats.org/drawingml/2006/main">
              <a:ext uri="{FF2B5EF4-FFF2-40B4-BE49-F238E27FC236}">
                <a16:creationId xmlns:a16="http://schemas.microsoft.com/office/drawing/2014/main" id="{565217AD-AA3D-40EF-902E-7BF805BAF73E}"/>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Rounded model values. Local listing does not establish a species-matched pine sale price.</a:t>
            </a:r>
          </a:p>
        </p:txBody>
      </p:sp>
      <p:sp>
        <p:nvSpPr>
          <p:cNvPr id="9" name="06">
            <a:extLst xmlns:a="http://schemas.openxmlformats.org/drawingml/2006/main">
              <a:ext uri="{FF2B5EF4-FFF2-40B4-BE49-F238E27FC236}">
                <a16:creationId xmlns:a16="http://schemas.microsoft.com/office/drawing/2014/main" id="{0D2F0F7C-E905-4366-A634-A2D5DC90198D}"/>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06</a:t>
            </a:r>
          </a:p>
        </p:txBody>
      </p:sp>
    </p:spTree>
    <p:extLst>
      <p:ext uri="{BB962C8B-B14F-4D97-AF65-F5344CB8AC3E}">
        <p14:creationId xmlns:p14="http://schemas.microsoft.com/office/powerpoint/2010/main" val="1970756223"/>
      </p:ext>
    </p:extLst>
  </p:cSld>
</p:sld>
</file>

<file path=ppt/slides/slide7.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Firewood and structural function">
            <a:extLst xmlns:a="http://schemas.openxmlformats.org/drawingml/2006/main">
              <a:ext uri="{FF2B5EF4-FFF2-40B4-BE49-F238E27FC236}">
                <a16:creationId xmlns:a16="http://schemas.microsoft.com/office/drawing/2014/main" id="{84ADD5ED-DBBF-476E-A491-76366FBD27B7}"/>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Firewood and structural function</a:t>
            </a:r>
          </a:p>
        </p:txBody>
      </p:sp>
      <p:sp>
        <p:nvSpPr>
          <p:cNvPr id="2" name="$190–$270">
            <a:extLst xmlns:a="http://schemas.openxmlformats.org/drawingml/2006/main">
              <a:ext uri="{FF2B5EF4-FFF2-40B4-BE49-F238E27FC236}">
                <a16:creationId xmlns:a16="http://schemas.microsoft.com/office/drawing/2014/main" id="{2A03AEBD-1C65-462C-84A0-4A7AB81AA662}"/>
              </a:ext>
            </a:extLst>
          </p:cNvPr>
          <p:cNvSpPr>
            <a:spLocks xmlns:a="http://schemas.openxmlformats.org/drawingml/2006/main" noGrp="1"/>
          </p:cNvSpPr>
          <p:nvPr/>
        </p:nvSpPr>
        <p:spPr>
          <a:xfrm xmlns:a="http://schemas.openxmlformats.org/drawingml/2006/main">
            <a:off x="647700" y="16668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$190–$270</a:t>
            </a:r>
          </a:p>
        </p:txBody>
      </p:sp>
      <p:sp>
        <p:nvSpPr>
          <p:cNvPr id="3" name="Two trees as retail-equivalent firewood">
            <a:extLst xmlns:a="http://schemas.openxmlformats.org/drawingml/2006/main">
              <a:ext uri="{FF2B5EF4-FFF2-40B4-BE49-F238E27FC236}">
                <a16:creationId xmlns:a16="http://schemas.microsoft.com/office/drawing/2014/main" id="{18FC9567-6E2F-48B0-8092-A92632291B4A}"/>
              </a:ext>
            </a:extLst>
          </p:cNvPr>
          <p:cNvSpPr>
            <a:spLocks xmlns:a="http://schemas.openxmlformats.org/drawingml/2006/main" noGrp="1"/>
          </p:cNvSpPr>
          <p:nvPr/>
        </p:nvSpPr>
        <p:spPr>
          <a:xfrm xmlns:a="http://schemas.openxmlformats.org/drawingml/2006/main">
            <a:off x="685800" y="26574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Two trees as retail-equivalent firewood</a:t>
            </a:r>
          </a:p>
        </p:txBody>
      </p:sp>
      <p:sp>
        <p:nvSpPr>
          <p:cNvPr id="4" name="$4,800">
            <a:extLst xmlns:a="http://schemas.openxmlformats.org/drawingml/2006/main">
              <a:ext uri="{FF2B5EF4-FFF2-40B4-BE49-F238E27FC236}">
                <a16:creationId xmlns:a16="http://schemas.microsoft.com/office/drawing/2014/main" id="{32D9A5EC-8DD3-4F5C-B675-22F5C8359D59}"/>
              </a:ext>
            </a:extLst>
          </p:cNvPr>
          <p:cNvSpPr>
            <a:spLocks xmlns:a="http://schemas.openxmlformats.org/drawingml/2006/main" noGrp="1"/>
          </p:cNvSpPr>
          <p:nvPr/>
        </p:nvSpPr>
        <p:spPr>
          <a:xfrm xmlns:a="http://schemas.openxmlformats.org/drawingml/2006/main">
            <a:off x="647700" y="36195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$4,800</a:t>
            </a:r>
          </a:p>
        </p:txBody>
      </p:sp>
      <p:sp>
        <p:nvSpPr>
          <p:cNvPr id="5" name="Modeled framing function from those trees">
            <a:extLst xmlns:a="http://schemas.openxmlformats.org/drawingml/2006/main">
              <a:ext uri="{FF2B5EF4-FFF2-40B4-BE49-F238E27FC236}">
                <a16:creationId xmlns:a16="http://schemas.microsoft.com/office/drawing/2014/main" id="{388D0570-FB06-4DCE-B3FE-B70F90356C11}"/>
              </a:ext>
            </a:extLst>
          </p:cNvPr>
          <p:cNvSpPr>
            <a:spLocks xmlns:a="http://schemas.openxmlformats.org/drawingml/2006/main" noGrp="1"/>
          </p:cNvSpPr>
          <p:nvPr/>
        </p:nvSpPr>
        <p:spPr>
          <a:xfrm xmlns:a="http://schemas.openxmlformats.org/drawingml/2006/main">
            <a:off x="685800" y="46101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Modeled framing function from those trees</a:t>
            </a:r>
          </a:p>
        </p:txBody>
      </p:sp>
      <p:sp>
        <p:nvSpPr>
          <p:cNvPr id="6" name="About 18–25× gross use-value comparison. It is not a re">
            <a:extLst xmlns:a="http://schemas.openxmlformats.org/drawingml/2006/main">
              <a:ext uri="{FF2B5EF4-FFF2-40B4-BE49-F238E27FC236}">
                <a16:creationId xmlns:a16="http://schemas.microsoft.com/office/drawing/2014/main" id="{79DBD0F5-5357-4417-899D-E7508CB64B74}"/>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About 18–25× gross use-value comparison. It is not a resale-price multiplier.</a:t>
            </a:r>
          </a:p>
        </p:txBody>
      </p:sp>
      <p:sp>
        <p:nvSpPr>
          <p:cNvPr id="7" name="07">
            <a:extLst xmlns:a="http://schemas.openxmlformats.org/drawingml/2006/main">
              <a:ext uri="{FF2B5EF4-FFF2-40B4-BE49-F238E27FC236}">
                <a16:creationId xmlns:a16="http://schemas.microsoft.com/office/drawing/2014/main" id="{1FC5BB6B-21BE-4582-B473-DFA60EC5CC7B}"/>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07</a:t>
            </a:r>
          </a:p>
        </p:txBody>
      </p:sp>
    </p:spTree>
    <p:extLst>
      <p:ext uri="{BB962C8B-B14F-4D97-AF65-F5344CB8AC3E}">
        <p14:creationId xmlns:p14="http://schemas.microsoft.com/office/powerpoint/2010/main" val="344855947"/>
      </p:ext>
    </p:extLst>
  </p:cSld>
</p:sld>
</file>

<file path=ppt/slides/slide8.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Conventional lumber recovery">
            <a:extLst xmlns:a="http://schemas.openxmlformats.org/drawingml/2006/main">
              <a:ext uri="{FF2B5EF4-FFF2-40B4-BE49-F238E27FC236}">
                <a16:creationId xmlns:a16="http://schemas.microsoft.com/office/drawing/2014/main" id="{3F7E5E3A-D064-46F0-8DAC-045989203449}"/>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Conventional lumber recovery</a:t>
            </a:r>
          </a:p>
        </p:txBody>
      </p:sp>
      <p:sp>
        <p:nvSpPr>
          <p:cNvPr id="2" name="37 ft³ × 7.5 BF/ft³ ≈ 275 BF">
            <a:extLst xmlns:a="http://schemas.openxmlformats.org/drawingml/2006/main">
              <a:ext uri="{FF2B5EF4-FFF2-40B4-BE49-F238E27FC236}">
                <a16:creationId xmlns:a16="http://schemas.microsoft.com/office/drawing/2014/main" id="{E643E962-FFF1-4362-BC1B-D62B7BCCB6C4}"/>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37 ft³ × 7.5 BF/ft³ ≈ 275 BF</a:t>
            </a:r>
          </a:p>
        </p:txBody>
      </p:sp>
      <p:sp>
        <p:nvSpPr>
          <p:cNvPr id="3" name="275 BF × $1.20–$1.50/BF">
            <a:extLst xmlns:a="http://schemas.openxmlformats.org/drawingml/2006/main">
              <a:ext uri="{FF2B5EF4-FFF2-40B4-BE49-F238E27FC236}">
                <a16:creationId xmlns:a16="http://schemas.microsoft.com/office/drawing/2014/main" id="{BED098BA-8E12-48AF-A139-ABE8DAFDDC5C}"/>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275 BF × $1.20–$1.50/BF</a:t>
            </a:r>
          </a:p>
        </p:txBody>
      </p:sp>
      <p:sp>
        <p:nvSpPr>
          <p:cNvPr id="4" name="≈ $330–$413 per tree">
            <a:extLst xmlns:a="http://schemas.openxmlformats.org/drawingml/2006/main">
              <a:ext uri="{FF2B5EF4-FFF2-40B4-BE49-F238E27FC236}">
                <a16:creationId xmlns:a16="http://schemas.microsoft.com/office/drawing/2014/main" id="{B4DCEA9A-EA04-4E23-A71F-080CE46D6884}"/>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 $330–$413 per tree</a:t>
            </a:r>
          </a:p>
        </p:txBody>
      </p:sp>
      <p:sp>
        <p:nvSpPr>
          <p:cNvPr id="5" name="7.5 BF/ft³ and $1.20–$1.50/BF are scenario inputs. 275 ">
            <a:extLst xmlns:a="http://schemas.openxmlformats.org/drawingml/2006/main">
              <a:ext uri="{FF2B5EF4-FFF2-40B4-BE49-F238E27FC236}">
                <a16:creationId xmlns:a16="http://schemas.microsoft.com/office/drawing/2014/main" id="{8A8EB05C-395F-4145-BE39-791270FDE012}"/>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7.5 BF/ft³ and $1.20–$1.50/BF are scenario inputs. 275 BF uses coarse rounding.</a:t>
            </a:r>
          </a:p>
        </p:txBody>
      </p:sp>
      <p:sp>
        <p:nvSpPr>
          <p:cNvPr id="6" name="08">
            <a:extLst xmlns:a="http://schemas.openxmlformats.org/drawingml/2006/main">
              <a:ext uri="{FF2B5EF4-FFF2-40B4-BE49-F238E27FC236}">
                <a16:creationId xmlns:a16="http://schemas.microsoft.com/office/drawing/2014/main" id="{1006E8B3-358F-4A38-B1D7-E38E8428CAEB}"/>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08</a:t>
            </a:r>
          </a:p>
        </p:txBody>
      </p:sp>
    </p:spTree>
    <p:extLst>
      <p:ext uri="{BB962C8B-B14F-4D97-AF65-F5344CB8AC3E}">
        <p14:creationId xmlns:p14="http://schemas.microsoft.com/office/powerpoint/2010/main" val="258027741"/>
      </p:ext>
    </p:extLst>
  </p:cSld>
</p:sld>
</file>

<file path=ppt/slides/slide9.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Radial wedge processing">
            <a:extLst xmlns:a="http://schemas.openxmlformats.org/drawingml/2006/main">
              <a:ext uri="{FF2B5EF4-FFF2-40B4-BE49-F238E27FC236}">
                <a16:creationId xmlns:a16="http://schemas.microsoft.com/office/drawing/2014/main" id="{61823251-8781-4447-AE9A-2FC700C1C353}"/>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Radial wedge processing</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3a7e63e430e4d0a"/>
          <a:stretch xmlns:a="http://schemas.openxmlformats.org/drawingml/2006/main"/>
        </p:blipFill>
        <p:spPr>
          <a:xfrm xmlns:a="http://schemas.openxmlformats.org/drawingml/2006/main">
            <a:off x="5572125" y="1794570"/>
            <a:ext cx="6048375" cy="3402211"/>
          </a:xfrm>
          <a:prstGeom xmlns:a="http://schemas.openxmlformats.org/drawingml/2006/main" prst="rect">
            <a:avLst/>
          </a:prstGeom>
        </p:spPr>
      </p:pic>
      <p:sp>
        <p:nvSpPr>
          <p:cNvPr id="3" name="One log becomes 2, then 4,&#10;then 8 sectors">
            <a:extLst xmlns:a="http://schemas.openxmlformats.org/drawingml/2006/main">
              <a:ext uri="{FF2B5EF4-FFF2-40B4-BE49-F238E27FC236}">
                <a16:creationId xmlns:a16="http://schemas.microsoft.com/office/drawing/2014/main" id="{EAE0D1B6-67FA-4623-B8AA-6EB3173ACE65}"/>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One log becomes 2, then 4,</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then 8 sectors</a:t>
            </a:r>
          </a:p>
        </p:txBody>
      </p:sp>
      <p:sp>
        <p:nvSpPr>
          <p:cNvPr id="4" name="Eight longitudinal sectors&#10;retain the curved outer form">
            <a:extLst xmlns:a="http://schemas.openxmlformats.org/drawingml/2006/main">
              <a:ext uri="{FF2B5EF4-FFF2-40B4-BE49-F238E27FC236}">
                <a16:creationId xmlns:a16="http://schemas.microsoft.com/office/drawing/2014/main" id="{8FA366ED-F1E4-4F64-982E-1B5AA77E2579}"/>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Eight longitudinal sectors</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retain the curved outer form</a:t>
            </a:r>
          </a:p>
        </p:txBody>
      </p:sp>
      <p:sp>
        <p:nvSpPr>
          <p:cNvPr id="5" name="Useful members still depend&#10;on sound wood and usable&#10;di">
            <a:extLst xmlns:a="http://schemas.openxmlformats.org/drawingml/2006/main">
              <a:ext uri="{FF2B5EF4-FFF2-40B4-BE49-F238E27FC236}">
                <a16:creationId xmlns:a16="http://schemas.microsoft.com/office/drawing/2014/main" id="{AE68D884-7E6E-4BFC-A91D-D8DCE6DF292D}"/>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Useful members still depend</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on sound wood and usable</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dimensions</a:t>
            </a:r>
          </a:p>
        </p:txBody>
      </p:sp>
      <p:sp>
        <p:nvSpPr>
          <p:cNvPr id="6" name="Radial processing concept. Usable structural yield rema">
            <a:extLst xmlns:a="http://schemas.openxmlformats.org/drawingml/2006/main">
              <a:ext uri="{FF2B5EF4-FFF2-40B4-BE49-F238E27FC236}">
                <a16:creationId xmlns:a16="http://schemas.microsoft.com/office/drawing/2014/main" id="{278DEB2C-8A25-494F-A968-8D0E531A0F79}"/>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Radial processing concept. Usable structural yield remains a project assumption.</a:t>
            </a:r>
          </a:p>
        </p:txBody>
      </p:sp>
      <p:sp>
        <p:nvSpPr>
          <p:cNvPr id="7" name="09">
            <a:extLst xmlns:a="http://schemas.openxmlformats.org/drawingml/2006/main">
              <a:ext uri="{FF2B5EF4-FFF2-40B4-BE49-F238E27FC236}">
                <a16:creationId xmlns:a16="http://schemas.microsoft.com/office/drawing/2014/main" id="{331ADDA7-854E-440E-BC21-CE63E15AD08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09</a:t>
            </a:r>
          </a:p>
        </p:txBody>
      </p:sp>
    </p:spTree>
    <p:extLst>
      <p:ext uri="{BB962C8B-B14F-4D97-AF65-F5344CB8AC3E}">
        <p14:creationId xmlns:p14="http://schemas.microsoft.com/office/powerpoint/2010/main" val="2030883524"/>
      </p:ext>
    </p:extLst>
  </p:cSld>
</p:sld>
</file>

<file path=ppt/slides/slide10.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The theoretical member count">
            <a:extLst xmlns:a="http://schemas.openxmlformats.org/drawingml/2006/main">
              <a:ext uri="{FF2B5EF4-FFF2-40B4-BE49-F238E27FC236}">
                <a16:creationId xmlns:a16="http://schemas.microsoft.com/office/drawing/2014/main" id="{3439C22F-1256-4D88-8462-2EAA75B9D648}"/>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theoretical member count</a:t>
            </a:r>
          </a:p>
        </p:txBody>
      </p:sp>
      <p:sp>
        <p:nvSpPr>
          <p:cNvPr id="2" name="8 sectors × 60 ft = 480 linear ft">
            <a:extLst xmlns:a="http://schemas.openxmlformats.org/drawingml/2006/main">
              <a:ext uri="{FF2B5EF4-FFF2-40B4-BE49-F238E27FC236}">
                <a16:creationId xmlns:a16="http://schemas.microsoft.com/office/drawing/2014/main" id="{8C88A423-1B0B-49D5-8039-77BE5326E0D4}"/>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8 sectors × 60 ft = 480 linear ft</a:t>
            </a:r>
          </a:p>
        </p:txBody>
      </p:sp>
      <p:sp>
        <p:nvSpPr>
          <p:cNvPr id="3" name="480 ft ÷ 6 ft = 80 blanks per tree">
            <a:extLst xmlns:a="http://schemas.openxmlformats.org/drawingml/2006/main">
              <a:ext uri="{FF2B5EF4-FFF2-40B4-BE49-F238E27FC236}">
                <a16:creationId xmlns:a16="http://schemas.microsoft.com/office/drawing/2014/main" id="{AE66887F-791A-4F65-A4AC-11C908128050}"/>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480 ft ÷ 6 ft = 80 blanks per tree</a:t>
            </a:r>
          </a:p>
        </p:txBody>
      </p:sp>
      <p:sp>
        <p:nvSpPr>
          <p:cNvPr id="4" name="2 trees = 160 theoretical blanks">
            <a:extLst xmlns:a="http://schemas.openxmlformats.org/drawingml/2006/main">
              <a:ext uri="{FF2B5EF4-FFF2-40B4-BE49-F238E27FC236}">
                <a16:creationId xmlns:a16="http://schemas.microsoft.com/office/drawing/2014/main" id="{715D361E-A281-4ABF-A51C-17BDBD47057E}"/>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2 trees = 160 theoretical blanks</a:t>
            </a:r>
          </a:p>
        </p:txBody>
      </p:sp>
      <p:sp>
        <p:nvSpPr>
          <p:cNvPr id="5" name="Idealized count before actual cutting losses and materi">
            <a:extLst xmlns:a="http://schemas.openxmlformats.org/drawingml/2006/main">
              <a:ext uri="{FF2B5EF4-FFF2-40B4-BE49-F238E27FC236}">
                <a16:creationId xmlns:a16="http://schemas.microsoft.com/office/drawing/2014/main" id="{83963C8D-89D5-4C0F-9715-F2DB7B104E1F}"/>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Idealized count before actual cutting losses and material acceptance.</a:t>
            </a:r>
          </a:p>
        </p:txBody>
      </p:sp>
      <p:sp>
        <p:nvSpPr>
          <p:cNvPr id="6" name="10">
            <a:extLst xmlns:a="http://schemas.openxmlformats.org/drawingml/2006/main">
              <a:ext uri="{FF2B5EF4-FFF2-40B4-BE49-F238E27FC236}">
                <a16:creationId xmlns:a16="http://schemas.microsoft.com/office/drawing/2014/main" id="{9EF933EF-E15A-40A2-8263-4C0D7C000A3B}"/>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10</a:t>
            </a:r>
          </a:p>
        </p:txBody>
      </p:sp>
    </p:spTree>
    <p:extLst>
      <p:ext uri="{BB962C8B-B14F-4D97-AF65-F5344CB8AC3E}">
        <p14:creationId xmlns:p14="http://schemas.microsoft.com/office/powerpoint/2010/main" val="1831033397"/>
      </p:ext>
    </p:extLst>
  </p:cSld>
</p:sld>
</file>

<file path=ppt/slides/slide1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The allowance for other pieces">
            <a:extLst xmlns:a="http://schemas.openxmlformats.org/drawingml/2006/main">
              <a:ext uri="{FF2B5EF4-FFF2-40B4-BE49-F238E27FC236}">
                <a16:creationId xmlns:a16="http://schemas.microsoft.com/office/drawing/2014/main" id="{2004DF76-48B3-4461-A7F4-BEFAD65C5F31}"/>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allowance for other pieces</a:t>
            </a:r>
          </a:p>
        </p:txBody>
      </p:sp>
      <p:sp>
        <p:nvSpPr>
          <p:cNvPr id="2" name="160">
            <a:extLst xmlns:a="http://schemas.openxmlformats.org/drawingml/2006/main">
              <a:ext uri="{FF2B5EF4-FFF2-40B4-BE49-F238E27FC236}">
                <a16:creationId xmlns:a16="http://schemas.microsoft.com/office/drawing/2014/main" id="{2D19E8C6-FD3E-4FFC-8ACB-878ACA3E6728}"/>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160</a:t>
            </a:r>
          </a:p>
        </p:txBody>
      </p:sp>
      <p:sp>
        <p:nvSpPr>
          <p:cNvPr id="3" name="Theoretical six-foot blanks">
            <a:extLst xmlns:a="http://schemas.openxmlformats.org/drawingml/2006/main">
              <a:ext uri="{FF2B5EF4-FFF2-40B4-BE49-F238E27FC236}">
                <a16:creationId xmlns:a16="http://schemas.microsoft.com/office/drawing/2014/main" id="{714489A2-24C6-41A4-BC17-D70BBE42F438}"/>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Theoretical six-foot blanks</a:t>
            </a:r>
          </a:p>
        </p:txBody>
      </p:sp>
      <p:sp>
        <p:nvSpPr>
          <p:cNvPr id="4" name="120">
            <a:extLst xmlns:a="http://schemas.openxmlformats.org/drawingml/2006/main">
              <a:ext uri="{FF2B5EF4-FFF2-40B4-BE49-F238E27FC236}">
                <a16:creationId xmlns:a16="http://schemas.microsoft.com/office/drawing/2014/main" id="{0B64044F-D618-4150-9193-BAC3CE877412}"/>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120</a:t>
            </a:r>
          </a:p>
        </p:txBody>
      </p:sp>
      <p:sp>
        <p:nvSpPr>
          <p:cNvPr id="5" name="Modeled dome frame members">
            <a:extLst xmlns:a="http://schemas.openxmlformats.org/drawingml/2006/main">
              <a:ext uri="{FF2B5EF4-FFF2-40B4-BE49-F238E27FC236}">
                <a16:creationId xmlns:a16="http://schemas.microsoft.com/office/drawing/2014/main" id="{2B3F23A8-573A-4061-9479-F4CFC53DCAE4}"/>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Modeled dome frame members</a:t>
            </a:r>
          </a:p>
        </p:txBody>
      </p:sp>
      <p:sp>
        <p:nvSpPr>
          <p:cNvPr id="6" name="40">
            <a:extLst xmlns:a="http://schemas.openxmlformats.org/drawingml/2006/main">
              <a:ext uri="{FF2B5EF4-FFF2-40B4-BE49-F238E27FC236}">
                <a16:creationId xmlns:a16="http://schemas.microsoft.com/office/drawing/2014/main" id="{E766E5EE-649D-4396-9364-293A3A4C821F}"/>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40</a:t>
            </a:r>
          </a:p>
        </p:txBody>
      </p:sp>
      <p:sp>
        <p:nvSpPr>
          <p:cNvPr id="7" name="Potential spare or secondary pieces">
            <a:extLst xmlns:a="http://schemas.openxmlformats.org/drawingml/2006/main">
              <a:ext uri="{FF2B5EF4-FFF2-40B4-BE49-F238E27FC236}">
                <a16:creationId xmlns:a16="http://schemas.microsoft.com/office/drawing/2014/main" id="{20083EC7-7ACE-4CF7-A589-66FFC8CB4745}"/>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Potential spare or secondary pieces</a:t>
            </a:r>
          </a:p>
        </p:txBody>
      </p:sp>
      <p:sp>
        <p:nvSpPr>
          <p:cNvPr id="8" name="The 40-piece balance is an allowance, not guaranteed ad">
            <a:extLst xmlns:a="http://schemas.openxmlformats.org/drawingml/2006/main">
              <a:ext uri="{FF2B5EF4-FFF2-40B4-BE49-F238E27FC236}">
                <a16:creationId xmlns:a16="http://schemas.microsoft.com/office/drawing/2014/main" id="{FCAA21BD-8283-4F04-8CB6-ADB0C65FBF6E}"/>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The 40-piece balance is an allowance, not guaranteed additional construction material.</a:t>
            </a:r>
          </a:p>
        </p:txBody>
      </p:sp>
      <p:sp>
        <p:nvSpPr>
          <p:cNvPr id="9" name="11">
            <a:extLst xmlns:a="http://schemas.openxmlformats.org/drawingml/2006/main">
              <a:ext uri="{FF2B5EF4-FFF2-40B4-BE49-F238E27FC236}">
                <a16:creationId xmlns:a16="http://schemas.microsoft.com/office/drawing/2014/main" id="{6C200777-1C26-4F74-8B73-E03825DFED0C}"/>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11</a:t>
            </a:r>
          </a:p>
        </p:txBody>
      </p:sp>
    </p:spTree>
    <p:extLst>
      <p:ext uri="{BB962C8B-B14F-4D97-AF65-F5344CB8AC3E}">
        <p14:creationId xmlns:p14="http://schemas.microsoft.com/office/powerpoint/2010/main" val="35761964"/>
      </p:ext>
    </p:extLst>
  </p:cSld>
</p:sld>
</file>

<file path=ppt/slides/slide1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Geometry and the jig add function">
            <a:extLst xmlns:a="http://schemas.openxmlformats.org/drawingml/2006/main">
              <a:ext uri="{FF2B5EF4-FFF2-40B4-BE49-F238E27FC236}">
                <a16:creationId xmlns:a16="http://schemas.microsoft.com/office/drawing/2014/main" id="{B4E16835-4820-4EAE-9139-5A73899A9EDC}"/>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Geometry and the jig add function</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502d65e3a444b4"/>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A repeatable jig organizes&#10;the work">
            <a:extLst xmlns:a="http://schemas.openxmlformats.org/drawingml/2006/main">
              <a:ext uri="{FF2B5EF4-FFF2-40B4-BE49-F238E27FC236}">
                <a16:creationId xmlns:a16="http://schemas.microsoft.com/office/drawing/2014/main" id="{952FC7B1-116E-4D2D-A345-8332B6B1E851}"/>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A repeatable jig organizes</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the work</a:t>
            </a:r>
          </a:p>
        </p:txBody>
      </p:sp>
      <p:sp>
        <p:nvSpPr>
          <p:cNvPr id="4" name="Members become triangular&#10;assemblies">
            <a:extLst xmlns:a="http://schemas.openxmlformats.org/drawingml/2006/main">
              <a:ext uri="{FF2B5EF4-FFF2-40B4-BE49-F238E27FC236}">
                <a16:creationId xmlns:a16="http://schemas.microsoft.com/office/drawing/2014/main" id="{07923D14-6A5C-4544-B3FF-A62997821D14}"/>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Members become triangular</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assemblies</a:t>
            </a:r>
          </a:p>
        </p:txBody>
      </p:sp>
      <p:sp>
        <p:nvSpPr>
          <p:cNvPr id="5" name="Assemblies contribute to a&#10;structural shell">
            <a:extLst xmlns:a="http://schemas.openxmlformats.org/drawingml/2006/main">
              <a:ext uri="{FF2B5EF4-FFF2-40B4-BE49-F238E27FC236}">
                <a16:creationId xmlns:a16="http://schemas.microsoft.com/office/drawing/2014/main" id="{0965690A-9363-4B4C-8708-C03762EB6199}"/>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Assemblies contribute to a</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structural shell</a:t>
            </a:r>
          </a:p>
        </p:txBody>
      </p:sp>
      <p:sp>
        <p:nvSpPr>
          <p:cNvPr id="6" name="Existing DomeSim jig illustration. The image explains t">
            <a:extLst xmlns:a="http://schemas.openxmlformats.org/drawingml/2006/main">
              <a:ext uri="{FF2B5EF4-FFF2-40B4-BE49-F238E27FC236}">
                <a16:creationId xmlns:a16="http://schemas.microsoft.com/office/drawing/2014/main" id="{CB061B7D-8C4D-4582-BCA3-D887EF1B96E6}"/>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Existing DomeSim jig illustration. The image explains the concept, not a certified construction detail.</a:t>
            </a:r>
          </a:p>
        </p:txBody>
      </p:sp>
      <p:sp>
        <p:nvSpPr>
          <p:cNvPr id="7" name="12">
            <a:extLst xmlns:a="http://schemas.openxmlformats.org/drawingml/2006/main">
              <a:ext uri="{FF2B5EF4-FFF2-40B4-BE49-F238E27FC236}">
                <a16:creationId xmlns:a16="http://schemas.microsoft.com/office/drawing/2014/main" id="{181A103B-31D7-46A9-A8C2-C04573915411}"/>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12</a:t>
            </a:r>
          </a:p>
        </p:txBody>
      </p:sp>
    </p:spTree>
    <p:extLst>
      <p:ext uri="{BB962C8B-B14F-4D97-AF65-F5344CB8AC3E}">
        <p14:creationId xmlns:p14="http://schemas.microsoft.com/office/powerpoint/2010/main" val="1476214641"/>
      </p:ext>
    </p:extLst>
  </p:cSld>
</p:sld>
</file>

<file path=ppt/slides/slide1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Who performs the next process?">
            <a:extLst xmlns:a="http://schemas.openxmlformats.org/drawingml/2006/main">
              <a:ext uri="{FF2B5EF4-FFF2-40B4-BE49-F238E27FC236}">
                <a16:creationId xmlns:a16="http://schemas.microsoft.com/office/drawing/2014/main" id="{58FD18D6-985A-4090-A1E2-DCC6DE44A081}"/>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Who performs the next process?</a:t>
            </a:r>
          </a:p>
        </p:txBody>
      </p:sp>
      <p:sp>
        <p:nvSpPr>
          <p:cNvPr id="2" name="Conventional route">
            <a:extLst xmlns:a="http://schemas.openxmlformats.org/drawingml/2006/main">
              <a:ext uri="{FF2B5EF4-FFF2-40B4-BE49-F238E27FC236}">
                <a16:creationId xmlns:a16="http://schemas.microsoft.com/office/drawing/2014/main" id="{65724E24-DEA6-4963-901C-5E1EBDE9A06E}"/>
              </a:ext>
            </a:extLst>
          </p:cNvPr>
          <p:cNvSpPr>
            <a:spLocks xmlns:a="http://schemas.openxmlformats.org/drawingml/2006/main" noGrp="1"/>
          </p:cNvSpPr>
          <p:nvPr/>
        </p:nvSpPr>
        <p:spPr>
          <a:xfrm xmlns:a="http://schemas.openxmlformats.org/drawingml/2006/main">
            <a:off x="647700" y="15430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EAC184"/>
                </a:solidFill>
                <a:latin typeface="Arial"/>
                <a:ea typeface="Arial"/>
                <a:cs typeface="Arial"/>
              </a:defRPr>
            </a:pPr>
            <a:r>
              <a:rPr sz="2400" b="1">
                <a:solidFill>
                  <a:srgbClr val="EAC184"/>
                </a:solidFill>
                <a:latin typeface="Arial"/>
                <a:ea typeface="Arial"/>
                <a:cs typeface="Arial"/>
              </a:rPr>
              <a:t>Conventional route</a:t>
            </a:r>
          </a:p>
        </p:txBody>
      </p:sp>
      <p:sp>
        <p:nvSpPr>
          <p:cNvPr id="3" name="Tree   /   logger   /   truck   /   sawmill   /   kiln&#10;">
            <a:extLst xmlns:a="http://schemas.openxmlformats.org/drawingml/2006/main">
              <a:ext uri="{FF2B5EF4-FFF2-40B4-BE49-F238E27FC236}">
                <a16:creationId xmlns:a16="http://schemas.microsoft.com/office/drawing/2014/main" id="{616A6461-3275-4211-AA10-7081262403B0}"/>
              </a:ext>
            </a:extLst>
          </p:cNvPr>
          <p:cNvSpPr>
            <a:spLocks xmlns:a="http://schemas.openxmlformats.org/drawingml/2006/main" noGrp="1"/>
          </p:cNvSpPr>
          <p:nvPr/>
        </p:nvSpPr>
        <p:spPr>
          <a:xfrm xmlns:a="http://schemas.openxmlformats.org/drawingml/2006/main">
            <a:off x="647700" y="21336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Tree   /   logger   /   truck   /   sawmill   /   kiln</a:t>
            </a:r>
          </a:p>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Wholesaler   /   retailer   /   framer   /   house</a:t>
            </a:r>
          </a:p>
        </p:txBody>
      </p:sp>
      <p:sp>
        <p:nvSpPr>
          <p:cNvPr id="4" name="Proposed local route">
            <a:extLst xmlns:a="http://schemas.openxmlformats.org/drawingml/2006/main">
              <a:ext uri="{FF2B5EF4-FFF2-40B4-BE49-F238E27FC236}">
                <a16:creationId xmlns:a16="http://schemas.microsoft.com/office/drawing/2014/main" id="{1A92B1A2-148B-4143-84E5-2A60E0481EF1}"/>
              </a:ext>
            </a:extLst>
          </p:cNvPr>
          <p:cNvSpPr>
            <a:spLocks xmlns:a="http://schemas.openxmlformats.org/drawingml/2006/main" noGrp="1"/>
          </p:cNvSpPr>
          <p:nvPr/>
        </p:nvSpPr>
        <p:spPr>
          <a:xfrm xmlns:a="http://schemas.openxmlformats.org/drawingml/2006/main">
            <a:off x="647700" y="36385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EAC184"/>
                </a:solidFill>
                <a:latin typeface="Arial"/>
                <a:ea typeface="Arial"/>
                <a:cs typeface="Arial"/>
              </a:defRPr>
            </a:pPr>
            <a:r>
              <a:rPr sz="2400" b="1">
                <a:solidFill>
                  <a:srgbClr val="EAC184"/>
                </a:solidFill>
                <a:latin typeface="Arial"/>
                <a:ea typeface="Arial"/>
                <a:cs typeface="Arial"/>
              </a:rPr>
              <a:t>Proposed local route</a:t>
            </a:r>
          </a:p>
        </p:txBody>
      </p:sp>
      <p:sp>
        <p:nvSpPr>
          <p:cNvPr id="5" name="Tree   /   radial processing   /   drying&#10;Jig   /   tri">
            <a:extLst xmlns:a="http://schemas.openxmlformats.org/drawingml/2006/main">
              <a:ext uri="{FF2B5EF4-FFF2-40B4-BE49-F238E27FC236}">
                <a16:creationId xmlns:a16="http://schemas.microsoft.com/office/drawing/2014/main" id="{B3EC68C2-C0A9-4634-AE79-28540FE5016D}"/>
              </a:ext>
            </a:extLst>
          </p:cNvPr>
          <p:cNvSpPr>
            <a:spLocks xmlns:a="http://schemas.openxmlformats.org/drawingml/2006/main" noGrp="1"/>
          </p:cNvSpPr>
          <p:nvPr/>
        </p:nvSpPr>
        <p:spPr>
          <a:xfrm xmlns:a="http://schemas.openxmlformats.org/drawingml/2006/main">
            <a:off x="647700" y="42291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Tree   /   radial processing   /   drying</a:t>
            </a:r>
          </a:p>
          <a:p xmlns:a="http://schemas.openxmlformats.org/drawingml/2006/main">
            <a:pPr>
              <a:defRPr sz="2550" b="0">
                <a:solidFill>
                  <a:srgbClr val="F3F0E7"/>
                </a:solidFill>
                <a:latin typeface="Arial"/>
                <a:ea typeface="Arial"/>
                <a:cs typeface="Arial"/>
              </a:defRPr>
            </a:pPr>
            <a:r>
              <a:rPr sz="2550" b="0">
                <a:solidFill>
                  <a:srgbClr val="F3F0E7"/>
                </a:solidFill>
                <a:latin typeface="Arial"/>
                <a:ea typeface="Arial"/>
                <a:cs typeface="Arial"/>
              </a:rPr>
              <a:t>Jig   /   triangular assembly   /   dome</a:t>
            </a:r>
          </a:p>
        </p:txBody>
      </p:sp>
      <p:sp>
        <p:nvSpPr>
          <p:cNvPr id="6" name="Alternative production routes. Self-building internaliz">
            <a:extLst xmlns:a="http://schemas.openxmlformats.org/drawingml/2006/main">
              <a:ext uri="{FF2B5EF4-FFF2-40B4-BE49-F238E27FC236}">
                <a16:creationId xmlns:a16="http://schemas.microsoft.com/office/drawing/2014/main" id="{F29D5165-B16E-45D9-94B9-425D9CF8C92C}"/>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Alternative production routes. Self-building internalizes work and costs.</a:t>
            </a:r>
          </a:p>
        </p:txBody>
      </p:sp>
      <p:sp>
        <p:nvSpPr>
          <p:cNvPr id="7" name="13">
            <a:extLst xmlns:a="http://schemas.openxmlformats.org/drawingml/2006/main">
              <a:ext uri="{FF2B5EF4-FFF2-40B4-BE49-F238E27FC236}">
                <a16:creationId xmlns:a16="http://schemas.microsoft.com/office/drawing/2014/main" id="{9C10CF4A-4654-497C-B000-46A285C2BC50}"/>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13</a:t>
            </a:r>
          </a:p>
        </p:txBody>
      </p:sp>
    </p:spTree>
    <p:extLst>
      <p:ext uri="{BB962C8B-B14F-4D97-AF65-F5344CB8AC3E}">
        <p14:creationId xmlns:p14="http://schemas.microsoft.com/office/powerpoint/2010/main" val="628638944"/>
      </p:ext>
    </p:extLst>
  </p:cSld>
</p:sld>
</file>

<file path=ppt/slides/slide1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Different owners quote different values">
            <a:extLst xmlns:a="http://schemas.openxmlformats.org/drawingml/2006/main">
              <a:ext uri="{FF2B5EF4-FFF2-40B4-BE49-F238E27FC236}">
                <a16:creationId xmlns:a16="http://schemas.microsoft.com/office/drawing/2014/main" id="{65F17A30-9C80-4BE1-A1B6-6EB24219B7C0}"/>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Different owners quote different values</a:t>
            </a:r>
          </a:p>
        </p:txBody>
      </p:sp>
      <p:sp>
        <p:nvSpPr>
          <p:cNvPr id="2" name="Landowner: standing timber">
            <a:extLst xmlns:a="http://schemas.openxmlformats.org/drawingml/2006/main">
              <a:ext uri="{FF2B5EF4-FFF2-40B4-BE49-F238E27FC236}">
                <a16:creationId xmlns:a16="http://schemas.microsoft.com/office/drawing/2014/main" id="{DC5FC925-737C-485E-9883-E95557C4DBCD}"/>
              </a:ext>
            </a:extLst>
          </p:cNvPr>
          <p:cNvSpPr>
            <a:spLocks xmlns:a="http://schemas.openxmlformats.org/drawingml/2006/main" noGrp="1"/>
          </p:cNvSpPr>
          <p:nvPr/>
        </p:nvSpPr>
        <p:spPr>
          <a:xfrm xmlns:a="http://schemas.openxmlformats.org/drawingml/2006/main">
            <a:off x="647700" y="15240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Landowner: standing timber</a:t>
            </a:r>
          </a:p>
        </p:txBody>
      </p:sp>
      <p:sp>
        <p:nvSpPr>
          <p:cNvPr id="3" name="Firewood seller and sawmill: processed material">
            <a:extLst xmlns:a="http://schemas.openxmlformats.org/drawingml/2006/main">
              <a:ext uri="{FF2B5EF4-FFF2-40B4-BE49-F238E27FC236}">
                <a16:creationId xmlns:a16="http://schemas.microsoft.com/office/drawing/2014/main" id="{9809913B-D6F8-4786-9550-872C9DD80810}"/>
              </a:ext>
            </a:extLst>
          </p:cNvPr>
          <p:cNvSpPr>
            <a:spLocks xmlns:a="http://schemas.openxmlformats.org/drawingml/2006/main" noGrp="1"/>
          </p:cNvSpPr>
          <p:nvPr/>
        </p:nvSpPr>
        <p:spPr>
          <a:xfrm xmlns:a="http://schemas.openxmlformats.org/drawingml/2006/main">
            <a:off x="647700" y="2352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Firewood seller and sawmill: processed material</a:t>
            </a:r>
          </a:p>
        </p:txBody>
      </p:sp>
      <p:sp>
        <p:nvSpPr>
          <p:cNvPr id="4" name="Lumberyard: drying, grading, stocking and retail">
            <a:extLst xmlns:a="http://schemas.openxmlformats.org/drawingml/2006/main">
              <a:ext uri="{FF2B5EF4-FFF2-40B4-BE49-F238E27FC236}">
                <a16:creationId xmlns:a16="http://schemas.microsoft.com/office/drawing/2014/main" id="{6BBE1107-1399-48EB-AC0B-38F9C375F4B6}"/>
              </a:ext>
            </a:extLst>
          </p:cNvPr>
          <p:cNvSpPr>
            <a:spLocks xmlns:a="http://schemas.openxmlformats.org/drawingml/2006/main" noGrp="1"/>
          </p:cNvSpPr>
          <p:nvPr/>
        </p:nvSpPr>
        <p:spPr>
          <a:xfrm xmlns:a="http://schemas.openxmlformats.org/drawingml/2006/main">
            <a:off x="647700" y="31813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Lumberyard: drying, grading, stocking and retail</a:t>
            </a:r>
          </a:p>
        </p:txBody>
      </p:sp>
      <p:sp>
        <p:nvSpPr>
          <p:cNvPr id="5" name="Framer: installed structural function">
            <a:extLst xmlns:a="http://schemas.openxmlformats.org/drawingml/2006/main">
              <a:ext uri="{FF2B5EF4-FFF2-40B4-BE49-F238E27FC236}">
                <a16:creationId xmlns:a16="http://schemas.microsoft.com/office/drawing/2014/main" id="{C04C8D51-D7EE-49FF-88F5-D45F4D45AEE0}"/>
              </a:ext>
            </a:extLst>
          </p:cNvPr>
          <p:cNvSpPr>
            <a:spLocks xmlns:a="http://schemas.openxmlformats.org/drawingml/2006/main" noGrp="1"/>
          </p:cNvSpPr>
          <p:nvPr/>
        </p:nvSpPr>
        <p:spPr>
          <a:xfrm xmlns:a="http://schemas.openxmlformats.org/drawingml/2006/main">
            <a:off x="647700" y="40100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Framer: installed structural function</a:t>
            </a:r>
          </a:p>
        </p:txBody>
      </p:sp>
      <p:sp>
        <p:nvSpPr>
          <p:cNvPr id="6" name="Lender: the payment stream that funds the work">
            <a:extLst xmlns:a="http://schemas.openxmlformats.org/drawingml/2006/main">
              <a:ext uri="{FF2B5EF4-FFF2-40B4-BE49-F238E27FC236}">
                <a16:creationId xmlns:a16="http://schemas.microsoft.com/office/drawing/2014/main" id="{9D0EBA22-B6D5-4A9A-BDF7-5B6A8ACB38EA}"/>
              </a:ext>
            </a:extLst>
          </p:cNvPr>
          <p:cNvSpPr>
            <a:spLocks xmlns:a="http://schemas.openxmlformats.org/drawingml/2006/main" noGrp="1"/>
          </p:cNvSpPr>
          <p:nvPr/>
        </p:nvSpPr>
        <p:spPr>
          <a:xfrm xmlns:a="http://schemas.openxmlformats.org/drawingml/2006/main">
            <a:off x="647700" y="48387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Lender: the payment stream that funds the work</a:t>
            </a:r>
          </a:p>
        </p:txBody>
      </p:sp>
      <p:sp>
        <p:nvSpPr>
          <p:cNvPr id="7" name="14">
            <a:extLst xmlns:a="http://schemas.openxmlformats.org/drawingml/2006/main">
              <a:ext uri="{FF2B5EF4-FFF2-40B4-BE49-F238E27FC236}">
                <a16:creationId xmlns:a16="http://schemas.microsoft.com/office/drawing/2014/main" id="{9634CF29-309B-4C62-9258-BA9D298CE5E8}"/>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14</a:t>
            </a:r>
          </a:p>
        </p:txBody>
      </p:sp>
    </p:spTree>
    <p:extLst>
      <p:ext uri="{BB962C8B-B14F-4D97-AF65-F5344CB8AC3E}">
        <p14:creationId xmlns:p14="http://schemas.microsoft.com/office/powerpoint/2010/main" val="1859518263"/>
      </p:ext>
    </p:extLst>
  </p:cSld>
</p:sld>
</file>

<file path=ppt/slides/slide1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The two-tree comparison">
            <a:extLst xmlns:a="http://schemas.openxmlformats.org/drawingml/2006/main">
              <a:ext uri="{FF2B5EF4-FFF2-40B4-BE49-F238E27FC236}">
                <a16:creationId xmlns:a16="http://schemas.microsoft.com/office/drawing/2014/main" id="{C80020BE-0AE2-414F-B913-57854829883F}"/>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two-tree comparison</a:t>
            </a:r>
          </a:p>
        </p:txBody>
      </p:sp>
      <p:graphicFrame>
        <p:nvGraphicFramePr>
          <p:cNvPr id="6" name=""/>
          <p:cNvGraphicFramePr/>
          <p:nvPr/>
        </p:nvGraphicFramePr>
        <p:xfrm>
          <a:off xmlns:a="http://schemas.openxmlformats.org/drawingml/2006/main" x="609600" y="1552575"/>
          <a:ext xmlns:a="http://schemas.openxmlformats.org/drawingml/2006/main" cx="10972800" cy="3314700"/>
        </p:xfrm>
        <a:graphic xmlns:a="http://schemas.openxmlformats.org/drawingml/2006/main">
          <a:graphicData uri="http://schemas.openxmlformats.org/drawingml/2006/table">
            <a:tbl>
              <a:tblPr/>
              <a:tblGrid>
                <a:gridCol w="4095750"/>
                <a:gridCol w="2647950"/>
                <a:gridCol w="4229100"/>
              </a:tblGrid>
              <a:tr h="552450">
                <a:tc>
                  <a:txBody>
                    <a:bodyPr/>
                    <a:lstStyle/>
                    <a:p>
                      <a:r>
                        <a:rPr sz="1800" b="1">
                          <a:solidFill>
                            <a:srgbClr val="9ED0B5"/>
                          </a:solidFill>
                          <a:latin typeface="Arial"/>
                          <a:ea typeface="Arial"/>
                          <a:cs typeface="Arial"/>
                        </a:rPr>
                        <a:t>Use or measure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Two-tree quantity</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Approximate amount</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Two suitable trees</a:t>
                      </a:r>
                    </a:p>
                  </a:txBody>
                  <a:tcPr marL="114300" marR="76200" marT="95250" marB="76200" anchor="ctr">
                    <a:solidFill>
                      <a:srgbClr val="080D10"/>
                    </a:solidFill>
                  </a:tcPr>
                </a:tc>
                <a:tc>
                  <a:txBody>
                    <a:bodyPr/>
                    <a:lstStyle/>
                    <a:p>
                      <a:r>
                        <a:rPr sz="1875">
                          <a:solidFill>
                            <a:srgbClr val="F3F0E7"/>
                          </a:solidFill>
                          <a:latin typeface="Arial"/>
                          <a:ea typeface="Arial"/>
                          <a:cs typeface="Arial"/>
                        </a:rPr>
                        <a:t>$20–$70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Retail-equivalent 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0.7–0.9 cord</a:t>
                      </a:r>
                    </a:p>
                  </a:txBody>
                  <a:tcPr marL="114300" marR="76200" marT="95250" marB="76200" anchor="ctr">
                    <a:solidFill>
                      <a:srgbClr val="080D10"/>
                    </a:solidFill>
                  </a:tcPr>
                </a:tc>
                <a:tc>
                  <a:txBody>
                    <a:bodyPr/>
                    <a:lstStyle/>
                    <a:p>
                      <a:r>
                        <a:rPr sz="1875">
                          <a:solidFill>
                            <a:srgbClr val="F3F0E7"/>
                          </a:solidFill>
                          <a:latin typeface="Arial"/>
                          <a:ea typeface="Arial"/>
                          <a:cs typeface="Arial"/>
                        </a:rPr>
                        <a:t>$190–$270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 pine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550 BF</a:t>
                      </a:r>
                    </a:p>
                  </a:txBody>
                  <a:tcPr marL="114300" marR="76200" marT="95250" marB="76200" anchor="ctr">
                    <a:solidFill>
                      <a:srgbClr val="080D10"/>
                    </a:solidFill>
                  </a:tcPr>
                </a:tc>
                <a:tc>
                  <a:txBody>
                    <a:bodyPr/>
                    <a:lstStyle/>
                    <a:p>
                      <a:r>
                        <a:rPr sz="1875">
                          <a:solidFill>
                            <a:srgbClr val="F3F0E7"/>
                          </a:solidFill>
                          <a:latin typeface="Arial"/>
                          <a:ea typeface="Arial"/>
                          <a:cs typeface="Arial"/>
                        </a:rPr>
                        <a:t>$660–$825</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Framing substitution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300 ft² shell scenario</a:t>
                      </a:r>
                    </a:p>
                  </a:txBody>
                  <a:tcPr marL="114300" marR="76200" marT="95250" marB="76200" anchor="ctr">
                    <a:solidFill>
                      <a:srgbClr val="080D10"/>
                    </a:solidFill>
                  </a:tcPr>
                </a:tc>
                <a:tc>
                  <a:txBody>
                    <a:bodyPr/>
                    <a:lstStyle/>
                    <a:p>
                      <a:r>
                        <a:rPr sz="1875">
                          <a:solidFill>
                            <a:srgbClr val="F3F0E7"/>
                          </a:solidFill>
                          <a:latin typeface="Arial"/>
                          <a:ea typeface="Arial"/>
                          <a:cs typeface="Arial"/>
                        </a:rPr>
                        <a:t>$4,800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Financed payments avoided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6.5%, 30 years</a:t>
                      </a:r>
                    </a:p>
                  </a:txBody>
                  <a:tcPr marL="114300" marR="76200" marT="95250" marB="76200" anchor="ctr">
                    <a:solidFill>
                      <a:srgbClr val="080D10"/>
                    </a:solidFill>
                  </a:tcPr>
                </a:tc>
                <a:tc>
                  <a:txBody>
                    <a:bodyPr/>
                    <a:lstStyle/>
                    <a:p>
                      <a:r>
                        <a:rPr sz="1875">
                          <a:solidFill>
                            <a:srgbClr val="F3F0E7"/>
                          </a:solidFill>
                          <a:latin typeface="Arial"/>
                          <a:ea typeface="Arial"/>
                          <a:cs typeface="Arial"/>
                        </a:rPr>
                        <a:t>$10,922 nominal</a:t>
                      </a:r>
                    </a:p>
                  </a:txBody>
                  <a:tcPr marL="114300" marR="76200" marT="95250" marB="76200" anchor="ctr">
                    <a:solidFill>
                      <a:srgbClr val="080D10"/>
                    </a:solidFill>
                  </a:tcPr>
                </a:tc>
              </a:tr>
            </a:tbl>
          </a:graphicData>
        </a:graphic>
      </p:graphicFrame>
      <p:sp>
        <p:nvSpPr>
          <p:cNvPr id="3" name="Illustrative gross comparisons. The shell figure exclud">
            <a:extLst xmlns:a="http://schemas.openxmlformats.org/drawingml/2006/main">
              <a:ext uri="{FF2B5EF4-FFF2-40B4-BE49-F238E27FC236}">
                <a16:creationId xmlns:a16="http://schemas.microsoft.com/office/drawing/2014/main" id="{87D50C84-F997-4490-807B-C5213A4ED534}"/>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gross comparisons. The shell figure excludes the other costs of a completed home.</a:t>
            </a:r>
          </a:p>
        </p:txBody>
      </p:sp>
      <p:sp>
        <p:nvSpPr>
          <p:cNvPr id="4" name="15">
            <a:extLst xmlns:a="http://schemas.openxmlformats.org/drawingml/2006/main">
              <a:ext uri="{FF2B5EF4-FFF2-40B4-BE49-F238E27FC236}">
                <a16:creationId xmlns:a16="http://schemas.microsoft.com/office/drawing/2014/main" id="{0FD72C18-A3B2-4DC5-9EA2-9DF1A211BA33}"/>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15</a:t>
            </a:r>
          </a:p>
        </p:txBody>
      </p:sp>
    </p:spTree>
    <p:extLst>
      <p:ext uri="{BB962C8B-B14F-4D97-AF65-F5344CB8AC3E}">
        <p14:creationId xmlns:p14="http://schemas.microsoft.com/office/powerpoint/2010/main" val="1916831602"/>
      </p:ext>
    </p:extLst>
  </p:cSld>
</p:sld>
</file>

<file path=ppt/slides/slide1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Principal and future payments">
            <a:extLst xmlns:a="http://schemas.openxmlformats.org/drawingml/2006/main">
              <a:ext uri="{FF2B5EF4-FFF2-40B4-BE49-F238E27FC236}">
                <a16:creationId xmlns:a16="http://schemas.microsoft.com/office/drawing/2014/main" id="{93207BCD-E906-4251-A38C-981BA88F3F20}"/>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Principal and future payments</a:t>
            </a:r>
          </a:p>
        </p:txBody>
      </p:sp>
      <p:sp>
        <p:nvSpPr>
          <p:cNvPr id="2" name="$4,800">
            <a:extLst xmlns:a="http://schemas.openxmlformats.org/drawingml/2006/main">
              <a:ext uri="{FF2B5EF4-FFF2-40B4-BE49-F238E27FC236}">
                <a16:creationId xmlns:a16="http://schemas.microsoft.com/office/drawing/2014/main" id="{D9A2CC6E-4598-4709-BB05-F0F08AEB5160}"/>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$4,800</a:t>
            </a:r>
          </a:p>
        </p:txBody>
      </p:sp>
      <p:sp>
        <p:nvSpPr>
          <p:cNvPr id="3" name="Assumed principal avoided">
            <a:extLst xmlns:a="http://schemas.openxmlformats.org/drawingml/2006/main">
              <a:ext uri="{FF2B5EF4-FFF2-40B4-BE49-F238E27FC236}">
                <a16:creationId xmlns:a16="http://schemas.microsoft.com/office/drawing/2014/main" id="{DF5F45D5-1B5B-460D-A363-44D14A05C019}"/>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Assumed principal avoided</a:t>
            </a:r>
          </a:p>
        </p:txBody>
      </p:sp>
      <p:sp>
        <p:nvSpPr>
          <p:cNvPr id="4" name="$30.34/month">
            <a:extLst xmlns:a="http://schemas.openxmlformats.org/drawingml/2006/main">
              <a:ext uri="{FF2B5EF4-FFF2-40B4-BE49-F238E27FC236}">
                <a16:creationId xmlns:a16="http://schemas.microsoft.com/office/drawing/2014/main" id="{15605537-336C-4FD0-BC96-B60FC380155B}"/>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$30.34/month</a:t>
            </a:r>
          </a:p>
        </p:txBody>
      </p:sp>
      <p:sp>
        <p:nvSpPr>
          <p:cNvPr id="5" name="Principal and interest at 6.5% for 30 years">
            <a:extLst xmlns:a="http://schemas.openxmlformats.org/drawingml/2006/main">
              <a:ext uri="{FF2B5EF4-FFF2-40B4-BE49-F238E27FC236}">
                <a16:creationId xmlns:a16="http://schemas.microsoft.com/office/drawing/2014/main" id="{0F4CB6C6-CCF0-4551-888D-8ABB28AAE8AE}"/>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Principal and interest at 6.5% for 30 years</a:t>
            </a:r>
          </a:p>
        </p:txBody>
      </p:sp>
      <p:sp>
        <p:nvSpPr>
          <p:cNvPr id="6" name="$10,922">
            <a:extLst xmlns:a="http://schemas.openxmlformats.org/drawingml/2006/main">
              <a:ext uri="{FF2B5EF4-FFF2-40B4-BE49-F238E27FC236}">
                <a16:creationId xmlns:a16="http://schemas.microsoft.com/office/drawing/2014/main" id="{D3B4BD4A-A86A-426A-BA74-FD33C78951B7}"/>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$10,922</a:t>
            </a:r>
          </a:p>
        </p:txBody>
      </p:sp>
      <p:sp>
        <p:nvSpPr>
          <p:cNvPr id="7" name="360 nominal payments in total">
            <a:extLst xmlns:a="http://schemas.openxmlformats.org/drawingml/2006/main">
              <a:ext uri="{FF2B5EF4-FFF2-40B4-BE49-F238E27FC236}">
                <a16:creationId xmlns:a16="http://schemas.microsoft.com/office/drawing/2014/main" id="{D34ED5C1-0AD2-4D10-B2AC-C075CA3D34FB}"/>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360 nominal payments in total</a:t>
            </a:r>
          </a:p>
        </p:txBody>
      </p:sp>
      <p:sp>
        <p:nvSpPr>
          <p:cNvPr id="8" name="Illustrative fixed-rate loan calculation. $10,922 is a ">
            <a:extLst xmlns:a="http://schemas.openxmlformats.org/drawingml/2006/main">
              <a:ext uri="{FF2B5EF4-FFF2-40B4-BE49-F238E27FC236}">
                <a16:creationId xmlns:a16="http://schemas.microsoft.com/office/drawing/2014/main" id="{EFE2A262-4665-46CC-8D35-96A2B638E2A4}"/>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fixed-rate loan calculation. $10,922 is a future nominal total, not present value.</a:t>
            </a:r>
          </a:p>
        </p:txBody>
      </p:sp>
      <p:sp>
        <p:nvSpPr>
          <p:cNvPr id="9" name="16">
            <a:extLst xmlns:a="http://schemas.openxmlformats.org/drawingml/2006/main">
              <a:ext uri="{FF2B5EF4-FFF2-40B4-BE49-F238E27FC236}">
                <a16:creationId xmlns:a16="http://schemas.microsoft.com/office/drawing/2014/main" id="{C95054F4-3E22-41E9-A325-D1352A90DEFE}"/>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16</a:t>
            </a:r>
          </a:p>
        </p:txBody>
      </p:sp>
    </p:spTree>
    <p:extLst>
      <p:ext uri="{BB962C8B-B14F-4D97-AF65-F5344CB8AC3E}">
        <p14:creationId xmlns:p14="http://schemas.microsoft.com/office/powerpoint/2010/main" val="1526220084"/>
      </p:ext>
    </p:extLst>
  </p:cSld>
</p:sld>
</file>

<file path=ppt/slides/slide17.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Fuel and durable capital">
            <a:extLst xmlns:a="http://schemas.openxmlformats.org/drawingml/2006/main">
              <a:ext uri="{FF2B5EF4-FFF2-40B4-BE49-F238E27FC236}">
                <a16:creationId xmlns:a16="http://schemas.microsoft.com/office/drawing/2014/main" id="{2025275C-4B58-4EEA-A213-46BD15E6AFC1}"/>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Fuel and durable capital</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95ff806f4f64006"/>
          <a:stretch xmlns:a="http://schemas.openxmlformats.org/drawingml/2006/main"/>
        </p:blipFill>
        <p:spPr>
          <a:xfrm xmlns:a="http://schemas.openxmlformats.org/drawingml/2006/main">
            <a:off x="5670777" y="1447800"/>
            <a:ext cx="5851071" cy="4095750"/>
          </a:xfrm>
          <a:prstGeom xmlns:a="http://schemas.openxmlformats.org/drawingml/2006/main" prst="rect">
            <a:avLst/>
          </a:prstGeom>
        </p:spPr>
      </p:pic>
      <p:sp>
        <p:nvSpPr>
          <p:cNvPr id="3" name="$250 of illustrative fuel&#10;value used once">
            <a:extLst xmlns:a="http://schemas.openxmlformats.org/drawingml/2006/main">
              <a:ext uri="{FF2B5EF4-FFF2-40B4-BE49-F238E27FC236}">
                <a16:creationId xmlns:a16="http://schemas.microsoft.com/office/drawing/2014/main" id="{1FF7D149-0B6E-4075-BE9D-0F8E3325B24E}"/>
              </a:ext>
            </a:extLst>
          </p:cNvPr>
          <p:cNvSpPr>
            <a:spLocks xmlns:a="http://schemas.openxmlformats.org/drawingml/2006/main" noGrp="1"/>
          </p:cNvSpPr>
          <p:nvPr/>
        </p:nvSpPr>
        <p:spPr>
          <a:xfrm xmlns:a="http://schemas.openxmlformats.org/drawingml/2006/main">
            <a:off x="647700" y="168592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$250 of illustrative fuel</a:t>
            </a:r>
          </a:p>
          <a:p xmlns:a="http://schemas.openxmlformats.org/drawingml/2006/main">
            <a:pPr>
              <a:defRPr sz="2250" b="1">
                <a:solidFill>
                  <a:srgbClr val="EAC184"/>
                </a:solidFill>
                <a:latin typeface="Arial"/>
                <a:ea typeface="Arial"/>
                <a:cs typeface="Arial"/>
              </a:defRPr>
            </a:pPr>
            <a:r>
              <a:rPr sz="2250" b="1">
                <a:solidFill>
                  <a:srgbClr val="EAC184"/>
                </a:solidFill>
                <a:latin typeface="Arial"/>
                <a:ea typeface="Arial"/>
                <a:cs typeface="Arial"/>
              </a:rPr>
              <a:t>value used once</a:t>
            </a:r>
          </a:p>
        </p:txBody>
      </p:sp>
      <p:sp>
        <p:nvSpPr>
          <p:cNvPr id="4" name="$4,800 of modeled framing&#10;substitution">
            <a:extLst xmlns:a="http://schemas.openxmlformats.org/drawingml/2006/main">
              <a:ext uri="{FF2B5EF4-FFF2-40B4-BE49-F238E27FC236}">
                <a16:creationId xmlns:a16="http://schemas.microsoft.com/office/drawing/2014/main" id="{E78D8A39-E898-434D-AA04-A4D747C63100}"/>
              </a:ext>
            </a:extLst>
          </p:cNvPr>
          <p:cNvSpPr>
            <a:spLocks xmlns:a="http://schemas.openxmlformats.org/drawingml/2006/main" noGrp="1"/>
          </p:cNvSpPr>
          <p:nvPr/>
        </p:nvSpPr>
        <p:spPr>
          <a:xfrm xmlns:a="http://schemas.openxmlformats.org/drawingml/2006/main">
            <a:off x="647700" y="2990850"/>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$4,800 of modeled framing</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substitution</a:t>
            </a:r>
          </a:p>
        </p:txBody>
      </p:sp>
      <p:sp>
        <p:nvSpPr>
          <p:cNvPr id="5" name="A useful structure can&#10;provide service over time">
            <a:extLst xmlns:a="http://schemas.openxmlformats.org/drawingml/2006/main">
              <a:ext uri="{FF2B5EF4-FFF2-40B4-BE49-F238E27FC236}">
                <a16:creationId xmlns:a16="http://schemas.microsoft.com/office/drawing/2014/main" id="{3531642F-0121-4D89-A3BB-B0C69AF25B2A}"/>
              </a:ext>
            </a:extLst>
          </p:cNvPr>
          <p:cNvSpPr>
            <a:spLocks xmlns:a="http://schemas.openxmlformats.org/drawingml/2006/main" noGrp="1"/>
          </p:cNvSpPr>
          <p:nvPr/>
        </p:nvSpPr>
        <p:spPr>
          <a:xfrm xmlns:a="http://schemas.openxmlformats.org/drawingml/2006/main">
            <a:off x="647700" y="4295775"/>
            <a:ext cx="4667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A useful structure can</a:t>
            </a:r>
          </a:p>
          <a:p xmlns:a="http://schemas.openxmlformats.org/drawingml/2006/main">
            <a:pPr>
              <a:defRPr sz="2250" b="0">
                <a:solidFill>
                  <a:srgbClr val="F3F0E7"/>
                </a:solidFill>
                <a:latin typeface="Arial"/>
                <a:ea typeface="Arial"/>
                <a:cs typeface="Arial"/>
              </a:defRPr>
            </a:pPr>
            <a:r>
              <a:rPr sz="2250" b="0">
                <a:solidFill>
                  <a:srgbClr val="F3F0E7"/>
                </a:solidFill>
                <a:latin typeface="Arial"/>
                <a:ea typeface="Arial"/>
                <a:cs typeface="Arial"/>
              </a:rPr>
              <a:t>provide service over time</a:t>
            </a:r>
          </a:p>
        </p:txBody>
      </p:sp>
      <p:sp>
        <p:nvSpPr>
          <p:cNvPr id="6" name="Concept illustration of a building shell. Durability an">
            <a:extLst xmlns:a="http://schemas.openxmlformats.org/drawingml/2006/main">
              <a:ext uri="{FF2B5EF4-FFF2-40B4-BE49-F238E27FC236}">
                <a16:creationId xmlns:a16="http://schemas.microsoft.com/office/drawing/2014/main" id="{108B3B1B-0153-491B-86B0-7243317E83AE}"/>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Concept illustration of a building shell. Durability and property value depend on the completed project.</a:t>
            </a:r>
          </a:p>
        </p:txBody>
      </p:sp>
      <p:sp>
        <p:nvSpPr>
          <p:cNvPr id="7" name="17">
            <a:extLst xmlns:a="http://schemas.openxmlformats.org/drawingml/2006/main">
              <a:ext uri="{FF2B5EF4-FFF2-40B4-BE49-F238E27FC236}">
                <a16:creationId xmlns:a16="http://schemas.microsoft.com/office/drawing/2014/main" id="{0247B1C4-A0B7-4C87-8757-CCE9702F3E56}"/>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17</a:t>
            </a:r>
          </a:p>
        </p:txBody>
      </p:sp>
    </p:spTree>
    <p:extLst>
      <p:ext uri="{BB962C8B-B14F-4D97-AF65-F5344CB8AC3E}">
        <p14:creationId xmlns:p14="http://schemas.microsoft.com/office/powerpoint/2010/main" val="818214335"/>
      </p:ext>
    </p:extLst>
  </p:cSld>
</p:sld>
</file>

<file path=ppt/slides/slide18.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A highest-use index">
            <a:extLst xmlns:a="http://schemas.openxmlformats.org/drawingml/2006/main">
              <a:ext uri="{FF2B5EF4-FFF2-40B4-BE49-F238E27FC236}">
                <a16:creationId xmlns:a16="http://schemas.microsoft.com/office/drawing/2014/main" id="{506EDB2A-7646-4444-B4B6-4F0DA28262D0}"/>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highest-use index</a:t>
            </a:r>
          </a:p>
        </p:txBody>
      </p:sp>
      <p:graphicFrame>
        <p:nvGraphicFramePr>
          <p:cNvPr id="6" name=""/>
          <p:cNvGraphicFramePr/>
          <p:nvPr/>
        </p:nvGraphicFramePr>
        <p:xfrm>
          <a:off xmlns:a="http://schemas.openxmlformats.org/drawingml/2006/main" x="609600" y="1552575"/>
          <a:ext xmlns:a="http://schemas.openxmlformats.org/drawingml/2006/main" cx="10972800" cy="3314700"/>
        </p:xfrm>
        <a:graphic xmlns:a="http://schemas.openxmlformats.org/drawingml/2006/main">
          <a:graphicData uri="http://schemas.openxmlformats.org/drawingml/2006/table">
            <a:tbl>
              <a:tblPr/>
              <a:tblGrid>
                <a:gridCol w="6667500"/>
                <a:gridCol w="4305300"/>
              </a:tblGrid>
              <a:tr h="552450">
                <a:tc>
                  <a:txBody>
                    <a:bodyPr/>
                    <a:lstStyle/>
                    <a:p>
                      <a:r>
                        <a:rPr sz="1800" b="1">
                          <a:solidFill>
                            <a:srgbClr val="9ED0B5"/>
                          </a:solidFill>
                          <a:latin typeface="Arial"/>
                          <a:ea typeface="Arial"/>
                          <a:cs typeface="Arial"/>
                        </a:rPr>
                        <a:t>Use or measure</a:t>
                      </a:r>
                    </a:p>
                  </a:txBody>
                  <a:tcPr marL="114300" marR="76200" marT="95250" marB="76200" anchor="ctr">
                    <a:solidFill>
                      <a:srgbClr val="152A23"/>
                    </a:solidFill>
                  </a:tcPr>
                </a:tc>
                <a:tc>
                  <a:txBody>
                    <a:bodyPr/>
                    <a:lstStyle/>
                    <a:p>
                      <a:r>
                        <a:rPr sz="1800" b="1">
                          <a:solidFill>
                            <a:srgbClr val="9ED0B5"/>
                          </a:solidFill>
                          <a:latin typeface="Arial"/>
                          <a:ea typeface="Arial"/>
                          <a:cs typeface="Arial"/>
                        </a:rPr>
                        <a:t>Source’s approximate index</a:t>
                      </a:r>
                    </a:p>
                  </a:txBody>
                  <a:tcPr marL="114300" marR="76200" marT="95250" marB="76200" anchor="ctr">
                    <a:solidFill>
                      <a:srgbClr val="152A23"/>
                    </a:solidFill>
                  </a:tcPr>
                </a:tc>
              </a:tr>
              <a:tr h="552450">
                <a:tc>
                  <a:txBody>
                    <a:bodyPr/>
                    <a:lstStyle/>
                    <a:p>
                      <a:r>
                        <a:rPr sz="1875">
                          <a:solidFill>
                            <a:srgbClr val="F3F0E7"/>
                          </a:solidFill>
                          <a:latin typeface="Arial"/>
                          <a:ea typeface="Arial"/>
                          <a:cs typeface="Arial"/>
                        </a:rPr>
                        <a:t>Standing timber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1×</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Firewood</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5×</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Rough lumber</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15–20×</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Dome structural contribution</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100× or more</a:t>
                      </a:r>
                    </a:p>
                  </a:txBody>
                  <a:tcPr marL="114300" marR="76200" marT="95250" marB="76200" anchor="ctr">
                    <a:solidFill>
                      <a:srgbClr val="080D10"/>
                    </a:solidFill>
                  </a:tcPr>
                </a:tc>
              </a:tr>
              <a:tr h="552450">
                <a:tc>
                  <a:txBody>
                    <a:bodyPr/>
                    <a:lstStyle/>
                    <a:p>
                      <a:r>
                        <a:rPr sz="1875">
                          <a:solidFill>
                            <a:srgbClr val="F3F0E7"/>
                          </a:solidFill>
                          <a:latin typeface="Arial"/>
                          <a:ea typeface="Arial"/>
                          <a:cs typeface="Arial"/>
                        </a:rPr>
                        <a:t>Including nominal financing</a:t>
                      </a:r>
                    </a:p>
                  </a:txBody>
                  <a:tcPr marL="114300" marR="76200" marT="95250" marB="76200" anchor="ctr">
                    <a:solidFill>
                      <a:srgbClr val="080D10"/>
                    </a:solidFill>
                  </a:tcPr>
                </a:tc>
                <a:tc>
                  <a:txBody>
                    <a:bodyPr/>
                    <a:lstStyle/>
                    <a:p>
                      <a:r>
                        <a:rPr sz="1875" b="1">
                          <a:solidFill>
                            <a:srgbClr val="EAC184"/>
                          </a:solidFill>
                          <a:latin typeface="Arial"/>
                          <a:ea typeface="Arial"/>
                          <a:cs typeface="Arial"/>
                        </a:rPr>
                        <a:t>About 250× or more</a:t>
                      </a:r>
                    </a:p>
                  </a:txBody>
                  <a:tcPr marL="114300" marR="76200" marT="95250" marB="76200" anchor="ctr">
                    <a:solidFill>
                      <a:srgbClr val="080D10"/>
                    </a:solidFill>
                  </a:tcPr>
                </a:tc>
              </a:tr>
            </a:tbl>
          </a:graphicData>
        </a:graphic>
      </p:graphicFrame>
      <p:sp>
        <p:nvSpPr>
          <p:cNvPr id="3" name="Economic-use indices, not resale-price multipliers. Cat">
            <a:extLst xmlns:a="http://schemas.openxmlformats.org/drawingml/2006/main">
              <a:ext uri="{FF2B5EF4-FFF2-40B4-BE49-F238E27FC236}">
                <a16:creationId xmlns:a16="http://schemas.microsoft.com/office/drawing/2014/main" id="{C7EB37FC-11A7-427C-A213-B571CD74EDB6}"/>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Economic-use indices, not resale-price multipliers. Categories and time horizons differ.</a:t>
            </a:r>
          </a:p>
        </p:txBody>
      </p:sp>
      <p:sp>
        <p:nvSpPr>
          <p:cNvPr id="4" name="18">
            <a:extLst xmlns:a="http://schemas.openxmlformats.org/drawingml/2006/main">
              <a:ext uri="{FF2B5EF4-FFF2-40B4-BE49-F238E27FC236}">
                <a16:creationId xmlns:a16="http://schemas.microsoft.com/office/drawing/2014/main" id="{A10AF873-85D3-44D9-AF46-3D604BDFC672}"/>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18</a:t>
            </a:r>
          </a:p>
        </p:txBody>
      </p:sp>
    </p:spTree>
    <p:extLst>
      <p:ext uri="{BB962C8B-B14F-4D97-AF65-F5344CB8AC3E}">
        <p14:creationId xmlns:p14="http://schemas.microsoft.com/office/powerpoint/2010/main" val="139167684"/>
      </p:ext>
    </p:extLst>
  </p:cSld>
</p:sld>
</file>

<file path=ppt/slides/slide19.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imber value and labor productivity">
            <a:extLst xmlns:a="http://schemas.openxmlformats.org/drawingml/2006/main">
              <a:ext uri="{FF2B5EF4-FFF2-40B4-BE49-F238E27FC236}">
                <a16:creationId xmlns:a16="http://schemas.microsoft.com/office/drawing/2014/main" id="{8CD2FE36-B673-45FC-AD93-6764E6DFDF33}"/>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Timber value and labor productivity</a:t>
            </a:r>
          </a:p>
        </p:txBody>
      </p:sp>
      <p:sp>
        <p:nvSpPr>
          <p:cNvPr id="2" name="96:1">
            <a:extLst xmlns:a="http://schemas.openxmlformats.org/drawingml/2006/main">
              <a:ext uri="{FF2B5EF4-FFF2-40B4-BE49-F238E27FC236}">
                <a16:creationId xmlns:a16="http://schemas.microsoft.com/office/drawing/2014/main" id="{8927782C-24FB-40AB-A893-82E27302ABF6}"/>
              </a:ext>
            </a:extLst>
          </p:cNvPr>
          <p:cNvSpPr>
            <a:spLocks xmlns:a="http://schemas.openxmlformats.org/drawingml/2006/main" noGrp="1"/>
          </p:cNvSpPr>
          <p:nvPr/>
        </p:nvSpPr>
        <p:spPr>
          <a:xfrm xmlns:a="http://schemas.openxmlformats.org/drawingml/2006/main">
            <a:off x="647700" y="166687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96:1</a:t>
            </a:r>
          </a:p>
        </p:txBody>
      </p:sp>
      <p:sp>
        <p:nvSpPr>
          <p:cNvPr id="3" name="Gross framing function per dollar of standing timber">
            <a:extLst xmlns:a="http://schemas.openxmlformats.org/drawingml/2006/main">
              <a:ext uri="{FF2B5EF4-FFF2-40B4-BE49-F238E27FC236}">
                <a16:creationId xmlns:a16="http://schemas.microsoft.com/office/drawing/2014/main" id="{68333FB6-AF93-4231-9FA7-8F9A2452E51F}"/>
              </a:ext>
            </a:extLst>
          </p:cNvPr>
          <p:cNvSpPr>
            <a:spLocks xmlns:a="http://schemas.openxmlformats.org/drawingml/2006/main" noGrp="1"/>
          </p:cNvSpPr>
          <p:nvPr/>
        </p:nvSpPr>
        <p:spPr>
          <a:xfrm xmlns:a="http://schemas.openxmlformats.org/drawingml/2006/main">
            <a:off x="685800" y="2657475"/>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Gross framing function per dollar of standing timber</a:t>
            </a:r>
          </a:p>
        </p:txBody>
      </p:sp>
      <p:sp>
        <p:nvSpPr>
          <p:cNvPr id="4" name="$60/hour">
            <a:extLst xmlns:a="http://schemas.openxmlformats.org/drawingml/2006/main">
              <a:ext uri="{FF2B5EF4-FFF2-40B4-BE49-F238E27FC236}">
                <a16:creationId xmlns:a16="http://schemas.microsoft.com/office/drawing/2014/main" id="{F3EECD98-C75E-4F84-A901-CC91C61264C4}"/>
              </a:ext>
            </a:extLst>
          </p:cNvPr>
          <p:cNvSpPr>
            <a:spLocks xmlns:a="http://schemas.openxmlformats.org/drawingml/2006/main" noGrp="1"/>
          </p:cNvSpPr>
          <p:nvPr/>
        </p:nvSpPr>
        <p:spPr>
          <a:xfrm xmlns:a="http://schemas.openxmlformats.org/drawingml/2006/main">
            <a:off x="647700" y="36195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700" b="1">
                <a:solidFill>
                  <a:srgbClr val="EAC184"/>
                </a:solidFill>
                <a:latin typeface="Arial"/>
                <a:ea typeface="Arial"/>
                <a:cs typeface="Arial"/>
              </a:defRPr>
            </a:pPr>
            <a:r>
              <a:rPr sz="5700" b="1">
                <a:solidFill>
                  <a:srgbClr val="EAC184"/>
                </a:solidFill>
                <a:latin typeface="Arial"/>
                <a:ea typeface="Arial"/>
                <a:cs typeface="Arial"/>
              </a:rPr>
              <a:t>$60/hour</a:t>
            </a:r>
          </a:p>
        </p:txBody>
      </p:sp>
      <p:sp>
        <p:nvSpPr>
          <p:cNvPr id="5" name="Gross framing substitution per work hour">
            <a:extLst xmlns:a="http://schemas.openxmlformats.org/drawingml/2006/main">
              <a:ext uri="{FF2B5EF4-FFF2-40B4-BE49-F238E27FC236}">
                <a16:creationId xmlns:a16="http://schemas.microsoft.com/office/drawing/2014/main" id="{250ABEB8-6ACC-450B-9DA9-CD5C7DDC43EA}"/>
              </a:ext>
            </a:extLst>
          </p:cNvPr>
          <p:cNvSpPr>
            <a:spLocks xmlns:a="http://schemas.openxmlformats.org/drawingml/2006/main" noGrp="1"/>
          </p:cNvSpPr>
          <p:nvPr/>
        </p:nvSpPr>
        <p:spPr>
          <a:xfrm xmlns:a="http://schemas.openxmlformats.org/drawingml/2006/main">
            <a:off x="685800" y="46101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F3F0E7"/>
                </a:solidFill>
                <a:latin typeface="Arial"/>
                <a:ea typeface="Arial"/>
                <a:cs typeface="Arial"/>
              </a:defRPr>
            </a:pPr>
            <a:r>
              <a:rPr sz="2325" b="0">
                <a:solidFill>
                  <a:srgbClr val="F3F0E7"/>
                </a:solidFill>
                <a:latin typeface="Arial"/>
                <a:ea typeface="Arial"/>
                <a:cs typeface="Arial"/>
              </a:rPr>
              <a:t>Gross framing substitution per work hour</a:t>
            </a:r>
          </a:p>
        </p:txBody>
      </p:sp>
      <p:sp>
        <p:nvSpPr>
          <p:cNvPr id="6" name="Source assumptions: $50 combined timber value and 80 wo">
            <a:extLst xmlns:a="http://schemas.openxmlformats.org/drawingml/2006/main">
              <a:ext uri="{FF2B5EF4-FFF2-40B4-BE49-F238E27FC236}">
                <a16:creationId xmlns:a16="http://schemas.microsoft.com/office/drawing/2014/main" id="{456FC8A0-E5CA-4DB8-AA3F-1AF5B03BF9A4}"/>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Source assumptions: $50 combined timber value and 80 work hours. Both ratios are gross.</a:t>
            </a:r>
          </a:p>
        </p:txBody>
      </p:sp>
      <p:sp>
        <p:nvSpPr>
          <p:cNvPr id="7" name="19">
            <a:extLst xmlns:a="http://schemas.openxmlformats.org/drawingml/2006/main">
              <a:ext uri="{FF2B5EF4-FFF2-40B4-BE49-F238E27FC236}">
                <a16:creationId xmlns:a16="http://schemas.microsoft.com/office/drawing/2014/main" id="{B829B667-E32D-42B7-B137-F677569B5122}"/>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19</a:t>
            </a:r>
          </a:p>
        </p:txBody>
      </p:sp>
    </p:spTree>
    <p:extLst>
      <p:ext uri="{BB962C8B-B14F-4D97-AF65-F5344CB8AC3E}">
        <p14:creationId xmlns:p14="http://schemas.microsoft.com/office/powerpoint/2010/main" val="263912558"/>
      </p:ext>
    </p:extLst>
  </p:cSld>
</p:sld>
</file>

<file path=ppt/slides/slide20.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10" name="Each tree’s share of the system">
            <a:extLst xmlns:a="http://schemas.openxmlformats.org/drawingml/2006/main">
              <a:ext uri="{FF2B5EF4-FFF2-40B4-BE49-F238E27FC236}">
                <a16:creationId xmlns:a16="http://schemas.microsoft.com/office/drawing/2014/main" id="{F7F121F6-EA29-4525-8415-5845E520447B}"/>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Each tree’s share of the system</a:t>
            </a:r>
          </a:p>
        </p:txBody>
      </p:sp>
      <p:sp>
        <p:nvSpPr>
          <p:cNvPr id="2" name="$2,400">
            <a:extLst xmlns:a="http://schemas.openxmlformats.org/drawingml/2006/main">
              <a:ext uri="{FF2B5EF4-FFF2-40B4-BE49-F238E27FC236}">
                <a16:creationId xmlns:a16="http://schemas.microsoft.com/office/drawing/2014/main" id="{780C0232-0DC7-43B4-8255-17497C5DBB2E}"/>
              </a:ext>
            </a:extLst>
          </p:cNvPr>
          <p:cNvSpPr>
            <a:spLocks xmlns:a="http://schemas.openxmlformats.org/drawingml/2006/main" noGrp="1"/>
          </p:cNvSpPr>
          <p:nvPr/>
        </p:nvSpPr>
        <p:spPr>
          <a:xfrm xmlns:a="http://schemas.openxmlformats.org/drawingml/2006/main">
            <a:off x="647700" y="15525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$2,400</a:t>
            </a:r>
          </a:p>
        </p:txBody>
      </p:sp>
      <p:sp>
        <p:nvSpPr>
          <p:cNvPr id="3" name="Half of the modeled $4,800 framing function">
            <a:extLst xmlns:a="http://schemas.openxmlformats.org/drawingml/2006/main">
              <a:ext uri="{FF2B5EF4-FFF2-40B4-BE49-F238E27FC236}">
                <a16:creationId xmlns:a16="http://schemas.microsoft.com/office/drawing/2014/main" id="{76F8B902-6B28-4EF5-86FF-316357446CB6}"/>
              </a:ext>
            </a:extLst>
          </p:cNvPr>
          <p:cNvSpPr>
            <a:spLocks xmlns:a="http://schemas.openxmlformats.org/drawingml/2006/main" noGrp="1"/>
          </p:cNvSpPr>
          <p:nvPr/>
        </p:nvSpPr>
        <p:spPr>
          <a:xfrm xmlns:a="http://schemas.openxmlformats.org/drawingml/2006/main">
            <a:off x="676275" y="227647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Half of the modeled $4,800 framing function</a:t>
            </a:r>
          </a:p>
        </p:txBody>
      </p:sp>
      <p:sp>
        <p:nvSpPr>
          <p:cNvPr id="4" name="$5,461">
            <a:extLst xmlns:a="http://schemas.openxmlformats.org/drawingml/2006/main">
              <a:ext uri="{FF2B5EF4-FFF2-40B4-BE49-F238E27FC236}">
                <a16:creationId xmlns:a16="http://schemas.microsoft.com/office/drawing/2014/main" id="{DE998D46-2C8D-4812-B5F7-1ACD39EB09C4}"/>
              </a:ext>
            </a:extLst>
          </p:cNvPr>
          <p:cNvSpPr>
            <a:spLocks xmlns:a="http://schemas.openxmlformats.org/drawingml/2006/main" noGrp="1"/>
          </p:cNvSpPr>
          <p:nvPr/>
        </p:nvSpPr>
        <p:spPr>
          <a:xfrm xmlns:a="http://schemas.openxmlformats.org/drawingml/2006/main">
            <a:off x="647700" y="283845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$5,461</a:t>
            </a:r>
          </a:p>
        </p:txBody>
      </p:sp>
      <p:sp>
        <p:nvSpPr>
          <p:cNvPr id="5" name="Half of the $10,922 nominal payment stream">
            <a:extLst xmlns:a="http://schemas.openxmlformats.org/drawingml/2006/main">
              <a:ext uri="{FF2B5EF4-FFF2-40B4-BE49-F238E27FC236}">
                <a16:creationId xmlns:a16="http://schemas.microsoft.com/office/drawing/2014/main" id="{2C28E303-A84E-4196-B3EC-6DCD041571EF}"/>
              </a:ext>
            </a:extLst>
          </p:cNvPr>
          <p:cNvSpPr>
            <a:spLocks xmlns:a="http://schemas.openxmlformats.org/drawingml/2006/main" noGrp="1"/>
          </p:cNvSpPr>
          <p:nvPr/>
        </p:nvSpPr>
        <p:spPr>
          <a:xfrm xmlns:a="http://schemas.openxmlformats.org/drawingml/2006/main">
            <a:off x="676275" y="35623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Half of the $10,922 nominal payment stream</a:t>
            </a:r>
          </a:p>
        </p:txBody>
      </p:sp>
      <p:sp>
        <p:nvSpPr>
          <p:cNvPr id="6" name="$20 / $100 / $350">
            <a:extLst xmlns:a="http://schemas.openxmlformats.org/drawingml/2006/main">
              <a:ext uri="{FF2B5EF4-FFF2-40B4-BE49-F238E27FC236}">
                <a16:creationId xmlns:a16="http://schemas.microsoft.com/office/drawing/2014/main" id="{102E5F3D-5268-476D-8140-411C718383F5}"/>
              </a:ext>
            </a:extLst>
          </p:cNvPr>
          <p:cNvSpPr>
            <a:spLocks xmlns:a="http://schemas.openxmlformats.org/drawingml/2006/main" noGrp="1"/>
          </p:cNvSpPr>
          <p:nvPr/>
        </p:nvSpPr>
        <p:spPr>
          <a:xfrm xmlns:a="http://schemas.openxmlformats.org/drawingml/2006/main">
            <a:off x="647700" y="412432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EAC184"/>
                </a:solidFill>
                <a:latin typeface="Arial"/>
                <a:ea typeface="Arial"/>
                <a:cs typeface="Arial"/>
              </a:defRPr>
            </a:pPr>
            <a:r>
              <a:rPr sz="4500" b="1">
                <a:solidFill>
                  <a:srgbClr val="EAC184"/>
                </a:solidFill>
                <a:latin typeface="Arial"/>
                <a:ea typeface="Arial"/>
                <a:cs typeface="Arial"/>
              </a:rPr>
              <a:t>$20 / $100 / $350</a:t>
            </a:r>
          </a:p>
        </p:txBody>
      </p:sp>
      <p:sp>
        <p:nvSpPr>
          <p:cNvPr id="7" name="Rounded standing / firewood / lumber examples">
            <a:extLst xmlns:a="http://schemas.openxmlformats.org/drawingml/2006/main">
              <a:ext uri="{FF2B5EF4-FFF2-40B4-BE49-F238E27FC236}">
                <a16:creationId xmlns:a16="http://schemas.microsoft.com/office/drawing/2014/main" id="{B4068997-4EC4-4B9F-BBE1-D5F6C397AD3D}"/>
              </a:ext>
            </a:extLst>
          </p:cNvPr>
          <p:cNvSpPr>
            <a:spLocks xmlns:a="http://schemas.openxmlformats.org/drawingml/2006/main" noGrp="1"/>
          </p:cNvSpPr>
          <p:nvPr/>
        </p:nvSpPr>
        <p:spPr>
          <a:xfrm xmlns:a="http://schemas.openxmlformats.org/drawingml/2006/main">
            <a:off x="676275" y="48482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BAC6C4"/>
                </a:solidFill>
                <a:latin typeface="Arial"/>
                <a:ea typeface="Arial"/>
                <a:cs typeface="Arial"/>
              </a:defRPr>
            </a:pPr>
            <a:r>
              <a:rPr sz="2025" b="0">
                <a:solidFill>
                  <a:srgbClr val="BAC6C4"/>
                </a:solidFill>
                <a:latin typeface="Arial"/>
                <a:ea typeface="Arial"/>
                <a:cs typeface="Arial"/>
              </a:rPr>
              <a:t>Rounded standing / firewood / lumber examples</a:t>
            </a:r>
          </a:p>
        </p:txBody>
      </p:sp>
      <p:sp>
        <p:nvSpPr>
          <p:cNvPr id="8" name="Per-tree allocations under the conservative two-tree ca">
            <a:extLst xmlns:a="http://schemas.openxmlformats.org/drawingml/2006/main">
              <a:ext uri="{FF2B5EF4-FFF2-40B4-BE49-F238E27FC236}">
                <a16:creationId xmlns:a16="http://schemas.microsoft.com/office/drawing/2014/main" id="{3FB5104D-8466-488D-839F-DC777DEC17A1}"/>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Per-tree allocations under the conservative two-tree case. Each larger value depends on successful substitution.</a:t>
            </a:r>
          </a:p>
        </p:txBody>
      </p:sp>
      <p:sp>
        <p:nvSpPr>
          <p:cNvPr id="9" name="20">
            <a:extLst xmlns:a="http://schemas.openxmlformats.org/drawingml/2006/main">
              <a:ext uri="{FF2B5EF4-FFF2-40B4-BE49-F238E27FC236}">
                <a16:creationId xmlns:a16="http://schemas.microsoft.com/office/drawing/2014/main" id="{B6A000B0-CBF5-46F3-856B-928526F0A0C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20</a:t>
            </a:r>
          </a:p>
        </p:txBody>
      </p:sp>
    </p:spTree>
    <p:extLst>
      <p:ext uri="{BB962C8B-B14F-4D97-AF65-F5344CB8AC3E}">
        <p14:creationId xmlns:p14="http://schemas.microsoft.com/office/powerpoint/2010/main" val="1435476900"/>
      </p:ext>
    </p:extLst>
  </p:cSld>
</p:sld>
</file>

<file path=ppt/slides/slide21.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4" name="Personal use value">
            <a:extLst xmlns:a="http://schemas.openxmlformats.org/drawingml/2006/main">
              <a:ext uri="{FF2B5EF4-FFF2-40B4-BE49-F238E27FC236}">
                <a16:creationId xmlns:a16="http://schemas.microsoft.com/office/drawing/2014/main" id="{C247E5A5-3C8A-4954-B39B-A947D75AE406}"/>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Personal use value</a:t>
            </a:r>
          </a:p>
        </p:txBody>
      </p:sp>
      <p:sp>
        <p:nvSpPr>
          <p:cNvPr id="2" name="The highest net value&#10;you can realistically create">
            <a:extLst xmlns:a="http://schemas.openxmlformats.org/drawingml/2006/main">
              <a:ext uri="{FF2B5EF4-FFF2-40B4-BE49-F238E27FC236}">
                <a16:creationId xmlns:a16="http://schemas.microsoft.com/office/drawing/2014/main" id="{C67C2F69-CD0F-4B4D-A088-FFAD91EAC46A}"/>
              </a:ext>
            </a:extLst>
          </p:cNvPr>
          <p:cNvSpPr>
            <a:spLocks xmlns:a="http://schemas.openxmlformats.org/drawingml/2006/main" noGrp="1"/>
          </p:cNvSpPr>
          <p:nvPr/>
        </p:nvSpPr>
        <p:spPr>
          <a:xfrm xmlns:a="http://schemas.openxmlformats.org/drawingml/2006/main">
            <a:off x="647700" y="1914525"/>
            <a:ext cx="10763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75" b="1">
                <a:solidFill>
                  <a:srgbClr val="EAC184"/>
                </a:solidFill>
                <a:latin typeface="Arial"/>
                <a:ea typeface="Arial"/>
                <a:cs typeface="Arial"/>
              </a:defRPr>
            </a:pPr>
            <a:r>
              <a:rPr sz="4575" b="1">
                <a:solidFill>
                  <a:srgbClr val="EAC184"/>
                </a:solidFill>
                <a:latin typeface="Arial"/>
                <a:ea typeface="Arial"/>
                <a:cs typeface="Arial"/>
              </a:rPr>
              <a:t>The highest net value</a:t>
            </a:r>
          </a:p>
          <a:p xmlns:a="http://schemas.openxmlformats.org/drawingml/2006/main">
            <a:pPr>
              <a:defRPr sz="4575" b="1">
                <a:solidFill>
                  <a:srgbClr val="EAC184"/>
                </a:solidFill>
                <a:latin typeface="Arial"/>
                <a:ea typeface="Arial"/>
                <a:cs typeface="Arial"/>
              </a:defRPr>
            </a:pPr>
            <a:r>
              <a:rPr sz="4575" b="1">
                <a:solidFill>
                  <a:srgbClr val="EAC184"/>
                </a:solidFill>
                <a:latin typeface="Arial"/>
                <a:ea typeface="Arial"/>
                <a:cs typeface="Arial"/>
              </a:rPr>
              <a:t>you can realistically create</a:t>
            </a:r>
          </a:p>
        </p:txBody>
      </p:sp>
      <p:sp>
        <p:nvSpPr>
          <p:cNvPr id="3" name="21">
            <a:extLst xmlns:a="http://schemas.openxmlformats.org/drawingml/2006/main">
              <a:ext uri="{FF2B5EF4-FFF2-40B4-BE49-F238E27FC236}">
                <a16:creationId xmlns:a16="http://schemas.microsoft.com/office/drawing/2014/main" id="{9599987E-C669-4EDA-8AFF-4133D8A45EE1}"/>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21</a:t>
            </a:r>
          </a:p>
        </p:txBody>
      </p:sp>
    </p:spTree>
    <p:extLst>
      <p:ext uri="{BB962C8B-B14F-4D97-AF65-F5344CB8AC3E}">
        <p14:creationId xmlns:p14="http://schemas.microsoft.com/office/powerpoint/2010/main" val="2041601606"/>
      </p:ext>
    </p:extLst>
  </p:cSld>
</p:sld>
</file>

<file path=ppt/slides/slide22.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The net-use formula">
            <a:extLst xmlns:a="http://schemas.openxmlformats.org/drawingml/2006/main">
              <a:ext uri="{FF2B5EF4-FFF2-40B4-BE49-F238E27FC236}">
                <a16:creationId xmlns:a16="http://schemas.microsoft.com/office/drawing/2014/main" id="{43999BA1-1E2D-4A34-A365-72538107DBBA}"/>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The net-use formula</a:t>
            </a:r>
          </a:p>
        </p:txBody>
      </p:sp>
      <p:sp>
        <p:nvSpPr>
          <p:cNvPr id="2" name="Commercial function displaced">
            <a:extLst xmlns:a="http://schemas.openxmlformats.org/drawingml/2006/main">
              <a:ext uri="{FF2B5EF4-FFF2-40B4-BE49-F238E27FC236}">
                <a16:creationId xmlns:a16="http://schemas.microsoft.com/office/drawing/2014/main" id="{3C97A0C1-3006-47A9-BC91-413DB3FC4966}"/>
              </a:ext>
            </a:extLst>
          </p:cNvPr>
          <p:cNvSpPr>
            <a:spLocks xmlns:a="http://schemas.openxmlformats.org/drawingml/2006/main" noGrp="1"/>
          </p:cNvSpPr>
          <p:nvPr/>
        </p:nvSpPr>
        <p:spPr>
          <a:xfrm xmlns:a="http://schemas.openxmlformats.org/drawingml/2006/main">
            <a:off x="647700" y="16668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Commercial function displaced</a:t>
            </a:r>
          </a:p>
        </p:txBody>
      </p:sp>
      <p:sp>
        <p:nvSpPr>
          <p:cNvPr id="3" name="− Cash processing costs">
            <a:extLst xmlns:a="http://schemas.openxmlformats.org/drawingml/2006/main">
              <a:ext uri="{FF2B5EF4-FFF2-40B4-BE49-F238E27FC236}">
                <a16:creationId xmlns:a16="http://schemas.microsoft.com/office/drawing/2014/main" id="{E3B7856B-147D-4FA6-8BA0-0A9F3E909703}"/>
              </a:ext>
            </a:extLst>
          </p:cNvPr>
          <p:cNvSpPr>
            <a:spLocks xmlns:a="http://schemas.openxmlformats.org/drawingml/2006/main" noGrp="1"/>
          </p:cNvSpPr>
          <p:nvPr/>
        </p:nvSpPr>
        <p:spPr>
          <a:xfrm xmlns:a="http://schemas.openxmlformats.org/drawingml/2006/main">
            <a:off x="647700" y="25622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 Cash processing costs</a:t>
            </a:r>
          </a:p>
        </p:txBody>
      </p:sp>
      <p:sp>
        <p:nvSpPr>
          <p:cNvPr id="4" name="− Opportunity cost of labor">
            <a:extLst xmlns:a="http://schemas.openxmlformats.org/drawingml/2006/main">
              <a:ext uri="{FF2B5EF4-FFF2-40B4-BE49-F238E27FC236}">
                <a16:creationId xmlns:a16="http://schemas.microsoft.com/office/drawing/2014/main" id="{012DEEEE-4340-45B4-95DF-6317AE18DFBD}"/>
              </a:ext>
            </a:extLst>
          </p:cNvPr>
          <p:cNvSpPr>
            <a:spLocks xmlns:a="http://schemas.openxmlformats.org/drawingml/2006/main" noGrp="1"/>
          </p:cNvSpPr>
          <p:nvPr/>
        </p:nvSpPr>
        <p:spPr>
          <a:xfrm xmlns:a="http://schemas.openxmlformats.org/drawingml/2006/main">
            <a:off x="647700" y="34575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0">
                <a:solidFill>
                  <a:srgbClr val="F3F0E7"/>
                </a:solidFill>
                <a:latin typeface="Arial"/>
                <a:ea typeface="Arial"/>
                <a:cs typeface="Arial"/>
              </a:defRPr>
            </a:pPr>
            <a:r>
              <a:rPr sz="3150" b="0">
                <a:solidFill>
                  <a:srgbClr val="F3F0E7"/>
                </a:solidFill>
                <a:latin typeface="Arial"/>
                <a:ea typeface="Arial"/>
                <a:cs typeface="Arial"/>
              </a:rPr>
              <a:t>− Opportunity cost of labor</a:t>
            </a:r>
          </a:p>
        </p:txBody>
      </p:sp>
      <p:sp>
        <p:nvSpPr>
          <p:cNvPr id="5" name="= Net personal use value">
            <a:extLst xmlns:a="http://schemas.openxmlformats.org/drawingml/2006/main">
              <a:ext uri="{FF2B5EF4-FFF2-40B4-BE49-F238E27FC236}">
                <a16:creationId xmlns:a16="http://schemas.microsoft.com/office/drawing/2014/main" id="{3AABF580-5630-443C-849F-5A7F9F52D9F3}"/>
              </a:ext>
            </a:extLst>
          </p:cNvPr>
          <p:cNvSpPr>
            <a:spLocks xmlns:a="http://schemas.openxmlformats.org/drawingml/2006/main" noGrp="1"/>
          </p:cNvSpPr>
          <p:nvPr/>
        </p:nvSpPr>
        <p:spPr>
          <a:xfrm xmlns:a="http://schemas.openxmlformats.org/drawingml/2006/main">
            <a:off x="647700" y="43529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EAC184"/>
                </a:solidFill>
                <a:latin typeface="Arial"/>
                <a:ea typeface="Arial"/>
                <a:cs typeface="Arial"/>
              </a:defRPr>
            </a:pPr>
            <a:r>
              <a:rPr sz="3150" b="1">
                <a:solidFill>
                  <a:srgbClr val="EAC184"/>
                </a:solidFill>
                <a:latin typeface="Arial"/>
                <a:ea typeface="Arial"/>
                <a:cs typeface="Arial"/>
              </a:rPr>
              <a:t>= Net personal use value</a:t>
            </a:r>
          </a:p>
        </p:txBody>
      </p:sp>
      <p:sp>
        <p:nvSpPr>
          <p:cNvPr id="6" name="This calculation requires equivalent finished function ">
            <a:extLst xmlns:a="http://schemas.openxmlformats.org/drawingml/2006/main">
              <a:ext uri="{FF2B5EF4-FFF2-40B4-BE49-F238E27FC236}">
                <a16:creationId xmlns:a16="http://schemas.microsoft.com/office/drawing/2014/main" id="{E34514E7-9EC4-47EF-A922-04CC8A0B8730}"/>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This calculation requires equivalent finished function and a complete accounting of project costs.</a:t>
            </a:r>
          </a:p>
        </p:txBody>
      </p:sp>
      <p:sp>
        <p:nvSpPr>
          <p:cNvPr id="7" name="22">
            <a:extLst xmlns:a="http://schemas.openxmlformats.org/drawingml/2006/main">
              <a:ext uri="{FF2B5EF4-FFF2-40B4-BE49-F238E27FC236}">
                <a16:creationId xmlns:a16="http://schemas.microsoft.com/office/drawing/2014/main" id="{10C673B0-22B6-45D9-A5B9-53D07C548551}"/>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22</a:t>
            </a:r>
          </a:p>
        </p:txBody>
      </p:sp>
    </p:spTree>
    <p:extLst>
      <p:ext uri="{BB962C8B-B14F-4D97-AF65-F5344CB8AC3E}">
        <p14:creationId xmlns:p14="http://schemas.microsoft.com/office/powerpoint/2010/main" val="1326411717"/>
      </p:ext>
    </p:extLst>
  </p:cSld>
</p:sld>
</file>

<file path=ppt/slides/slide23.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7" name="A worked net-value example">
            <a:extLst xmlns:a="http://schemas.openxmlformats.org/drawingml/2006/main">
              <a:ext uri="{FF2B5EF4-FFF2-40B4-BE49-F238E27FC236}">
                <a16:creationId xmlns:a16="http://schemas.microsoft.com/office/drawing/2014/main" id="{AB1FB998-332A-4EA9-8648-04A6699BB7AC}"/>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worked net-value example</a:t>
            </a:r>
          </a:p>
        </p:txBody>
      </p:sp>
      <p:sp>
        <p:nvSpPr>
          <p:cNvPr id="2" name="$2,400 − $300 − (40 × $25)">
            <a:extLst xmlns:a="http://schemas.openxmlformats.org/drawingml/2006/main">
              <a:ext uri="{FF2B5EF4-FFF2-40B4-BE49-F238E27FC236}">
                <a16:creationId xmlns:a16="http://schemas.microsoft.com/office/drawing/2014/main" id="{57DA3E37-5E86-462D-AE36-C8C36AFC3B7B}"/>
              </a:ext>
            </a:extLst>
          </p:cNvPr>
          <p:cNvSpPr>
            <a:spLocks xmlns:a="http://schemas.openxmlformats.org/drawingml/2006/main" noGrp="1"/>
          </p:cNvSpPr>
          <p:nvPr/>
        </p:nvSpPr>
        <p:spPr>
          <a:xfrm xmlns:a="http://schemas.openxmlformats.org/drawingml/2006/main">
            <a:off x="647700" y="166687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750" b="1">
                <a:solidFill>
                  <a:srgbClr val="F3F0E7"/>
                </a:solidFill>
                <a:latin typeface="Arial"/>
                <a:ea typeface="Arial"/>
                <a:cs typeface="Arial"/>
              </a:defRPr>
            </a:pPr>
            <a:r>
              <a:rPr sz="3750" b="1">
                <a:solidFill>
                  <a:srgbClr val="F3F0E7"/>
                </a:solidFill>
                <a:latin typeface="Arial"/>
                <a:ea typeface="Arial"/>
                <a:cs typeface="Arial"/>
              </a:rPr>
              <a:t>$2,400 − $300 − (40 × $25)</a:t>
            </a:r>
          </a:p>
        </p:txBody>
      </p:sp>
      <p:sp>
        <p:nvSpPr>
          <p:cNvPr id="3" name="= $1,100 net personal use value">
            <a:extLst xmlns:a="http://schemas.openxmlformats.org/drawingml/2006/main">
              <a:ext uri="{FF2B5EF4-FFF2-40B4-BE49-F238E27FC236}">
                <a16:creationId xmlns:a16="http://schemas.microsoft.com/office/drawing/2014/main" id="{4975C8C9-5E76-402D-8870-1F83116CA19B}"/>
              </a:ext>
            </a:extLst>
          </p:cNvPr>
          <p:cNvSpPr>
            <a:spLocks xmlns:a="http://schemas.openxmlformats.org/drawingml/2006/main" noGrp="1"/>
          </p:cNvSpPr>
          <p:nvPr/>
        </p:nvSpPr>
        <p:spPr>
          <a:xfrm xmlns:a="http://schemas.openxmlformats.org/drawingml/2006/main">
            <a:off x="647700" y="2952750"/>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1">
                <a:solidFill>
                  <a:srgbClr val="EAC184"/>
                </a:solidFill>
                <a:latin typeface="Arial"/>
                <a:ea typeface="Arial"/>
                <a:cs typeface="Arial"/>
              </a:defRPr>
            </a:pPr>
            <a:r>
              <a:rPr sz="3000" b="1">
                <a:solidFill>
                  <a:srgbClr val="EAC184"/>
                </a:solidFill>
                <a:latin typeface="Arial"/>
                <a:ea typeface="Arial"/>
                <a:cs typeface="Arial"/>
              </a:rPr>
              <a:t>= $1,100 net personal use value</a:t>
            </a:r>
          </a:p>
        </p:txBody>
      </p:sp>
      <p:sp>
        <p:nvSpPr>
          <p:cNvPr id="4" name="$1,100 − $25 sale alternative = $1,075 advantage">
            <a:extLst xmlns:a="http://schemas.openxmlformats.org/drawingml/2006/main">
              <a:ext uri="{FF2B5EF4-FFF2-40B4-BE49-F238E27FC236}">
                <a16:creationId xmlns:a16="http://schemas.microsoft.com/office/drawing/2014/main" id="{C3993F3A-BE64-4983-BD4A-8DD4C4B3C0B4}"/>
              </a:ext>
            </a:extLst>
          </p:cNvPr>
          <p:cNvSpPr>
            <a:spLocks xmlns:a="http://schemas.openxmlformats.org/drawingml/2006/main" noGrp="1"/>
          </p:cNvSpPr>
          <p:nvPr/>
        </p:nvSpPr>
        <p:spPr>
          <a:xfrm xmlns:a="http://schemas.openxmlformats.org/drawingml/2006/main">
            <a:off x="647700" y="4238625"/>
            <a:ext cx="10858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000" b="0">
                <a:solidFill>
                  <a:srgbClr val="F3F0E7"/>
                </a:solidFill>
                <a:latin typeface="Arial"/>
                <a:ea typeface="Arial"/>
                <a:cs typeface="Arial"/>
              </a:defRPr>
            </a:pPr>
            <a:r>
              <a:rPr sz="3000" b="0">
                <a:solidFill>
                  <a:srgbClr val="F3F0E7"/>
                </a:solidFill>
                <a:latin typeface="Arial"/>
                <a:ea typeface="Arial"/>
                <a:cs typeface="Arial"/>
              </a:rPr>
              <a:t>$1,100 − $25 sale alternative = $1,075 advantage</a:t>
            </a:r>
          </a:p>
        </p:txBody>
      </p:sp>
      <p:sp>
        <p:nvSpPr>
          <p:cNvPr id="5" name="Illustrative example. $1,100 before the forgone tree sa">
            <a:extLst xmlns:a="http://schemas.openxmlformats.org/drawingml/2006/main">
              <a:ext uri="{FF2B5EF4-FFF2-40B4-BE49-F238E27FC236}">
                <a16:creationId xmlns:a16="http://schemas.microsoft.com/office/drawing/2014/main" id="{4DF7F8EC-F5FA-49C8-875B-151B0AD92FD7}"/>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Illustrative example. $1,100 before the forgone tree sale; $1,075 relative to selling for $25.</a:t>
            </a:r>
          </a:p>
        </p:txBody>
      </p:sp>
      <p:sp>
        <p:nvSpPr>
          <p:cNvPr id="6" name="23">
            <a:extLst xmlns:a="http://schemas.openxmlformats.org/drawingml/2006/main">
              <a:ext uri="{FF2B5EF4-FFF2-40B4-BE49-F238E27FC236}">
                <a16:creationId xmlns:a16="http://schemas.microsoft.com/office/drawing/2014/main" id="{917CC391-7BF7-4675-86F0-C9F28F07E3C0}"/>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23</a:t>
            </a:r>
          </a:p>
        </p:txBody>
      </p:sp>
    </p:spTree>
    <p:extLst>
      <p:ext uri="{BB962C8B-B14F-4D97-AF65-F5344CB8AC3E}">
        <p14:creationId xmlns:p14="http://schemas.microsoft.com/office/powerpoint/2010/main" val="1491008732"/>
      </p:ext>
    </p:extLst>
  </p:cSld>
</p:sld>
</file>

<file path=ppt/slides/slide24.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8" name="What changes the result?">
            <a:extLst xmlns:a="http://schemas.openxmlformats.org/drawingml/2006/main">
              <a:ext uri="{FF2B5EF4-FFF2-40B4-BE49-F238E27FC236}">
                <a16:creationId xmlns:a16="http://schemas.microsoft.com/office/drawing/2014/main" id="{14D3EC66-7293-4DC0-94D8-C257AFC07327}"/>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What changes the result?</a:t>
            </a:r>
          </a:p>
        </p:txBody>
      </p:sp>
      <p:sp>
        <p:nvSpPr>
          <p:cNvPr id="2" name="Accepted members recovered from the actual trees">
            <a:extLst xmlns:a="http://schemas.openxmlformats.org/drawingml/2006/main">
              <a:ext uri="{FF2B5EF4-FFF2-40B4-BE49-F238E27FC236}">
                <a16:creationId xmlns:a16="http://schemas.microsoft.com/office/drawing/2014/main" id="{0922EDCA-1F96-4A4E-8530-92077F77094D}"/>
              </a:ext>
            </a:extLst>
          </p:cNvPr>
          <p:cNvSpPr>
            <a:spLocks xmlns:a="http://schemas.openxmlformats.org/drawingml/2006/main" noGrp="1"/>
          </p:cNvSpPr>
          <p:nvPr/>
        </p:nvSpPr>
        <p:spPr>
          <a:xfrm xmlns:a="http://schemas.openxmlformats.org/drawingml/2006/main">
            <a:off x="647700" y="15240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Accepted members recovered from the actual trees</a:t>
            </a:r>
          </a:p>
        </p:txBody>
      </p:sp>
      <p:sp>
        <p:nvSpPr>
          <p:cNvPr id="3" name="Equivalent framing price and full processing costs">
            <a:extLst xmlns:a="http://schemas.openxmlformats.org/drawingml/2006/main">
              <a:ext uri="{FF2B5EF4-FFF2-40B4-BE49-F238E27FC236}">
                <a16:creationId xmlns:a16="http://schemas.microsoft.com/office/drawing/2014/main" id="{436A2B44-BBD7-479F-9234-32559B3E5535}"/>
              </a:ext>
            </a:extLst>
          </p:cNvPr>
          <p:cNvSpPr>
            <a:spLocks xmlns:a="http://schemas.openxmlformats.org/drawingml/2006/main" noGrp="1"/>
          </p:cNvSpPr>
          <p:nvPr/>
        </p:nvSpPr>
        <p:spPr>
          <a:xfrm xmlns:a="http://schemas.openxmlformats.org/drawingml/2006/main">
            <a:off x="647700" y="25622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Equivalent framing price and full processing costs</a:t>
            </a:r>
          </a:p>
        </p:txBody>
      </p:sp>
      <p:sp>
        <p:nvSpPr>
          <p:cNvPr id="4" name="Hours of work and the value of that time">
            <a:extLst xmlns:a="http://schemas.openxmlformats.org/drawingml/2006/main">
              <a:ext uri="{FF2B5EF4-FFF2-40B4-BE49-F238E27FC236}">
                <a16:creationId xmlns:a16="http://schemas.microsoft.com/office/drawing/2014/main" id="{7D36BBAD-1477-4E53-8396-53D0F4B3D677}"/>
              </a:ext>
            </a:extLst>
          </p:cNvPr>
          <p:cNvSpPr>
            <a:spLocks xmlns:a="http://schemas.openxmlformats.org/drawingml/2006/main" noGrp="1"/>
          </p:cNvSpPr>
          <p:nvPr/>
        </p:nvSpPr>
        <p:spPr>
          <a:xfrm xmlns:a="http://schemas.openxmlformats.org/drawingml/2006/main">
            <a:off x="647700" y="36004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F3F0E7"/>
                </a:solidFill>
                <a:latin typeface="Arial"/>
                <a:ea typeface="Arial"/>
                <a:cs typeface="Arial"/>
              </a:defRPr>
            </a:pPr>
            <a:r>
              <a:rPr sz="2400" b="0">
                <a:solidFill>
                  <a:srgbClr val="F3F0E7"/>
                </a:solidFill>
                <a:latin typeface="Arial"/>
                <a:ea typeface="Arial"/>
                <a:cs typeface="Arial"/>
              </a:rPr>
              <a:t>Hours of work and the value of that time</a:t>
            </a:r>
          </a:p>
        </p:txBody>
      </p:sp>
      <p:sp>
        <p:nvSpPr>
          <p:cNvPr id="5" name="Actual borrowing amount, rate and repayment period">
            <a:extLst xmlns:a="http://schemas.openxmlformats.org/drawingml/2006/main">
              <a:ext uri="{FF2B5EF4-FFF2-40B4-BE49-F238E27FC236}">
                <a16:creationId xmlns:a16="http://schemas.microsoft.com/office/drawing/2014/main" id="{5A62DE91-4451-4A44-9F97-C79A17456F39}"/>
              </a:ext>
            </a:extLst>
          </p:cNvPr>
          <p:cNvSpPr>
            <a:spLocks xmlns:a="http://schemas.openxmlformats.org/drawingml/2006/main" noGrp="1"/>
          </p:cNvSpPr>
          <p:nvPr/>
        </p:nvSpPr>
        <p:spPr>
          <a:xfrm xmlns:a="http://schemas.openxmlformats.org/drawingml/2006/main">
            <a:off x="647700" y="463867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0">
                <a:solidFill>
                  <a:srgbClr val="9ED0B5"/>
                </a:solidFill>
                <a:latin typeface="Arial"/>
                <a:ea typeface="Arial"/>
                <a:cs typeface="Arial"/>
              </a:defRPr>
            </a:pPr>
            <a:r>
              <a:rPr sz="2400" b="0">
                <a:solidFill>
                  <a:srgbClr val="9ED0B5"/>
                </a:solidFill>
                <a:latin typeface="Arial"/>
                <a:ea typeface="Arial"/>
                <a:cs typeface="Arial"/>
              </a:rPr>
              <a:t>Actual borrowing amount, rate and repayment period</a:t>
            </a:r>
          </a:p>
        </p:txBody>
      </p:sp>
      <p:sp>
        <p:nvSpPr>
          <p:cNvPr id="6" name="Sensitivity follows the worked example. $2,100 ÷ 40 = $">
            <a:extLst xmlns:a="http://schemas.openxmlformats.org/drawingml/2006/main">
              <a:ext uri="{FF2B5EF4-FFF2-40B4-BE49-F238E27FC236}">
                <a16:creationId xmlns:a16="http://schemas.microsoft.com/office/drawing/2014/main" id="{00B464E3-8C60-46E3-A223-583C2635BC4B}"/>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Sensitivity follows the worked example. $2,100 ÷ 40 = $52.50/hour before the sale alternative.</a:t>
            </a:r>
          </a:p>
        </p:txBody>
      </p:sp>
      <p:sp>
        <p:nvSpPr>
          <p:cNvPr id="7" name="24">
            <a:extLst xmlns:a="http://schemas.openxmlformats.org/drawingml/2006/main">
              <a:ext uri="{FF2B5EF4-FFF2-40B4-BE49-F238E27FC236}">
                <a16:creationId xmlns:a16="http://schemas.microsoft.com/office/drawing/2014/main" id="{57E0C5FE-EB67-4397-869F-A7E09C72897F}"/>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24</a:t>
            </a:r>
          </a:p>
        </p:txBody>
      </p:sp>
    </p:spTree>
    <p:extLst>
      <p:ext uri="{BB962C8B-B14F-4D97-AF65-F5344CB8AC3E}">
        <p14:creationId xmlns:p14="http://schemas.microsoft.com/office/powerpoint/2010/main" val="971279451"/>
      </p:ext>
    </p:extLst>
  </p:cSld>
</p:sld>
</file>

<file path=ppt/slides/slide25.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sp>
        <p:nvSpPr>
          <p:cNvPr id="5" name="A clear public explanation">
            <a:extLst xmlns:a="http://schemas.openxmlformats.org/drawingml/2006/main">
              <a:ext uri="{FF2B5EF4-FFF2-40B4-BE49-F238E27FC236}">
                <a16:creationId xmlns:a16="http://schemas.microsoft.com/office/drawing/2014/main" id="{8F85529B-1DC6-4C40-8D53-61E159E00DE5}"/>
              </a:ext>
            </a:extLst>
          </p:cNvPr>
          <p:cNvSpPr>
            <a:spLocks xmlns:a="http://schemas.openxmlformats.org/drawingml/2006/main" noGrp="1"/>
          </p:cNvSpPr>
          <p:nvPr/>
        </p:nvSpPr>
        <p:spPr>
          <a:xfrm xmlns:a="http://schemas.openxmlformats.org/drawingml/2006/main">
            <a:off x="609600" y="476250"/>
            <a:ext cx="10953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F3F0E7"/>
                </a:solidFill>
                <a:latin typeface="Arial"/>
                <a:ea typeface="Arial"/>
                <a:cs typeface="Arial"/>
              </a:defRPr>
            </a:pPr>
            <a:r>
              <a:rPr sz="3450" b="1">
                <a:solidFill>
                  <a:srgbClr val="F3F0E7"/>
                </a:solidFill>
                <a:latin typeface="Arial"/>
                <a:ea typeface="Arial"/>
                <a:cs typeface="Arial"/>
              </a:rPr>
              <a:t>A clear public explanation</a:t>
            </a:r>
          </a:p>
        </p:txBody>
      </p:sp>
      <p:sp>
        <p:nvSpPr>
          <p:cNvPr id="2" name="“A $20 standing tree could contribute&#10;about $2,400 of a">
            <a:extLst xmlns:a="http://schemas.openxmlformats.org/drawingml/2006/main">
              <a:ext uri="{FF2B5EF4-FFF2-40B4-BE49-F238E27FC236}">
                <a16:creationId xmlns:a16="http://schemas.microsoft.com/office/drawing/2014/main" id="{50ACC2E1-C6FC-4E7C-92DA-C8DD953022E2}"/>
              </a:ext>
            </a:extLst>
          </p:cNvPr>
          <p:cNvSpPr>
            <a:spLocks xmlns:a="http://schemas.openxmlformats.org/drawingml/2006/main" noGrp="1"/>
          </p:cNvSpPr>
          <p:nvPr/>
        </p:nvSpPr>
        <p:spPr>
          <a:xfrm xmlns:a="http://schemas.openxmlformats.org/drawingml/2006/main">
            <a:off x="647700" y="1914525"/>
            <a:ext cx="107632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“A $20 standing tree could contribute</a:t>
            </a:r>
          </a:p>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about $2,400 of avoided framing cost</a:t>
            </a:r>
          </a:p>
          <a:p xmlns:a="http://schemas.openxmlformats.org/drawingml/2006/main">
            <a:pPr>
              <a:defRPr sz="3375" b="1">
                <a:solidFill>
                  <a:srgbClr val="EAC184"/>
                </a:solidFill>
                <a:latin typeface="Arial"/>
                <a:ea typeface="Arial"/>
                <a:cs typeface="Arial"/>
              </a:defRPr>
            </a:pPr>
            <a:r>
              <a:rPr sz="3375" b="1">
                <a:solidFill>
                  <a:srgbClr val="EAC184"/>
                </a:solidFill>
                <a:latin typeface="Arial"/>
                <a:ea typeface="Arial"/>
                <a:cs typeface="Arial"/>
              </a:rPr>
              <a:t>in this model.”</a:t>
            </a:r>
          </a:p>
        </p:txBody>
      </p:sp>
      <p:sp>
        <p:nvSpPr>
          <p:cNvPr id="3" name="Conditional claim based on the supplied model. Processi">
            <a:extLst xmlns:a="http://schemas.openxmlformats.org/drawingml/2006/main">
              <a:ext uri="{FF2B5EF4-FFF2-40B4-BE49-F238E27FC236}">
                <a16:creationId xmlns:a16="http://schemas.microsoft.com/office/drawing/2014/main" id="{5CFDC8BF-11CD-42D8-BD26-4C18FEB7A4EB}"/>
              </a:ext>
            </a:extLst>
          </p:cNvPr>
          <p:cNvSpPr>
            <a:spLocks xmlns:a="http://schemas.openxmlformats.org/drawingml/2006/main" noGrp="1"/>
          </p:cNvSpPr>
          <p:nvPr/>
        </p:nvSpPr>
        <p:spPr>
          <a:xfrm xmlns:a="http://schemas.openxmlformats.org/drawingml/2006/main">
            <a:off x="647700" y="5962650"/>
            <a:ext cx="10382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Conditional claim based on the supplied model. Processing expenses and labor still count.</a:t>
            </a:r>
          </a:p>
        </p:txBody>
      </p:sp>
      <p:sp>
        <p:nvSpPr>
          <p:cNvPr id="4" name="25">
            <a:extLst xmlns:a="http://schemas.openxmlformats.org/drawingml/2006/main">
              <a:ext uri="{FF2B5EF4-FFF2-40B4-BE49-F238E27FC236}">
                <a16:creationId xmlns:a16="http://schemas.microsoft.com/office/drawing/2014/main" id="{401A1025-2414-4818-8CF7-658FDA5D24F4}"/>
              </a:ext>
            </a:extLst>
          </p:cNvPr>
          <p:cNvSpPr>
            <a:spLocks xmlns:a="http://schemas.openxmlformats.org/drawingml/2006/main" noGrp="1"/>
          </p:cNvSpPr>
          <p:nvPr/>
        </p:nvSpPr>
        <p:spPr>
          <a:xfrm xmlns:a="http://schemas.openxmlformats.org/drawingml/2006/main">
            <a:off x="11363325" y="63531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350" b="0">
                <a:solidFill>
                  <a:srgbClr val="BAC6C4"/>
                </a:solidFill>
                <a:latin typeface="Arial"/>
                <a:ea typeface="Arial"/>
                <a:cs typeface="Arial"/>
              </a:defRPr>
            </a:pPr>
            <a:r>
              <a:rPr sz="1350" b="0">
                <a:solidFill>
                  <a:srgbClr val="BAC6C4"/>
                </a:solidFill>
                <a:latin typeface="Arial"/>
                <a:ea typeface="Arial"/>
                <a:cs typeface="Arial"/>
              </a:rPr>
              <a:t>25</a:t>
            </a:r>
          </a:p>
        </p:txBody>
      </p:sp>
    </p:spTree>
    <p:extLst>
      <p:ext uri="{BB962C8B-B14F-4D97-AF65-F5344CB8AC3E}">
        <p14:creationId xmlns:p14="http://schemas.microsoft.com/office/powerpoint/2010/main" val="133683149"/>
      </p:ext>
    </p:extLst>
  </p:cSld>
</p:sld>
</file>

<file path=ppt/slides/slide26.xml><?xml version="1.0" encoding="utf-8"?>
<p:sld xmlns:p="http://schemas.openxmlformats.org/presentationml/2006/main">
  <p:cSld>
    <p:bg>
      <p:bgPr>
        <a:solidFill xmlns:a="http://schemas.openxmlformats.org/drawingml/2006/main">
          <a:srgbClr val="080D10"/>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0bca71af0bb47a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3B3E643-5C2E-4F61-A3D2-BD31CA53A853}"/>
              </a:ext>
            </a:extLst>
          </p:cNvPr>
          <p:cNvSpPr>
            <a:spLocks xmlns:a="http://schemas.openxmlformats.org/drawingml/2006/main" noGrp="1"/>
          </p:cNvSpPr>
          <p:nvPr/>
        </p:nvSpPr>
        <p:spPr>
          <a:xfrm xmlns:a="http://schemas.openxmlformats.org/drawingml/2006/main">
            <a:off x="0" y="0"/>
            <a:ext cx="8191500" cy="6858000"/>
          </a:xfrm>
          <a:prstGeom xmlns:a="http://schemas.openxmlformats.org/drawingml/2006/main" prst="rect">
            <a:avLst/>
          </a:prstGeom>
          <a:solidFill xmlns:a="http://schemas.openxmlformats.org/drawingml/2006/main">
            <a:srgbClr val="07100D">
              <a:alpha val="86667"/>
            </a:srgbClr>
          </a:solidFill>
          <a:ln xmlns:a="http://schemas.openxmlformats.org/drawingml/2006/main" w="0">
            <a:noFill/>
          </a:ln>
        </p:spPr>
      </p:sp>
      <p:sp>
        <p:nvSpPr>
          <p:cNvPr id="3" name="The value is in the useful result">
            <a:extLst xmlns:a="http://schemas.openxmlformats.org/drawingml/2006/main">
              <a:ext uri="{FF2B5EF4-FFF2-40B4-BE49-F238E27FC236}">
                <a16:creationId xmlns:a16="http://schemas.microsoft.com/office/drawing/2014/main" id="{7075ED5C-0B5C-49A3-AAEF-6AC2EDCAB843}"/>
              </a:ext>
            </a:extLst>
          </p:cNvPr>
          <p:cNvSpPr>
            <a:spLocks xmlns:a="http://schemas.openxmlformats.org/drawingml/2006/main" noGrp="1"/>
          </p:cNvSpPr>
          <p:nvPr/>
        </p:nvSpPr>
        <p:spPr>
          <a:xfrm xmlns:a="http://schemas.openxmlformats.org/drawingml/2006/main">
            <a:off x="609600" y="1381125"/>
            <a:ext cx="752475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900" b="1">
                <a:solidFill>
                  <a:srgbClr val="F3F0E7"/>
                </a:solidFill>
                <a:latin typeface="Arial"/>
                <a:ea typeface="Arial"/>
                <a:cs typeface="Arial"/>
              </a:defRPr>
            </a:pPr>
            <a:r>
              <a:rPr sz="3900" b="1">
                <a:solidFill>
                  <a:srgbClr val="F3F0E7"/>
                </a:solidFill>
                <a:latin typeface="Arial"/>
                <a:ea typeface="Arial"/>
                <a:cs typeface="Arial"/>
              </a:rPr>
              <a:t>The value is in the useful result</a:t>
            </a:r>
          </a:p>
        </p:txBody>
      </p:sp>
      <p:sp>
        <p:nvSpPr>
          <p:cNvPr id="4" name="The same wood can serve different purposes&#10;&#10;The process">
            <a:extLst xmlns:a="http://schemas.openxmlformats.org/drawingml/2006/main">
              <a:ext uri="{FF2B5EF4-FFF2-40B4-BE49-F238E27FC236}">
                <a16:creationId xmlns:a16="http://schemas.microsoft.com/office/drawing/2014/main" id="{E435C81D-4D64-4F92-91EF-D276B4AE3DF4}"/>
              </a:ext>
            </a:extLst>
          </p:cNvPr>
          <p:cNvSpPr>
            <a:spLocks xmlns:a="http://schemas.openxmlformats.org/drawingml/2006/main" noGrp="1"/>
          </p:cNvSpPr>
          <p:nvPr/>
        </p:nvSpPr>
        <p:spPr>
          <a:xfrm xmlns:a="http://schemas.openxmlformats.org/drawingml/2006/main">
            <a:off x="647700" y="3619500"/>
            <a:ext cx="7048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same wood can serve different purposes</a:t>
            </a:r>
          </a:p>
          <a:p xmlns:a="http://schemas.openxmlformats.org/drawingml/2006/main">
            <a:r>
              <a:t/>
            </a:r>
          </a:p>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process creates the function</a:t>
            </a:r>
          </a:p>
          <a:p xmlns:a="http://schemas.openxmlformats.org/drawingml/2006/main">
            <a:r>
              <a:t/>
            </a:r>
          </a:p>
          <a:p xmlns:a="http://schemas.openxmlformats.org/drawingml/2006/main">
            <a:pPr>
              <a:defRPr sz="2100" b="0">
                <a:solidFill>
                  <a:srgbClr val="EAC184"/>
                </a:solidFill>
                <a:latin typeface="Arial"/>
                <a:ea typeface="Arial"/>
                <a:cs typeface="Arial"/>
              </a:defRPr>
            </a:pPr>
            <a:r>
              <a:rPr sz="2100" b="0">
                <a:solidFill>
                  <a:srgbClr val="EAC184"/>
                </a:solidFill>
                <a:latin typeface="Arial"/>
                <a:ea typeface="Arial"/>
                <a:cs typeface="Arial"/>
              </a:rPr>
              <a:t>The best choice depends on realistic net value</a:t>
            </a:r>
          </a:p>
        </p:txBody>
      </p:sp>
    </p:spTree>
    <p:extLst>
      <p:ext uri="{BB962C8B-B14F-4D97-AF65-F5344CB8AC3E}">
        <p14:creationId xmlns:p14="http://schemas.microsoft.com/office/powerpoint/2010/main" val="1493062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2026-09-12T17:29:24.8700000Z</dcterms:created>
  <dcterms:modified xsi:type="dcterms:W3CDTF">2026-09-12T17:29:24.8710000Z</dcterms:modified>
</coreProperties>
</file>